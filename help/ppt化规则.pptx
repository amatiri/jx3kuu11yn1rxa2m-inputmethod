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60" r:id="rId4"/>
    <p:sldId id="261" r:id="rId5"/>
    <p:sldId id="262" r:id="rId6"/>
    <p:sldId id="258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3" r:id="rId36"/>
    <p:sldId id="294" r:id="rId37"/>
    <p:sldId id="295" r:id="rId38"/>
    <p:sldId id="296" r:id="rId39"/>
    <p:sldId id="297" r:id="rId40"/>
    <p:sldId id="298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3" autoAdjust="0"/>
    <p:restoredTop sz="95625" autoAdjust="0"/>
  </p:normalViewPr>
  <p:slideViewPr>
    <p:cSldViewPr snapToGrid="0">
      <p:cViewPr varScale="1">
        <p:scale>
          <a:sx n="76" d="100"/>
          <a:sy n="76" d="100"/>
        </p:scale>
        <p:origin x="54" y="40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D5716-84A2-4500-972A-A7B1DA74C41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780FE-7195-465B-B7C8-ED2A77D643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80FE-7195-465B-B7C8-ED2A77D6431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80FE-7195-465B-B7C8-ED2A77D6431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80FE-7195-465B-B7C8-ED2A77D6431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80FE-7195-465B-B7C8-ED2A77D6431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80FE-7195-465B-B7C8-ED2A77D6431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80FE-7195-465B-B7C8-ED2A77D6431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9F023F2-B6DA-48A9-A1E8-7414AE9A56A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F023F2-B6DA-48A9-A1E8-7414AE9A56A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F023F2-B6DA-48A9-A1E8-7414AE9A56A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F023F2-B6DA-48A9-A1E8-7414AE9A56A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9F023F2-B6DA-48A9-A1E8-7414AE9A56A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1446" y="1788454"/>
            <a:ext cx="9646251" cy="2098226"/>
          </a:xfrm>
        </p:spPr>
        <p:txBody>
          <a:bodyPr/>
          <a:lstStyle/>
          <a:p>
            <a:r>
              <a:rPr lang="zh-CN" altLang="en-US" sz="6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解书音形</a:t>
            </a:r>
            <a:r>
              <a:rPr lang="zh-CN" altLang="zh-CN" sz="6600" kern="1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程序使用</a:t>
            </a:r>
            <a:endParaRPr lang="zh-CN" altLang="en-US" sz="66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469" y="0"/>
            <a:ext cx="1936531" cy="19365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7228F5C-8E97-84DE-846F-D3CF1485F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102" y="1394483"/>
            <a:ext cx="5576344" cy="25153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一、外观与设置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1313793" y="1458000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界面布局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1313793" y="3192207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设置选项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313793" y="4926414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窗口特性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4666B4-D4D0-142D-778E-E98985247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102" y="1394483"/>
            <a:ext cx="5576344" cy="25153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一、外观与设置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1313793" y="1458000"/>
            <a:ext cx="2196000" cy="828000"/>
          </a:xfrm>
          <a:prstGeom prst="roundRect">
            <a:avLst/>
          </a:prstGeom>
          <a:solidFill>
            <a:srgbClr val="FF0000">
              <a:alpha val="18000"/>
            </a:srgbClr>
          </a:solidFill>
          <a:ln w="25400">
            <a:solidFill>
              <a:schemeClr val="accent6">
                <a:lumMod val="50000"/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界面布局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1313793" y="3192207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设置选项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313793" y="4926414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窗口特性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980180" y="1909445"/>
            <a:ext cx="8095615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</a:t>
            </a:r>
            <a:r>
              <a:rPr lang="zh-CN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顶部输入框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→    实时显示输入内容，支持文本编辑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首字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词语候选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→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多字词首选字组合或词语候选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单字候选  →    当前单字的详细候选列表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                  </a:t>
            </a:r>
            <a:r>
              <a:rPr lang="zh-CN" altLang="en-US" sz="2000" b="1" dirty="0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</a:rPr>
              <a:t>状态提示</a:t>
            </a:r>
            <a:endParaRPr lang="en-US" altLang="zh-CN" sz="2000" b="1" dirty="0">
              <a:highlight>
                <a:srgbClr val="FFFF00"/>
              </a:highlight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底部状态栏  → 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                          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设置选项           码表条目数统计</a:t>
            </a:r>
            <a:endParaRPr lang="zh-CN" altLang="en-US" sz="2000" b="1" dirty="0">
              <a:highlight>
                <a:srgbClr val="FFFF00"/>
              </a:highlight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295" y="3301371"/>
            <a:ext cx="1219370" cy="247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112CFAE-5984-EAFB-D772-A6CFDA096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95" y="1378718"/>
            <a:ext cx="5576344" cy="251536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A799FF-A1B8-7FBD-7279-6A8F4B31E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895" y="2796035"/>
            <a:ext cx="5561489" cy="362785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一、外观与设置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1313793" y="1458000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界面布局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1313793" y="3192207"/>
            <a:ext cx="2196000" cy="828000"/>
          </a:xfrm>
          <a:prstGeom prst="roundRect">
            <a:avLst/>
          </a:prstGeom>
          <a:solidFill>
            <a:srgbClr val="FF0000">
              <a:alpha val="26000"/>
            </a:srgbClr>
          </a:solidFill>
          <a:ln w="25400">
            <a:solidFill>
              <a:schemeClr val="accent6">
                <a:lumMod val="50000"/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设置选项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313793" y="4926414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窗口特性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890344" y="232360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点击切换</a:t>
            </a:r>
            <a:endParaRPr lang="en-US" altLang="zh-CN" sz="2400" b="1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zh-CN" altLang="zh-CN" sz="2400" b="1" dirty="0">
                <a:solidFill>
                  <a:srgbClr val="00B05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开启（绿）</a:t>
            </a:r>
            <a:r>
              <a:rPr lang="en-US" altLang="zh-CN" sz="2400" b="1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zh-CN" altLang="zh-CN" sz="2400" b="1" dirty="0">
                <a:solidFill>
                  <a:schemeClr val="accent6">
                    <a:lumMod val="75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关闭（红）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60848" y="3894084"/>
            <a:ext cx="15858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输入编码</a:t>
            </a:r>
            <a:endParaRPr lang="en-US" altLang="zh-CN" sz="20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超过</a:t>
            </a:r>
            <a:r>
              <a:rPr lang="en-US" altLang="zh-CN" sz="2000" dirty="0">
                <a:effectLst/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位且</a:t>
            </a:r>
            <a:endParaRPr lang="en-US" altLang="zh-CN" sz="20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唯一候选时</a:t>
            </a:r>
            <a:endParaRPr lang="en-US" altLang="zh-CN" sz="20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自动上屏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52196" y="3894084"/>
            <a:ext cx="22545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多字词输入</a:t>
            </a:r>
            <a:endParaRPr lang="en-US" altLang="zh-CN" sz="20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按空格优先</a:t>
            </a:r>
            <a:endParaRPr lang="en-US" altLang="zh-CN" sz="20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上屏词语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36575" y="3902079"/>
            <a:ext cx="29938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显示部首编码参考表，窗口高度自动调整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7.40741E-7 L -0.00065 -0.0923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463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4" grpId="0"/>
      <p:bldP spid="14" grpId="1"/>
      <p:bldP spid="16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447EFC-4E7A-AF0A-1A22-3486A8D25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95" y="1378718"/>
            <a:ext cx="5576344" cy="25153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一、外观与设置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1313793" y="1458000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界面布局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1313793" y="3192207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设置选项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313793" y="4926414"/>
            <a:ext cx="2196000" cy="828000"/>
          </a:xfrm>
          <a:prstGeom prst="roundRect">
            <a:avLst/>
          </a:prstGeom>
          <a:solidFill>
            <a:srgbClr val="FF0000">
              <a:alpha val="26000"/>
            </a:srgbClr>
          </a:solidFill>
          <a:ln w="25400">
            <a:solidFill>
              <a:schemeClr val="accent6">
                <a:lumMod val="50000"/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窗口特性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43129" y="4740249"/>
            <a:ext cx="75846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置顶显示：始终保持在最上层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可拖动：点击显示区域任意位置拖动窗口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半透明效果：</a:t>
            </a:r>
            <a:r>
              <a:rPr lang="en-US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95%</a:t>
            </a: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透明度，不遮挡下方内容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E83AAA19-3FB1-9B3C-B968-C38D7B0FD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95" y="1378718"/>
            <a:ext cx="5576344" cy="25153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72DAF09-8B3C-FB8F-B758-750E1E622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890" y="1378718"/>
            <a:ext cx="5556353" cy="252393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二、输入功能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zh-CN" sz="2400" dirty="0"/>
              <a:t>输入编码：输入至少</a:t>
            </a:r>
            <a:r>
              <a:rPr lang="en-US" altLang="zh-CN" sz="2400" dirty="0"/>
              <a:t>1</a:t>
            </a:r>
            <a:r>
              <a:rPr lang="zh-CN" altLang="zh-CN" sz="2400" dirty="0"/>
              <a:t>位编码</a:t>
            </a:r>
          </a:p>
          <a:p>
            <a:pPr marL="0" lvl="0" indent="0">
              <a:buNone/>
            </a:pPr>
            <a:r>
              <a:rPr lang="zh-CN" altLang="zh-CN" sz="2400" dirty="0"/>
              <a:t>显示候选：候选字显示在第二行，</a:t>
            </a:r>
            <a:br>
              <a:rPr lang="en-US" altLang="zh-CN" sz="2400" dirty="0"/>
            </a:br>
            <a:r>
              <a:rPr lang="zh-CN" altLang="zh-CN" sz="2400" b="1" dirty="0">
                <a:solidFill>
                  <a:srgbClr val="FF0000"/>
                </a:solidFill>
              </a:rPr>
              <a:t>显示剩余编码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r>
              <a:rPr lang="zh-CN" altLang="zh-CN" sz="2400" dirty="0"/>
              <a:t>选择方式：</a:t>
            </a:r>
            <a:endParaRPr lang="en-US" altLang="zh-CN" sz="2400" dirty="0"/>
          </a:p>
          <a:p>
            <a:pPr marL="0" lvl="0" indent="0">
              <a:buNone/>
            </a:pPr>
            <a:r>
              <a:rPr lang="en-US" altLang="zh-CN" sz="2400" dirty="0"/>
              <a:t>     shift+12345</a:t>
            </a:r>
            <a:r>
              <a:rPr lang="zh-CN" altLang="en-US" sz="2400" dirty="0"/>
              <a:t>分别选择第</a:t>
            </a:r>
            <a:r>
              <a:rPr lang="en-US" altLang="zh-CN" sz="2400" dirty="0"/>
              <a:t>1-5</a:t>
            </a:r>
            <a:r>
              <a:rPr lang="zh-CN" altLang="en-US" sz="2400" dirty="0"/>
              <a:t>个候选字</a:t>
            </a:r>
            <a:endParaRPr lang="en-US" altLang="zh-CN" sz="2400" dirty="0"/>
          </a:p>
          <a:p>
            <a:pPr marL="0" lvl="0" indent="0">
              <a:buNone/>
            </a:pPr>
            <a:r>
              <a:rPr lang="en-US" altLang="zh-CN" sz="2400" b="1" i="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zh-CN" sz="2400" b="1" i="0" dirty="0">
                <a:latin typeface="华文中宋" panose="02010600040101010101" pitchFamily="2" charset="-122"/>
                <a:ea typeface="华文中宋" panose="02010600040101010101" pitchFamily="2" charset="-122"/>
              </a:rPr>
              <a:t>空格</a:t>
            </a:r>
            <a:r>
              <a:rPr lang="en-US" altLang="zh-CN" sz="2400" i="0" dirty="0"/>
              <a:t> </a:t>
            </a:r>
            <a:r>
              <a:rPr lang="zh-CN" altLang="zh-CN" sz="2400" i="0" dirty="0"/>
              <a:t>选择第一个候选字上屏</a:t>
            </a:r>
            <a:endParaRPr lang="en-US" altLang="zh-CN" sz="2400" i="0" dirty="0"/>
          </a:p>
          <a:p>
            <a:pPr marL="0" lvl="0" indent="0">
              <a:buNone/>
            </a:pPr>
            <a:r>
              <a:rPr lang="en-US" altLang="zh-CN" sz="2400" dirty="0"/>
              <a:t>    </a:t>
            </a:r>
            <a:r>
              <a:rPr lang="en-US" altLang="zh-CN" sz="2400" b="1" i="0" dirty="0">
                <a:latin typeface="华文中宋" panose="02010600040101010101" pitchFamily="2" charset="-122"/>
                <a:ea typeface="华文中宋" panose="02010600040101010101" pitchFamily="2" charset="-122"/>
              </a:rPr>
              <a:t>↑/↓ </a:t>
            </a:r>
            <a:r>
              <a:rPr lang="zh-CN" altLang="zh-CN" sz="2400" i="0" dirty="0"/>
              <a:t>翻页查看更多候选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371600" y="1343700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单字输入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3E93009-1FDD-75A6-5874-4FBC687E6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95" y="1378718"/>
            <a:ext cx="5576344" cy="25153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二、输入功能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037299" y="2317531"/>
            <a:ext cx="9601200" cy="35814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zh-CN" sz="2400" dirty="0"/>
              <a:t>自动拆分：系统自动将长编码</a:t>
            </a:r>
            <a:br>
              <a:rPr lang="en-US" altLang="zh-CN" sz="2400" dirty="0"/>
            </a:br>
            <a:r>
              <a:rPr lang="en-US" altLang="zh-CN" sz="2400" dirty="0"/>
              <a:t>                        </a:t>
            </a:r>
            <a:r>
              <a:rPr lang="zh-CN" altLang="zh-CN" sz="2400" dirty="0"/>
              <a:t>拆分为多个字码</a:t>
            </a:r>
          </a:p>
          <a:p>
            <a:pPr marL="0" lvl="0" indent="0">
              <a:buNone/>
            </a:pPr>
            <a:r>
              <a:rPr lang="zh-CN" altLang="zh-CN" sz="2400" dirty="0"/>
              <a:t>切换选字：</a:t>
            </a:r>
          </a:p>
          <a:p>
            <a:pPr marL="530225" lvl="1" indent="0">
              <a:buNone/>
            </a:pPr>
            <a:r>
              <a:rPr lang="en-US" altLang="zh-CN" sz="2400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en-US" altLang="zh-CN" sz="2400" i="0" dirty="0"/>
              <a:t> </a:t>
            </a:r>
            <a:r>
              <a:rPr lang="zh-CN" altLang="zh-CN" sz="2400" i="0" dirty="0"/>
              <a:t>切换到下一个字的选择</a:t>
            </a:r>
          </a:p>
          <a:p>
            <a:pPr marL="530225" lvl="1" indent="0">
              <a:buNone/>
            </a:pPr>
            <a:r>
              <a:rPr lang="en-US" altLang="zh-CN" sz="2400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- </a:t>
            </a:r>
            <a:r>
              <a:rPr lang="en-US" altLang="zh-CN" sz="2400" i="0" dirty="0"/>
              <a:t> </a:t>
            </a:r>
            <a:r>
              <a:rPr lang="zh-CN" altLang="zh-CN" sz="2400" i="0" dirty="0"/>
              <a:t>切换到上一个字的选择</a:t>
            </a:r>
          </a:p>
          <a:p>
            <a:pPr marL="0" lvl="0" indent="0">
              <a:buNone/>
            </a:pPr>
            <a:r>
              <a:rPr lang="zh-CN" altLang="zh-CN" sz="2400" dirty="0"/>
              <a:t>上屏：</a:t>
            </a:r>
          </a:p>
          <a:p>
            <a:pPr marL="530225" lvl="1" indent="0">
              <a:buNone/>
            </a:pPr>
            <a:r>
              <a:rPr lang="zh-CN" altLang="zh-CN" sz="2400" i="0" dirty="0"/>
              <a:t>按</a:t>
            </a:r>
            <a:r>
              <a:rPr lang="zh-CN" altLang="zh-CN" sz="2400" b="1" i="0" dirty="0">
                <a:latin typeface="华文中宋" panose="02010600040101010101" pitchFamily="2" charset="-122"/>
                <a:ea typeface="华文中宋" panose="02010600040101010101" pitchFamily="2" charset="-122"/>
              </a:rPr>
              <a:t>空格</a:t>
            </a:r>
            <a:r>
              <a:rPr lang="zh-CN" altLang="zh-CN" sz="2400" i="0" dirty="0"/>
              <a:t>上屏所有首</a:t>
            </a:r>
            <a:r>
              <a:rPr lang="zh-CN" altLang="en-US" sz="2400" i="0" dirty="0"/>
              <a:t>选</a:t>
            </a:r>
            <a:r>
              <a:rPr lang="zh-CN" altLang="zh-CN" sz="2400" i="0" dirty="0"/>
              <a:t>字（</a:t>
            </a:r>
            <a:r>
              <a:rPr lang="zh-CN" altLang="en-US" sz="2400" i="0" dirty="0"/>
              <a:t>若优先上词开启</a:t>
            </a:r>
            <a:r>
              <a:rPr lang="en-US" altLang="zh-CN" sz="2400" i="0" dirty="0"/>
              <a:t>,</a:t>
            </a:r>
            <a:r>
              <a:rPr lang="zh-CN" altLang="en-US" sz="2400" i="0" dirty="0"/>
              <a:t>则为词语</a:t>
            </a:r>
            <a:r>
              <a:rPr lang="zh-CN" altLang="zh-CN" sz="2400" i="0" dirty="0"/>
              <a:t>）</a:t>
            </a:r>
          </a:p>
          <a:p>
            <a:pPr marL="530225" lvl="1" indent="0">
              <a:buNone/>
            </a:pPr>
            <a:r>
              <a:rPr lang="zh-CN" altLang="zh-CN" sz="2400" i="0" dirty="0"/>
              <a:t>按</a:t>
            </a:r>
            <a:r>
              <a:rPr lang="en-US" altLang="zh-CN" sz="2400" b="1" i="0" dirty="0">
                <a:latin typeface="华文中宋" panose="02010600040101010101" pitchFamily="2" charset="-122"/>
                <a:ea typeface="华文中宋" panose="02010600040101010101" pitchFamily="2" charset="-122"/>
              </a:rPr>
              <a:t>!</a:t>
            </a:r>
            <a:r>
              <a:rPr lang="zh-CN" altLang="zh-CN" sz="2400" i="0" dirty="0"/>
              <a:t>快速上屏词语候选（如有）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371599" y="1343700"/>
            <a:ext cx="2333297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多字词输入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" t="19983" r="-495" b="26767"/>
          <a:stretch>
            <a:fillRect/>
          </a:stretch>
        </p:blipFill>
        <p:spPr>
          <a:xfrm>
            <a:off x="6377169" y="1853347"/>
            <a:ext cx="5597315" cy="1362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D58FB1-0A8F-47CE-CAC8-1AFE13F01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95" y="1378718"/>
            <a:ext cx="5576344" cy="25153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二、输入功能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1371598" y="1378718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特殊功能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295" y="2576714"/>
            <a:ext cx="70839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编码补全：输入过程中显示剩余编</a:t>
            </a:r>
            <a:r>
              <a:rPr lang="zh-CN" altLang="en-US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码</a:t>
            </a:r>
            <a:endParaRPr lang="en-US" alt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zh-CN" altLang="en-US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剪贴板同步：输入内容自动复制到剪贴板</a:t>
            </a:r>
            <a:endParaRPr lang="en-US" alt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zh-CN" alt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清空机制：输入无字母编码时自动清空候选区</a:t>
            </a:r>
            <a:endParaRPr lang="en-US" alt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en-US" alt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zh-CN" altLang="en-US" sz="2400" b="1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内输</a:t>
            </a:r>
            <a:r>
              <a:rPr lang="en-US" altLang="zh-CN" sz="2400" b="1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外输</a:t>
            </a:r>
            <a:r>
              <a:rPr lang="zh-CN" altLang="en-US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：仅在输入法程序预设的框内输入</a:t>
            </a:r>
            <a:r>
              <a:rPr lang="en-US" altLang="zh-CN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在任意全局输入框输入，用</a:t>
            </a:r>
            <a:r>
              <a:rPr lang="zh-CN" altLang="en-US" sz="2400" kern="100" dirty="0">
                <a:solidFill>
                  <a:srgbClr val="FF0000"/>
                </a:solidFill>
                <a:latin typeface="得意黑" pitchFamily="2" charset="-122"/>
                <a:ea typeface="得意黑" pitchFamily="2" charset="-122"/>
                <a:cs typeface="Times New Roman" panose="02020603050405020304" pitchFamily="18" charset="0"/>
              </a:rPr>
              <a:t>←</a:t>
            </a:r>
            <a:r>
              <a:rPr lang="en-US" altLang="zh-CN" sz="2400" kern="100" dirty="0">
                <a:solidFill>
                  <a:srgbClr val="FF0000"/>
                </a:solidFill>
                <a:latin typeface="得意黑" pitchFamily="2" charset="-122"/>
                <a:ea typeface="得意黑" pitchFamily="2" charset="-122"/>
                <a:cs typeface="Times New Roman" panose="02020603050405020304" pitchFamily="18" charset="0"/>
              </a:rPr>
              <a:t>+→</a:t>
            </a:r>
            <a:r>
              <a:rPr lang="zh-CN" altLang="en-US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切换。为了避免快捷键冲突，可按</a:t>
            </a:r>
            <a:r>
              <a:rPr lang="en-US" altLang="zh-CN" sz="2400" kern="100" dirty="0">
                <a:solidFill>
                  <a:srgbClr val="FF0000"/>
                </a:solidFill>
                <a:latin typeface="得意黑" pitchFamily="2" charset="-122"/>
                <a:ea typeface="得意黑" pitchFamily="2" charset="-122"/>
                <a:cs typeface="Times New Roman" panose="02020603050405020304" pitchFamily="18" charset="0"/>
              </a:rPr>
              <a:t>esc+1</a:t>
            </a:r>
            <a:r>
              <a:rPr lang="zh-CN" altLang="en-US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取消内输外输切换功能，此时仅支持内输，即</a:t>
            </a:r>
            <a:r>
              <a:rPr lang="zh-CN" altLang="en-US" sz="2400" b="1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“仅内输”</a:t>
            </a:r>
            <a:r>
              <a:rPr lang="zh-CN" altLang="en-US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47B1B2A-1DBD-31B5-EBB5-51A939A6E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229" y="1443126"/>
            <a:ext cx="1653121" cy="385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三、管理功能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85" y="2171700"/>
            <a:ext cx="4624829" cy="223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255257" y="4406293"/>
            <a:ext cx="18438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newedit.py</a:t>
            </a:r>
            <a:r>
              <a:rPr lang="zh-CN" altLang="en-US" sz="2000" dirty="0"/>
              <a:t>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876800" y="33415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批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量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录</a:t>
            </a:r>
            <a:r>
              <a:rPr lang="zh-CN" altLang="en-US" b="1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入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批量录入汉字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输入一串汉字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系统自动生成音码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为每个读音指定形码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自动处理重码冲突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适合大量汉字批量录入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634248" y="334154"/>
            <a:ext cx="31131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b="1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添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加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单字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单个添加条目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添加单个汉字编码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格式：汉字 完整编码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自动检查重码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解决冲突后完成添加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34248" y="2163128"/>
            <a:ext cx="32529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b="1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编辑修改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删除条目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输入要修改的旧编码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输入新编码（或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删除）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自动解决重码问题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可修改或删除已有条目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634248" y="3715104"/>
            <a:ext cx="37209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b="1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分析音区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– 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区分析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分析特定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音码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码区的汉字分布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显示独体字表和合体字表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统计独体率</a:t>
            </a: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码分布</a:t>
            </a: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副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码率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示例：输入</a:t>
            </a: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yi4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查看该码区情况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876800" y="4899653"/>
            <a:ext cx="61774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整理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码表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字典整理优化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自动去重和排序字典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生成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AHK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热键脚本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创建无数字简码版本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整理词语文件排序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一级简码优先排列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07135" y="4886560"/>
            <a:ext cx="28338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运行输入法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直接启动主输入法程序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测试编码录入效果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验证字典更新结果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07135" y="3253438"/>
            <a:ext cx="32234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b="1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查询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查询汉字编码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输入一串汉字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显示每个汉字的已有编码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多个读音用斜杠分隔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快速查找编码参考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07135" y="1313138"/>
            <a:ext cx="61774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添加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词语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添加词语编码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两字词：自动生成组合编码供选择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多字词：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自动生成默认编码，</a:t>
            </a:r>
            <a:endParaRPr lang="en-US" altLang="zh-CN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或者手动输入编码序列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添加到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ciyu.txt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支持多个编码变体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287673" y="5488032"/>
            <a:ext cx="47749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kern="1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注意</a:t>
            </a:r>
            <a:r>
              <a:rPr lang="zh-CN" altLang="zh-CN" sz="20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：使用前需安装</a:t>
            </a:r>
            <a:r>
              <a:rPr lang="en-US" altLang="zh-CN" sz="2000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pypinyin</a:t>
            </a:r>
            <a:r>
              <a:rPr lang="zh-CN" altLang="en-US" sz="20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keyboard</a:t>
            </a:r>
            <a:r>
              <a:rPr lang="zh-CN" altLang="en-US" sz="20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endParaRPr lang="en-US" altLang="zh-CN" sz="2000" kern="100" dirty="0"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kern="100" dirty="0" err="1">
                <a:latin typeface="华文楷体" panose="02010600040101010101" pitchFamily="2" charset="-122"/>
                <a:cs typeface="Times New Roman" panose="02020603050405020304" pitchFamily="18" charset="0"/>
              </a:rPr>
              <a:t>pyperclip</a:t>
            </a:r>
            <a:r>
              <a:rPr lang="zh-CN" altLang="en-US" sz="20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latin typeface="华文楷体" panose="02010600040101010101" pitchFamily="2" charset="-122"/>
                <a:cs typeface="Times New Roman" panose="02020603050405020304" pitchFamily="18" charset="0"/>
              </a:rPr>
              <a:t>pyautogui</a:t>
            </a:r>
            <a:r>
              <a:rPr lang="zh-CN" altLang="zh-CN" sz="20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库，所有文件需放在</a:t>
            </a:r>
            <a:endParaRPr lang="en-US" altLang="zh-CN" sz="20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同一目录下。</a:t>
            </a:r>
            <a:endParaRPr lang="en-US" altLang="zh-CN" sz="20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建议定期备份</a:t>
            </a:r>
            <a:r>
              <a:rPr lang="en-US" altLang="zh-CN" sz="20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dictionary.txt</a:t>
            </a:r>
            <a:r>
              <a:rPr lang="zh-CN" altLang="zh-CN" sz="20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ciyu.txt</a:t>
            </a:r>
            <a:r>
              <a:rPr lang="zh-CN" altLang="zh-CN" sz="20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文件。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469" y="0"/>
            <a:ext cx="1936531" cy="193653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9FAF053-02F4-4885-8DC2-F58549E60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9785" y="2171699"/>
            <a:ext cx="4624829" cy="2234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1446" y="1788454"/>
            <a:ext cx="9646251" cy="2098226"/>
          </a:xfrm>
        </p:spPr>
        <p:txBody>
          <a:bodyPr/>
          <a:lstStyle/>
          <a:p>
            <a:r>
              <a:rPr lang="zh-CN" altLang="en-US" sz="6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解书音形</a:t>
            </a:r>
            <a:r>
              <a:rPr lang="zh-CN" altLang="en-US" sz="6600" kern="1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编码规则</a:t>
            </a:r>
            <a:endParaRPr lang="zh-CN" altLang="en-US" sz="66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305160" y="3756399"/>
            <a:ext cx="6831673" cy="1086237"/>
          </a:xfrm>
        </p:spPr>
        <p:txBody>
          <a:bodyPr/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Bm1sma3sgv1jze2d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21469"/>
            <a:ext cx="1936531" cy="19365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前言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zh-CN" altLang="en-US" sz="2400" dirty="0">
                <a:solidFill>
                  <a:srgbClr val="FF0000"/>
                </a:solidFill>
              </a:rPr>
              <a:t>解书音形</a:t>
            </a:r>
            <a:r>
              <a:rPr lang="zh-CN" altLang="zh-CN" sz="2400" dirty="0"/>
              <a:t>是一种</a:t>
            </a:r>
            <a:r>
              <a:rPr lang="zh-CN" altLang="zh-CN" sz="2400" b="1" dirty="0"/>
              <a:t>音形结合、零重码、可自定义</a:t>
            </a:r>
            <a:r>
              <a:rPr lang="zh-CN" altLang="zh-CN" sz="2400" dirty="0"/>
              <a:t>的现代汉字输入方案，采用</a:t>
            </a:r>
            <a:r>
              <a:rPr lang="en-US" altLang="zh-CN" sz="2400" dirty="0"/>
              <a:t>ABCD(E)(.F)</a:t>
            </a:r>
            <a:r>
              <a:rPr lang="zh-CN" altLang="zh-CN" sz="2400" dirty="0"/>
              <a:t>的编码结构，兼顾</a:t>
            </a:r>
            <a:r>
              <a:rPr lang="zh-CN" altLang="zh-CN" sz="2400" b="1" dirty="0"/>
              <a:t>易学性</a:t>
            </a:r>
            <a:r>
              <a:rPr lang="zh-CN" altLang="zh-CN" sz="2400" dirty="0"/>
              <a:t>和</a:t>
            </a:r>
            <a:r>
              <a:rPr lang="zh-CN" altLang="zh-CN" sz="2400" b="1" dirty="0"/>
              <a:t>高效率</a:t>
            </a:r>
            <a:r>
              <a:rPr lang="zh-CN" altLang="zh-CN" sz="2400" dirty="0"/>
              <a:t>。本输入法秉承</a:t>
            </a:r>
            <a:r>
              <a:rPr lang="en-US" altLang="zh-CN" sz="2400" dirty="0"/>
              <a:t>"</a:t>
            </a:r>
            <a:r>
              <a:rPr lang="zh-CN" altLang="zh-CN" sz="2400" b="1" dirty="0"/>
              <a:t>知音辨形，高效输入</a:t>
            </a:r>
            <a:r>
              <a:rPr lang="en-US" altLang="zh-CN" sz="2400" dirty="0"/>
              <a:t>"</a:t>
            </a:r>
            <a:r>
              <a:rPr lang="zh-CN" altLang="zh-CN" sz="2400" dirty="0"/>
              <a:t>的理念，让用户在掌握拼音的基础上，通过少量形码规则即可实现高速盲打。纪释析义输入法的编码是一个充分考虑字源字义，又以现代字型为准的编码方案，保持文化敏感：编码反映汉字的结构演变和文化内涵，以音切入，以义定形，动态分配，注释避重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一、编码结构概览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71903" y="1329559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/>
              <a:t>每个汉字的完整编码由以下部分组成：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4485289" y="1910090"/>
            <a:ext cx="297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buNone/>
            </a:pPr>
            <a:r>
              <a:rPr lang="en-US" altLang="zh-CN" sz="28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文中宋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ABCD(E)(.F)</a:t>
            </a:r>
            <a:endParaRPr lang="zh-CN" altLang="zh-CN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40014" y="1904835"/>
            <a:ext cx="960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ABC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51641" y="3056581"/>
            <a:ext cx="4420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（音</a:t>
            </a:r>
            <a:r>
              <a:rPr lang="zh-CN" altLang="en-US" sz="20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r>
              <a:rPr lang="zh-CN" altLang="zh-CN" sz="20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：基础音码，</a:t>
            </a:r>
            <a:endParaRPr lang="en-US" altLang="zh-CN" sz="20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忠实记录真实、准确的发音（</a:t>
            </a:r>
            <a:r>
              <a:rPr lang="zh-CN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必填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610485" y="1910090"/>
            <a:ext cx="1503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D(E)(.F)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72503" y="3056581"/>
            <a:ext cx="49587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形码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zh-CN" altLang="en-US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书写描述。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有一个重要的原则：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在规范、直觉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效率之间做平衡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221183" y="4239345"/>
            <a:ext cx="5277482" cy="1246891"/>
            <a:chOff x="3537739" y="5214091"/>
            <a:chExt cx="4688413" cy="1261241"/>
          </a:xfrm>
        </p:grpSpPr>
        <p:sp>
          <p:nvSpPr>
            <p:cNvPr id="18" name="矩形: 圆角 17"/>
            <p:cNvSpPr/>
            <p:nvPr/>
          </p:nvSpPr>
          <p:spPr>
            <a:xfrm>
              <a:off x="3866751" y="5214091"/>
              <a:ext cx="4230414" cy="1261241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537739" y="5288009"/>
              <a:ext cx="4688413" cy="1027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535305" algn="just">
                <a:buNone/>
              </a:pPr>
              <a:r>
                <a:rPr lang="en-US" altLang="zh-CN" sz="2000" b="1" kern="100" dirty="0">
                  <a:effectLst/>
                  <a:latin typeface="宋体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000" b="1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主码</a:t>
              </a:r>
              <a:r>
                <a:rPr lang="zh-CN" altLang="en-US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部首</a:t>
              </a:r>
              <a:r>
                <a:rPr lang="en-US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独体区分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形码（</a:t>
              </a:r>
              <a:r>
                <a:rPr lang="zh-CN" altLang="zh-CN" sz="2000" kern="1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必填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indent="535305" algn="just">
                <a:buNone/>
              </a:pPr>
              <a:r>
                <a:rPr lang="en-US" altLang="zh-CN" sz="2000" b="1" kern="100" dirty="0">
                  <a:effectLst/>
                  <a:latin typeface="宋体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000" b="1" kern="100" dirty="0"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副码</a:t>
              </a:r>
              <a:r>
                <a:rPr lang="zh-CN" altLang="en-US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副</a:t>
              </a:r>
              <a:r>
                <a:rPr lang="zh-CN" altLang="en-US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字</a:t>
              </a:r>
              <a:r>
                <a:rPr lang="en-US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查重注释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形码（可选）</a:t>
              </a:r>
              <a:endPara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indent="535305" algn="just">
                <a:buNone/>
              </a:pPr>
              <a:r>
                <a:rPr lang="en-US" altLang="zh-CN" sz="2000" b="1" kern="100" dirty="0">
                  <a:effectLst/>
                  <a:latin typeface="宋体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000" b="1" kern="100" dirty="0"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补码</a:t>
              </a:r>
              <a:r>
                <a:rPr lang="zh-CN" altLang="en-US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繁异</a:t>
              </a:r>
              <a:r>
                <a:rPr lang="en-US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同义补充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形码（可选）</a:t>
              </a:r>
              <a:endPara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7.40741E-7 L -0.11524 0.09491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68" y="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00672 L 0.08998 0.09398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92" y="5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1" grpId="0"/>
      <p:bldP spid="12" grpId="0"/>
      <p:bldP spid="12" grpId="1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核心要点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1844563" y="1292616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核心思想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83320" y="2144744"/>
            <a:ext cx="46876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ts val="1000"/>
              <a:tabLst>
                <a:tab pos="457200" algn="l"/>
              </a:tabLst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先音后形</a:t>
            </a:r>
            <a:endParaRPr lang="en-US" altLang="zh-CN" sz="20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前三位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拼音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后几位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DEF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字形</a:t>
            </a:r>
            <a:endParaRPr lang="en-US" altLang="zh-CN" sz="2000" b="1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常用优先</a:t>
            </a:r>
            <a:endParaRPr lang="en-US" altLang="zh-CN" sz="20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最常用字编码最短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零重码</a:t>
            </a:r>
            <a:endParaRPr lang="en-US" altLang="zh-CN" sz="20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编码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都有唯一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汉字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844562" y="5029338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音码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382110" y="6073959"/>
            <a:ext cx="35682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搜狗双拼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声调，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轻声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4332892" y="1292616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主码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555831" y="1224143"/>
            <a:ext cx="563617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独体字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数字编码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（按优先级）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开形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八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大形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大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闭形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口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</a:p>
          <a:p>
            <a:pPr indent="266700" algn="just">
              <a:buNone/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衬形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竖形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千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000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横形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</a:p>
          <a:p>
            <a:pPr indent="266700" algn="just">
              <a:buNone/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错形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互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偏形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厂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复形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奇形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乂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000" kern="100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合体</a:t>
            </a:r>
            <a:r>
              <a:rPr lang="zh-CN" altLang="en-US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字母编码</a:t>
            </a:r>
            <a:r>
              <a:rPr lang="zh-CN" altLang="zh-CN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（部首</a:t>
            </a:r>
            <a:r>
              <a:rPr lang="en-US" altLang="zh-CN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</a:t>
            </a:r>
            <a:r>
              <a:rPr lang="zh-CN" altLang="en-US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首码</a:t>
            </a:r>
            <a:r>
              <a:rPr lang="zh-CN" altLang="zh-CN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关键部</a:t>
            </a:r>
            <a:r>
              <a:rPr lang="zh-CN" altLang="en-US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首码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亻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 k=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口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 m=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木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 s=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示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礻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 t=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土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氵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水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), x=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忄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 y=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言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讠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 z=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辶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完整部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首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表作为参考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endParaRPr lang="en-US" altLang="zh-CN" sz="2000" kern="1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332892" y="5029338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副码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638596" y="4818249"/>
            <a:ext cx="55008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何时需要</a:t>
            </a:r>
            <a:r>
              <a:rPr lang="zh-CN" altLang="en-US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副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码？</a:t>
            </a:r>
            <a:endParaRPr lang="zh-CN" altLang="zh-CN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同音同部母的字（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前四码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都相同）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副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码选择顺序</a:t>
            </a:r>
          </a:p>
          <a:p>
            <a:r>
              <a:rPr lang="zh-CN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 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部首别</a:t>
            </a:r>
            <a:r>
              <a:rPr lang="zh-CN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码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 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余字解析</a:t>
            </a:r>
            <a:r>
              <a:rPr lang="zh-CN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码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 e &gt; ; &gt; </a:t>
            </a:r>
            <a:r>
              <a:rPr lang="zh-CN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其他字母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555830" y="4478343"/>
            <a:ext cx="558361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9" grpId="0"/>
      <p:bldP spid="10" grpId="0" animBg="1"/>
      <p:bldP spid="12" grpId="0"/>
      <p:bldP spid="15" grpId="0" animBg="1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en-US" b="1" dirty="0"/>
              <a:t>核心要点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489844" y="1428750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补码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298027" y="2413337"/>
            <a:ext cx="33685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补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码格式：</a:t>
            </a: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.X</a:t>
            </a:r>
            <a:endParaRPr lang="zh-CN" altLang="zh-CN" sz="20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主要用于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繁体字、异体字</a:t>
            </a:r>
            <a:endParaRPr lang="zh-CN" altLang="zh-CN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日常输入很少用到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489844" y="3840874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特殊规则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371600" y="4794271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独体字没有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最常用字没有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未简字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码固定为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000" b="1" kern="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余单笔画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有特殊编码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66593" y="685800"/>
            <a:ext cx="4188373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effectLst/>
                <a:latin typeface="+mn-ea"/>
                <a:cs typeface="Times New Roman" panose="02020603050405020304" pitchFamily="18" charset="0"/>
              </a:rPr>
              <a:t>快速入门路径</a:t>
            </a:r>
            <a:endParaRPr lang="en-US" altLang="zh-CN" sz="24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第</a:t>
            </a:r>
            <a:r>
              <a:rPr lang="en-US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步：掌握音码。</a:t>
            </a:r>
            <a:endParaRPr lang="en-US" altLang="zh-CN" sz="20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第</a:t>
            </a:r>
            <a:r>
              <a:rPr lang="en-US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步：掌握</a:t>
            </a:r>
            <a:r>
              <a:rPr lang="zh-CN" altLang="en-US" sz="2000" b="1" kern="100" dirty="0">
                <a:latin typeface="+mn-ea"/>
                <a:cs typeface="Times New Roman" panose="02020603050405020304" pitchFamily="18" charset="0"/>
              </a:rPr>
              <a:t>主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码基础。</a:t>
            </a:r>
            <a:endParaRPr lang="en-US" altLang="zh-CN" sz="20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第</a:t>
            </a:r>
            <a:r>
              <a:rPr lang="en-US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步：常用字实战练习。</a:t>
            </a:r>
            <a:endParaRPr lang="en-US" altLang="zh-CN" sz="20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第</a:t>
            </a:r>
            <a:r>
              <a:rPr lang="en-US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步：逐步学习</a:t>
            </a:r>
            <a:r>
              <a:rPr lang="zh-CN" altLang="en-US" sz="2000" b="1" kern="100" dirty="0">
                <a:latin typeface="+mn-ea"/>
                <a:cs typeface="Times New Roman" panose="02020603050405020304" pitchFamily="18" charset="0"/>
              </a:rPr>
              <a:t>副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码。</a:t>
            </a:r>
            <a:endParaRPr lang="en-US" altLang="zh-CN" sz="20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endParaRPr lang="en-US" altLang="zh-CN" sz="20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400" b="1" dirty="0">
                <a:latin typeface="+mn-ea"/>
              </a:rPr>
              <a:t>设计理念总结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1. 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三层结构</a:t>
            </a:r>
            <a:endParaRPr lang="zh-CN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r>
              <a:rPr lang="zh-CN" altLang="zh-CN" sz="2000" dirty="0">
                <a:latin typeface="+mn-ea"/>
              </a:rPr>
              <a:t>音码</a:t>
            </a:r>
            <a:r>
              <a:rPr lang="en-US" altLang="zh-CN" sz="2000" dirty="0">
                <a:latin typeface="+mn-ea"/>
              </a:rPr>
              <a:t>(ABC) → </a:t>
            </a:r>
            <a:r>
              <a:rPr lang="zh-CN" altLang="zh-CN" sz="2000" dirty="0">
                <a:latin typeface="+mn-ea"/>
              </a:rPr>
              <a:t>部首</a:t>
            </a:r>
            <a:r>
              <a:rPr lang="en-US" altLang="zh-CN" sz="2000" dirty="0">
                <a:latin typeface="+mn-ea"/>
              </a:rPr>
              <a:t>(D) → </a:t>
            </a:r>
            <a:r>
              <a:rPr lang="zh-CN" altLang="zh-CN" sz="2000" dirty="0">
                <a:latin typeface="+mn-ea"/>
              </a:rPr>
              <a:t>细化</a:t>
            </a:r>
            <a:r>
              <a:rPr lang="en-US" altLang="zh-CN" sz="2000" dirty="0">
                <a:latin typeface="+mn-ea"/>
              </a:rPr>
              <a:t>(E/F)</a:t>
            </a:r>
            <a:endParaRPr lang="zh-CN" altLang="zh-CN" sz="2000" dirty="0">
              <a:latin typeface="+mn-ea"/>
            </a:endParaRPr>
          </a:p>
          <a:p>
            <a:pPr lvl="0"/>
            <a:r>
              <a:rPr lang="zh-CN" altLang="zh-CN" sz="2000" dirty="0">
                <a:latin typeface="+mn-ea"/>
              </a:rPr>
              <a:t>知道读音就能输入</a:t>
            </a:r>
          </a:p>
          <a:p>
            <a:pPr lvl="0"/>
            <a:r>
              <a:rPr lang="zh-CN" altLang="zh-CN" sz="2000" dirty="0">
                <a:latin typeface="+mn-ea"/>
              </a:rPr>
              <a:t>记少量形码就能精确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2. 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渐进学习</a:t>
            </a:r>
            <a:endParaRPr lang="zh-CN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lvl="0"/>
            <a:r>
              <a:rPr lang="zh-CN" altLang="zh-CN" sz="2000" dirty="0">
                <a:latin typeface="+mn-ea"/>
              </a:rPr>
              <a:t>初期：只记</a:t>
            </a:r>
            <a:r>
              <a:rPr lang="zh-CN" altLang="zh-CN" sz="2000" dirty="0"/>
              <a:t>前四码</a:t>
            </a:r>
            <a:endParaRPr lang="en-US" altLang="zh-CN" sz="2000" dirty="0"/>
          </a:p>
          <a:p>
            <a:pPr lvl="0"/>
            <a:r>
              <a:rPr lang="zh-CN" altLang="zh-CN" sz="2000" dirty="0">
                <a:latin typeface="+mn-ea"/>
              </a:rPr>
              <a:t>中期：加</a:t>
            </a:r>
            <a:r>
              <a:rPr lang="zh-CN" altLang="en-US" sz="2000" dirty="0">
                <a:latin typeface="+mn-ea"/>
              </a:rPr>
              <a:t>副</a:t>
            </a:r>
            <a:r>
              <a:rPr lang="zh-CN" altLang="zh-CN" sz="2000" dirty="0">
                <a:latin typeface="+mn-ea"/>
              </a:rPr>
              <a:t>码区分重码</a:t>
            </a:r>
          </a:p>
          <a:p>
            <a:pPr lvl="0"/>
            <a:r>
              <a:rPr lang="zh-CN" altLang="zh-CN" sz="2000" dirty="0">
                <a:latin typeface="+mn-ea"/>
              </a:rPr>
              <a:t>高级：掌握全规则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3. 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实用主义</a:t>
            </a:r>
            <a:endParaRPr lang="zh-CN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lvl="0"/>
            <a:r>
              <a:rPr lang="zh-CN" altLang="zh-CN" sz="2000" dirty="0">
                <a:latin typeface="+mn-ea"/>
              </a:rPr>
              <a:t>规则为效率服务</a:t>
            </a:r>
          </a:p>
          <a:p>
            <a:pPr lvl="0"/>
            <a:r>
              <a:rPr lang="zh-CN" altLang="zh-CN" sz="2000" dirty="0">
                <a:latin typeface="+mn-ea"/>
              </a:rPr>
              <a:t>相似字编码模式一致</a:t>
            </a:r>
          </a:p>
          <a:p>
            <a:pPr lvl="0"/>
            <a:r>
              <a:rPr lang="zh-CN" altLang="zh-CN" sz="2000" dirty="0">
                <a:latin typeface="+mn-ea"/>
              </a:rPr>
              <a:t>最常用字编码最短</a:t>
            </a:r>
            <a:endParaRPr lang="zh-CN" altLang="zh-CN" dirty="0"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417269" y="2461844"/>
            <a:ext cx="1655379" cy="169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zh-CN" altLang="zh-CN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先用再学</a:t>
            </a:r>
            <a:endParaRPr lang="en-US" altLang="zh-CN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zh-CN" altLang="zh-CN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实战为主</a:t>
            </a:r>
            <a:endParaRPr lang="en-US" altLang="zh-CN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zh-CN" altLang="zh-CN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善用工具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9062544" y="1428750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学习建议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394029" y="5510480"/>
            <a:ext cx="48295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这套输入法在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易学性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效率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之间取得了良好平衡：知道拼音就能打，记住少量形码就能快，适合追求效率又不愿死记硬背的用户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/>
      <p:bldP spid="13" grpId="0"/>
      <p:bldP spid="15" grpId="0"/>
      <p:bldP spid="16" grpId="0" animBg="1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二、音码编码规则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1371600" y="1428750"/>
            <a:ext cx="2435775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初码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声母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98634" y="2354482"/>
            <a:ext cx="27563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-266700" algn="just">
              <a:buNone/>
            </a:pPr>
            <a:r>
              <a:rPr lang="en-US" altLang="zh-CN" sz="2000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sh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lang="en-US" altLang="zh-CN" sz="20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-266700" algn="just">
              <a:buNone/>
            </a:pP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零声母：</a:t>
            </a:r>
            <a:endParaRPr lang="en-US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endParaRPr lang="en-US" altLang="zh-CN" sz="20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，ü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lang="en-US" altLang="zh-CN" sz="20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其他声母同全拼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5421728" y="1428750"/>
            <a:ext cx="2394328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韵码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韵母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54975" y="2354482"/>
            <a:ext cx="592783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同全拼。</a:t>
            </a:r>
          </a:p>
          <a:p>
            <a:pPr algn="just"/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iu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ua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ia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uan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ü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(v)an/er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，ü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(v)e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uai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ü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（声母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jqxy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的，ü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uo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un/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ü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(v)n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ong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iong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uang/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iang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en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eng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ang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ei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ie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iao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ui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ou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ian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ing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→；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844" y="4601251"/>
            <a:ext cx="7035783" cy="210405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2" name="矩形: 圆角 11"/>
          <p:cNvSpPr/>
          <p:nvPr/>
        </p:nvSpPr>
        <p:spPr>
          <a:xfrm>
            <a:off x="9430409" y="1441432"/>
            <a:ext cx="2495248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调码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声调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582810" y="2354482"/>
            <a:ext cx="26091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数字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标记：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为轻声，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为阴平，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为阳平，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为上声，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为去声。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多音字按其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具体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读音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的声调分配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调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码。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存在口语变调的字按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变调后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实际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读音取码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9" grpId="0"/>
      <p:bldP spid="12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en-US" b="1" dirty="0"/>
              <a:t>三、主码编码规则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03737" y="1301445"/>
            <a:ext cx="10946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buNone/>
            </a:pP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主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码是编码中的第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四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位，用于区分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同音字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它根据汉字的字形结构，将汉字分为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独体字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和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合体字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两大类，并赋予不同的编码规则。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40523" y="2048327"/>
            <a:ext cx="1072580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合体字判定标准</a:t>
            </a:r>
            <a:endParaRPr lang="en-US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dirty="0"/>
              <a:t>一个汉字是否属于</a:t>
            </a:r>
            <a:r>
              <a:rPr lang="zh-CN" altLang="zh-CN" sz="2000" dirty="0">
                <a:solidFill>
                  <a:srgbClr val="FF0000"/>
                </a:solidFill>
              </a:rPr>
              <a:t>合体字</a:t>
            </a:r>
            <a:r>
              <a:rPr lang="zh-CN" altLang="zh-CN" sz="2000" dirty="0"/>
              <a:t>，按照以下标准判断：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>
                <a:solidFill>
                  <a:srgbClr val="FF0000"/>
                </a:solidFill>
              </a:rPr>
              <a:t>现代字形原则</a:t>
            </a:r>
            <a:r>
              <a:rPr lang="zh-CN" altLang="zh-CN" sz="2000" dirty="0"/>
              <a:t>：所有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字源不清</a:t>
            </a:r>
            <a:r>
              <a:rPr lang="zh-CN" altLang="zh-CN" sz="2000" dirty="0"/>
              <a:t>的字（包括错释、模棱两可、关系复杂、隶变等），统一按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现代</a:t>
            </a:r>
            <a:r>
              <a:rPr lang="zh-CN" altLang="zh-CN" sz="2000" dirty="0"/>
              <a:t>字形处理。隶变后变得模糊难以辨认的部件，一般跳过不取。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可拆分性</a:t>
            </a:r>
            <a:r>
              <a:rPr lang="zh-CN" altLang="zh-CN" sz="2000" dirty="0"/>
              <a:t>：能够拆出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非单笔画部首</a:t>
            </a:r>
            <a:r>
              <a:rPr lang="zh-CN" altLang="zh-CN" sz="2000" dirty="0"/>
              <a:t>的字，视为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合体字</a:t>
            </a:r>
            <a:r>
              <a:rPr lang="zh-CN" altLang="zh-CN" sz="2000" dirty="0"/>
              <a:t>；否则为独体字。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“</a:t>
            </a:r>
            <a:r>
              <a:rPr lang="zh-CN" altLang="zh-CN" sz="2000" dirty="0">
                <a:solidFill>
                  <a:srgbClr val="FF0000"/>
                </a:solidFill>
              </a:rPr>
              <a:t>拆</a:t>
            </a:r>
            <a:r>
              <a:rPr lang="en-US" altLang="zh-CN" sz="2000" dirty="0">
                <a:solidFill>
                  <a:srgbClr val="FF0000"/>
                </a:solidFill>
              </a:rPr>
              <a:t>”</a:t>
            </a:r>
            <a:r>
              <a:rPr lang="zh-CN" altLang="zh-CN" sz="2000" dirty="0"/>
              <a:t>要求</a:t>
            </a:r>
            <a:r>
              <a:rPr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独立明显</a:t>
            </a:r>
            <a:r>
              <a:rPr lang="zh-CN" altLang="en-US" sz="2000" dirty="0"/>
              <a:t>，</a:t>
            </a:r>
            <a:r>
              <a:rPr lang="zh-CN" altLang="en-US" sz="2000" b="1" dirty="0">
                <a:solidFill>
                  <a:srgbClr val="00B050"/>
                </a:solidFill>
              </a:rPr>
              <a:t>一般</a:t>
            </a:r>
            <a:r>
              <a:rPr lang="zh-CN" altLang="zh-CN" sz="2000" b="1" dirty="0">
                <a:solidFill>
                  <a:srgbClr val="00B050"/>
                </a:solidFill>
              </a:rPr>
              <a:t>不交错、不穿插、不粘连</a:t>
            </a:r>
            <a:r>
              <a:rPr lang="zh-CN" altLang="zh-CN" sz="2000" dirty="0"/>
              <a:t>。</a:t>
            </a:r>
          </a:p>
          <a:p>
            <a:r>
              <a:rPr lang="zh-CN" altLang="zh-CN" sz="2000" dirty="0"/>
              <a:t>取完部首后，剩下的部件应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尽量</a:t>
            </a:r>
            <a:r>
              <a:rPr lang="zh-CN" altLang="zh-CN" sz="2000" dirty="0"/>
              <a:t>成字，避免拆分出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无意义</a:t>
            </a:r>
            <a:r>
              <a:rPr lang="zh-CN" altLang="zh-CN" sz="2000" dirty="0"/>
              <a:t>的部件。</a:t>
            </a:r>
          </a:p>
          <a:p>
            <a:r>
              <a:rPr lang="zh-CN" altLang="zh-CN" sz="2000" dirty="0"/>
              <a:t>汉字的部首</a:t>
            </a:r>
            <a:r>
              <a:rPr lang="zh-CN" altLang="zh-CN" sz="2000" b="1" dirty="0">
                <a:solidFill>
                  <a:srgbClr val="FF0000"/>
                </a:solidFill>
              </a:rPr>
              <a:t>不能</a:t>
            </a:r>
            <a:r>
              <a:rPr lang="zh-CN" altLang="zh-CN" sz="2000" dirty="0"/>
              <a:t>取自己（即不能用整个字作为自己的部首），但是可以取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部首的变体</a:t>
            </a:r>
            <a:r>
              <a:rPr lang="zh-CN" altLang="zh-CN" sz="2000" dirty="0"/>
              <a:t>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解书</a:t>
            </a:r>
            <a:r>
              <a:rPr lang="zh-CN" altLang="zh-CN" sz="2000" b="1" dirty="0">
                <a:solidFill>
                  <a:srgbClr val="FF0000"/>
                </a:solidFill>
              </a:rPr>
              <a:t>拆分法</a:t>
            </a:r>
            <a:r>
              <a:rPr lang="zh-CN" altLang="zh-CN" sz="2000" dirty="0"/>
              <a:t>：为了实现精确拆分，我们采用</a:t>
            </a:r>
            <a:r>
              <a:rPr lang="en-US" altLang="zh-CN" sz="2000" dirty="0"/>
              <a:t>“</a:t>
            </a:r>
            <a:r>
              <a:rPr lang="zh-CN" altLang="en-US" sz="2000" dirty="0"/>
              <a:t>解书</a:t>
            </a:r>
            <a:r>
              <a:rPr lang="en-US" altLang="zh-CN" sz="2000" dirty="0"/>
              <a:t>"</a:t>
            </a:r>
            <a:r>
              <a:rPr lang="zh-CN" altLang="zh-CN" sz="2000" dirty="0"/>
              <a:t>拆字法。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832538" y="6117021"/>
            <a:ext cx="472965" cy="255566"/>
          </a:xfrm>
          <a:custGeom>
            <a:avLst/>
            <a:gdLst/>
            <a:ahLst/>
            <a:cxnLst/>
            <a:rect l="l" t="t" r="r" b="b"/>
            <a:pathLst>
              <a:path w="1004620" h="549860">
                <a:moveTo>
                  <a:pt x="448056" y="0"/>
                </a:moveTo>
                <a:cubicBezTo>
                  <a:pt x="463092" y="0"/>
                  <a:pt x="483819" y="3861"/>
                  <a:pt x="510235" y="11583"/>
                </a:cubicBezTo>
                <a:cubicBezTo>
                  <a:pt x="536651" y="19304"/>
                  <a:pt x="549859" y="29668"/>
                  <a:pt x="549859" y="42672"/>
                </a:cubicBezTo>
                <a:cubicBezTo>
                  <a:pt x="549859" y="46736"/>
                  <a:pt x="548233" y="52832"/>
                  <a:pt x="544982" y="60960"/>
                </a:cubicBezTo>
                <a:cubicBezTo>
                  <a:pt x="540105" y="78029"/>
                  <a:pt x="535228" y="108103"/>
                  <a:pt x="530352" y="151181"/>
                </a:cubicBezTo>
                <a:cubicBezTo>
                  <a:pt x="605129" y="131674"/>
                  <a:pt x="652068" y="121920"/>
                  <a:pt x="671169" y="121920"/>
                </a:cubicBezTo>
                <a:cubicBezTo>
                  <a:pt x="690270" y="121920"/>
                  <a:pt x="705307" y="124359"/>
                  <a:pt x="716280" y="129236"/>
                </a:cubicBezTo>
                <a:cubicBezTo>
                  <a:pt x="727252" y="134112"/>
                  <a:pt x="732739" y="139396"/>
                  <a:pt x="732739" y="145085"/>
                </a:cubicBezTo>
                <a:cubicBezTo>
                  <a:pt x="732739" y="150775"/>
                  <a:pt x="723798" y="156871"/>
                  <a:pt x="705916" y="163373"/>
                </a:cubicBezTo>
                <a:cubicBezTo>
                  <a:pt x="688035" y="169876"/>
                  <a:pt x="628294" y="182068"/>
                  <a:pt x="526694" y="199949"/>
                </a:cubicBezTo>
                <a:lnTo>
                  <a:pt x="524256" y="291389"/>
                </a:lnTo>
                <a:cubicBezTo>
                  <a:pt x="575462" y="278384"/>
                  <a:pt x="610209" y="271882"/>
                  <a:pt x="628497" y="271882"/>
                </a:cubicBezTo>
                <a:cubicBezTo>
                  <a:pt x="646785" y="271882"/>
                  <a:pt x="662635" y="274320"/>
                  <a:pt x="676046" y="279197"/>
                </a:cubicBezTo>
                <a:cubicBezTo>
                  <a:pt x="689457" y="284074"/>
                  <a:pt x="696163" y="289154"/>
                  <a:pt x="696163" y="294437"/>
                </a:cubicBezTo>
                <a:cubicBezTo>
                  <a:pt x="696163" y="299720"/>
                  <a:pt x="685596" y="305410"/>
                  <a:pt x="664464" y="311506"/>
                </a:cubicBezTo>
                <a:cubicBezTo>
                  <a:pt x="643331" y="317602"/>
                  <a:pt x="596188" y="326340"/>
                  <a:pt x="523036" y="337719"/>
                </a:cubicBezTo>
                <a:lnTo>
                  <a:pt x="520598" y="427940"/>
                </a:lnTo>
                <a:lnTo>
                  <a:pt x="752246" y="391364"/>
                </a:lnTo>
                <a:cubicBezTo>
                  <a:pt x="811580" y="381610"/>
                  <a:pt x="855472" y="376733"/>
                  <a:pt x="883920" y="376733"/>
                </a:cubicBezTo>
                <a:cubicBezTo>
                  <a:pt x="912368" y="376733"/>
                  <a:pt x="939596" y="384455"/>
                  <a:pt x="965606" y="399898"/>
                </a:cubicBezTo>
                <a:cubicBezTo>
                  <a:pt x="991616" y="415341"/>
                  <a:pt x="1004620" y="429159"/>
                  <a:pt x="1004620" y="441351"/>
                </a:cubicBezTo>
                <a:cubicBezTo>
                  <a:pt x="1004620" y="453543"/>
                  <a:pt x="990803" y="459639"/>
                  <a:pt x="963168" y="459639"/>
                </a:cubicBezTo>
                <a:cubicBezTo>
                  <a:pt x="952601" y="459639"/>
                  <a:pt x="940409" y="458420"/>
                  <a:pt x="926592" y="455981"/>
                </a:cubicBezTo>
                <a:cubicBezTo>
                  <a:pt x="880262" y="448666"/>
                  <a:pt x="818692" y="445008"/>
                  <a:pt x="741883" y="445008"/>
                </a:cubicBezTo>
                <a:cubicBezTo>
                  <a:pt x="665073" y="445008"/>
                  <a:pt x="569772" y="453543"/>
                  <a:pt x="455980" y="470612"/>
                </a:cubicBezTo>
                <a:cubicBezTo>
                  <a:pt x="342188" y="487680"/>
                  <a:pt x="234492" y="510439"/>
                  <a:pt x="132892" y="538887"/>
                </a:cubicBezTo>
                <a:cubicBezTo>
                  <a:pt x="106883" y="546202"/>
                  <a:pt x="87376" y="549860"/>
                  <a:pt x="74371" y="549860"/>
                </a:cubicBezTo>
                <a:cubicBezTo>
                  <a:pt x="61366" y="549860"/>
                  <a:pt x="45720" y="543764"/>
                  <a:pt x="27432" y="531572"/>
                </a:cubicBezTo>
                <a:cubicBezTo>
                  <a:pt x="9144" y="519380"/>
                  <a:pt x="0" y="510236"/>
                  <a:pt x="0" y="504140"/>
                </a:cubicBezTo>
                <a:cubicBezTo>
                  <a:pt x="0" y="498044"/>
                  <a:pt x="8940" y="494589"/>
                  <a:pt x="26822" y="493776"/>
                </a:cubicBezTo>
                <a:cubicBezTo>
                  <a:pt x="89408" y="488900"/>
                  <a:pt x="236524" y="469393"/>
                  <a:pt x="468172" y="435255"/>
                </a:cubicBezTo>
                <a:lnTo>
                  <a:pt x="468172" y="345034"/>
                </a:lnTo>
                <a:cubicBezTo>
                  <a:pt x="395020" y="357226"/>
                  <a:pt x="350113" y="363322"/>
                  <a:pt x="333451" y="363322"/>
                </a:cubicBezTo>
                <a:cubicBezTo>
                  <a:pt x="316788" y="363322"/>
                  <a:pt x="303784" y="361696"/>
                  <a:pt x="294436" y="358445"/>
                </a:cubicBezTo>
                <a:cubicBezTo>
                  <a:pt x="285089" y="355194"/>
                  <a:pt x="280416" y="351130"/>
                  <a:pt x="280416" y="346253"/>
                </a:cubicBezTo>
                <a:cubicBezTo>
                  <a:pt x="280416" y="341376"/>
                  <a:pt x="288137" y="337719"/>
                  <a:pt x="303580" y="335280"/>
                </a:cubicBezTo>
                <a:cubicBezTo>
                  <a:pt x="345846" y="328778"/>
                  <a:pt x="400710" y="317805"/>
                  <a:pt x="468172" y="302362"/>
                </a:cubicBezTo>
                <a:lnTo>
                  <a:pt x="468172" y="210922"/>
                </a:lnTo>
                <a:cubicBezTo>
                  <a:pt x="430784" y="215799"/>
                  <a:pt x="400710" y="220269"/>
                  <a:pt x="377952" y="224333"/>
                </a:cubicBezTo>
                <a:cubicBezTo>
                  <a:pt x="355193" y="228397"/>
                  <a:pt x="335686" y="230429"/>
                  <a:pt x="319430" y="230429"/>
                </a:cubicBezTo>
                <a:cubicBezTo>
                  <a:pt x="303174" y="230429"/>
                  <a:pt x="288544" y="227991"/>
                  <a:pt x="275539" y="223114"/>
                </a:cubicBezTo>
                <a:cubicBezTo>
                  <a:pt x="262534" y="218237"/>
                  <a:pt x="256032" y="213157"/>
                  <a:pt x="256032" y="207874"/>
                </a:cubicBezTo>
                <a:cubicBezTo>
                  <a:pt x="256032" y="202591"/>
                  <a:pt x="264972" y="198933"/>
                  <a:pt x="282854" y="196901"/>
                </a:cubicBezTo>
                <a:cubicBezTo>
                  <a:pt x="300736" y="194869"/>
                  <a:pt x="362508" y="184100"/>
                  <a:pt x="468172" y="164592"/>
                </a:cubicBezTo>
                <a:cubicBezTo>
                  <a:pt x="467360" y="127204"/>
                  <a:pt x="465328" y="98959"/>
                  <a:pt x="462076" y="79858"/>
                </a:cubicBezTo>
                <a:cubicBezTo>
                  <a:pt x="458825" y="60757"/>
                  <a:pt x="451916" y="46940"/>
                  <a:pt x="441350" y="38405"/>
                </a:cubicBezTo>
                <a:cubicBezTo>
                  <a:pt x="430784" y="29871"/>
                  <a:pt x="425500" y="21946"/>
                  <a:pt x="425500" y="14631"/>
                </a:cubicBezTo>
                <a:cubicBezTo>
                  <a:pt x="425500" y="4877"/>
                  <a:pt x="433019" y="0"/>
                  <a:pt x="44805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6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2645304" y="5957089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/>
              <a:t>青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126826" y="5993195"/>
            <a:ext cx="5133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部首：      变体：</a:t>
            </a:r>
            <a:r>
              <a:rPr lang="zh-CN" altLang="en-US" sz="4800" dirty="0"/>
              <a:t>青</a:t>
            </a:r>
            <a:r>
              <a:rPr lang="zh-CN" altLang="en-US" sz="2800" dirty="0"/>
              <a:t>，</a:t>
            </a:r>
            <a:r>
              <a:rPr lang="en-US" altLang="zh-CN" sz="2800" dirty="0"/>
              <a:t>D</a:t>
            </a:r>
            <a:r>
              <a:rPr lang="zh-CN" altLang="en-US" sz="2800" dirty="0"/>
              <a:t>码：</a:t>
            </a:r>
            <a:r>
              <a:rPr lang="en-US" altLang="zh-CN" sz="4800" dirty="0"/>
              <a:t>q</a:t>
            </a:r>
            <a:endParaRPr lang="zh-CN" altLang="en-US" sz="2800" dirty="0"/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7546428" y="5297214"/>
            <a:ext cx="1513489" cy="77776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33333E-6 L 0.10821 0.00231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04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7" grpId="0" animBg="1"/>
      <p:bldP spid="17" grpId="1" animBg="1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253158"/>
              </p:ext>
            </p:extLst>
          </p:nvPr>
        </p:nvGraphicFramePr>
        <p:xfrm>
          <a:off x="922282" y="1187692"/>
          <a:ext cx="10846675" cy="56072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1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6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类别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D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码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特征说明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例字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开形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笔画相互分开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二三六八火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大形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横、撇、</a:t>
                      </a:r>
                      <a:r>
                        <a:rPr lang="zh-CN" altLang="en-US" sz="1800" kern="100" dirty="0">
                          <a:effectLst/>
                          <a:latin typeface="+mn-ea"/>
                          <a:ea typeface="+mn-ea"/>
                        </a:rPr>
                        <a:t>捺</a:t>
                      </a: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构成汉字主要框架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矢水米乘求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闭形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有占据主导地位的封闭部件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自酉曲凸甘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800" kern="100" dirty="0">
                          <a:effectLst/>
                          <a:latin typeface="+mn-ea"/>
                          <a:ea typeface="+mn-ea"/>
                        </a:rPr>
                        <a:t>称</a:t>
                      </a: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形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可构成上下或左右对称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中且臣丞丽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竖形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字形瘦高，或有贯穿汉字的竖画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生主已幺毛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横形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字形矮宽，或有贯穿汉字的横画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人之而瓜也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错形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有占主导的交错粘连的笔画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刀舟正不壬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偏形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汉字重心不稳，左下角或右下角空缺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产勿今母耳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560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复形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结构复杂，包含多个符合上述形状的结构；</a:t>
                      </a:r>
                      <a:endParaRPr lang="en-US" altLang="zh-CN" sz="18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或隶变后无法辨认拆形而导致的独体字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南先弗巳重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3560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奇形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以上字形都不符合，或以上字形都被更常用的字占用所产生的重码独体字字形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乙乂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72436" y="1172194"/>
            <a:ext cx="11072648" cy="5622744"/>
          </a:xfrm>
          <a:prstGeom prst="rect">
            <a:avLst/>
          </a:prstGeom>
          <a:solidFill>
            <a:srgbClr val="EFEDE3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zh-CN" sz="2000" b="1" dirty="0">
              <a:solidFill>
                <a:schemeClr val="tx1"/>
              </a:solidFill>
            </a:endParaRPr>
          </a:p>
          <a:p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zh-CN" altLang="zh-CN" sz="2000" b="1" dirty="0">
                <a:solidFill>
                  <a:schemeClr val="tx1"/>
                </a:solidFill>
              </a:rPr>
              <a:t>注意</a:t>
            </a:r>
            <a:r>
              <a:rPr lang="zh-CN" altLang="zh-CN" sz="2000" dirty="0">
                <a:solidFill>
                  <a:schemeClr val="tx1"/>
                </a:solidFill>
              </a:rPr>
              <a:t>：</a:t>
            </a:r>
          </a:p>
          <a:p>
            <a:r>
              <a:rPr lang="zh-CN" altLang="zh-CN" sz="2000" dirty="0">
                <a:solidFill>
                  <a:schemeClr val="tx1"/>
                </a:solidFill>
              </a:rPr>
              <a:t>优先级表示当某个汉字符合</a:t>
            </a: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多个</a:t>
            </a:r>
            <a:r>
              <a:rPr lang="zh-CN" altLang="zh-CN" sz="2000" dirty="0">
                <a:solidFill>
                  <a:schemeClr val="tx1"/>
                </a:solidFill>
              </a:rPr>
              <a:t>类别时，按优先级</a:t>
            </a: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</a:t>
            </a:r>
            <a:r>
              <a:rPr lang="zh-CN" altLang="zh-CN" sz="2000" dirty="0">
                <a:solidFill>
                  <a:schemeClr val="tx1"/>
                </a:solidFill>
              </a:rPr>
              <a:t>的类别编码。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主</a:t>
            </a:r>
            <a:r>
              <a:rPr lang="zh-CN" altLang="zh-CN" sz="2000" dirty="0">
                <a:solidFill>
                  <a:schemeClr val="tx1"/>
                </a:solidFill>
              </a:rPr>
              <a:t>码为数字</a:t>
            </a:r>
            <a:r>
              <a:rPr lang="en-US" altLang="zh-CN" sz="2000" dirty="0">
                <a:solidFill>
                  <a:schemeClr val="tx1"/>
                </a:solidFill>
              </a:rPr>
              <a:t>0-9</a:t>
            </a:r>
            <a:r>
              <a:rPr lang="zh-CN" altLang="zh-CN" sz="2000" dirty="0">
                <a:solidFill>
                  <a:schemeClr val="tx1"/>
                </a:solidFill>
              </a:rPr>
              <a:t>，分别对应上述类别。在编码时，根据独体字的</a:t>
            </a:r>
            <a:r>
              <a:rPr lang="zh-CN" altLang="zh-CN" sz="2000" b="1" dirty="0">
                <a:solidFill>
                  <a:schemeClr val="tx1"/>
                </a:solidFill>
              </a:rPr>
              <a:t>字形特征</a:t>
            </a:r>
            <a:r>
              <a:rPr lang="zh-CN" altLang="zh-CN" sz="2000" dirty="0">
                <a:solidFill>
                  <a:schemeClr val="tx1"/>
                </a:solidFill>
              </a:rPr>
              <a:t>，选择优先级</a:t>
            </a: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最高</a:t>
            </a:r>
            <a:r>
              <a:rPr lang="zh-CN" altLang="zh-CN" sz="2000" dirty="0">
                <a:solidFill>
                  <a:schemeClr val="tx1"/>
                </a:solidFill>
              </a:rPr>
              <a:t>的类别作为</a:t>
            </a:r>
            <a:r>
              <a:rPr lang="zh-CN" altLang="en-US" sz="2000" dirty="0">
                <a:solidFill>
                  <a:schemeClr val="tx1"/>
                </a:solidFill>
              </a:rPr>
              <a:t>主</a:t>
            </a:r>
            <a:r>
              <a:rPr lang="zh-CN" altLang="zh-CN" sz="2000" dirty="0">
                <a:solidFill>
                  <a:schemeClr val="tx1"/>
                </a:solidFill>
              </a:rPr>
              <a:t>码。</a:t>
            </a:r>
          </a:p>
          <a:p>
            <a:r>
              <a:rPr lang="zh-CN" altLang="zh-CN" sz="2000" dirty="0">
                <a:solidFill>
                  <a:schemeClr val="tx1"/>
                </a:solidFill>
              </a:rPr>
              <a:t>独体字现代字形</a:t>
            </a: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必须像</a:t>
            </a:r>
            <a:r>
              <a:rPr lang="zh-CN" altLang="zh-CN" sz="2000" dirty="0">
                <a:solidFill>
                  <a:schemeClr val="tx1"/>
                </a:solidFill>
              </a:rPr>
              <a:t>独体字</a:t>
            </a:r>
            <a:r>
              <a:rPr lang="en-US" altLang="zh-CN" sz="2000" dirty="0">
                <a:solidFill>
                  <a:schemeClr val="tx1"/>
                </a:solidFill>
              </a:rPr>
              <a:t>——</a:t>
            </a:r>
            <a:r>
              <a:rPr lang="zh-CN" altLang="zh-CN" sz="2000" dirty="0">
                <a:solidFill>
                  <a:schemeClr val="tx1"/>
                </a:solidFill>
              </a:rPr>
              <a:t>这是判断</a:t>
            </a: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复形</a:t>
            </a:r>
            <a:r>
              <a:rPr lang="zh-CN" altLang="zh-CN" sz="2000" dirty="0">
                <a:solidFill>
                  <a:schemeClr val="tx1"/>
                </a:solidFill>
              </a:rPr>
              <a:t>独体字的重要标准。</a:t>
            </a:r>
          </a:p>
          <a:p>
            <a:pPr algn="ctr"/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371600" y="0"/>
            <a:ext cx="9601200" cy="1485900"/>
          </a:xfrm>
        </p:spPr>
        <p:txBody>
          <a:bodyPr/>
          <a:lstStyle/>
          <a:p>
            <a:r>
              <a:rPr lang="zh-CN" altLang="en-US" b="1" dirty="0"/>
              <a:t>三、主码编码规则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71600" y="481313"/>
            <a:ext cx="97378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独体字的分类与优先级（独体</a:t>
            </a:r>
            <a:r>
              <a:rPr lang="zh-CN" altLang="en-US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构形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）</a:t>
            </a:r>
            <a:endParaRPr lang="zh-CN" altLang="zh-CN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独体字根据其字形特征分为以下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10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类，并按照优先级从高到低排列（数字为</a:t>
            </a: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主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码）：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370553" y="4363120"/>
            <a:ext cx="232258" cy="217216"/>
          </a:xfrm>
          <a:custGeom>
            <a:avLst/>
            <a:gdLst/>
            <a:ahLst/>
            <a:cxnLst/>
            <a:rect l="l" t="t" r="r" b="b"/>
            <a:pathLst>
              <a:path w="232258" h="217216">
                <a:moveTo>
                  <a:pt x="101194" y="0"/>
                </a:moveTo>
                <a:cubicBezTo>
                  <a:pt x="108915" y="0"/>
                  <a:pt x="119888" y="3454"/>
                  <a:pt x="134112" y="10363"/>
                </a:cubicBezTo>
                <a:cubicBezTo>
                  <a:pt x="148336" y="17272"/>
                  <a:pt x="155448" y="24181"/>
                  <a:pt x="155448" y="31089"/>
                </a:cubicBezTo>
                <a:cubicBezTo>
                  <a:pt x="155448" y="34747"/>
                  <a:pt x="153518" y="39522"/>
                  <a:pt x="149657" y="45415"/>
                </a:cubicBezTo>
                <a:cubicBezTo>
                  <a:pt x="145796" y="51308"/>
                  <a:pt x="137973" y="74777"/>
                  <a:pt x="126187" y="115824"/>
                </a:cubicBezTo>
                <a:cubicBezTo>
                  <a:pt x="165608" y="103632"/>
                  <a:pt x="189484" y="97536"/>
                  <a:pt x="197815" y="97536"/>
                </a:cubicBezTo>
                <a:cubicBezTo>
                  <a:pt x="206146" y="97536"/>
                  <a:pt x="213970" y="99161"/>
                  <a:pt x="221285" y="102413"/>
                </a:cubicBezTo>
                <a:cubicBezTo>
                  <a:pt x="228600" y="105664"/>
                  <a:pt x="232258" y="109017"/>
                  <a:pt x="232258" y="112471"/>
                </a:cubicBezTo>
                <a:cubicBezTo>
                  <a:pt x="232258" y="115925"/>
                  <a:pt x="230530" y="118770"/>
                  <a:pt x="227076" y="121005"/>
                </a:cubicBezTo>
                <a:cubicBezTo>
                  <a:pt x="223621" y="123241"/>
                  <a:pt x="212547" y="127305"/>
                  <a:pt x="193853" y="133197"/>
                </a:cubicBezTo>
                <a:cubicBezTo>
                  <a:pt x="175158" y="139090"/>
                  <a:pt x="149352" y="144678"/>
                  <a:pt x="116434" y="149961"/>
                </a:cubicBezTo>
                <a:lnTo>
                  <a:pt x="92514" y="214440"/>
                </a:lnTo>
                <a:lnTo>
                  <a:pt x="86331" y="217216"/>
                </a:lnTo>
                <a:lnTo>
                  <a:pt x="71607" y="212225"/>
                </a:lnTo>
                <a:lnTo>
                  <a:pt x="85954" y="154838"/>
                </a:lnTo>
                <a:cubicBezTo>
                  <a:pt x="66040" y="157683"/>
                  <a:pt x="50292" y="159105"/>
                  <a:pt x="38710" y="159105"/>
                </a:cubicBezTo>
                <a:cubicBezTo>
                  <a:pt x="27127" y="159105"/>
                  <a:pt x="17780" y="157277"/>
                  <a:pt x="10668" y="153619"/>
                </a:cubicBezTo>
                <a:cubicBezTo>
                  <a:pt x="3556" y="149961"/>
                  <a:pt x="0" y="146710"/>
                  <a:pt x="0" y="143865"/>
                </a:cubicBezTo>
                <a:cubicBezTo>
                  <a:pt x="0" y="141021"/>
                  <a:pt x="5283" y="138989"/>
                  <a:pt x="15850" y="137769"/>
                </a:cubicBezTo>
                <a:cubicBezTo>
                  <a:pt x="36576" y="135737"/>
                  <a:pt x="62179" y="131470"/>
                  <a:pt x="92659" y="124968"/>
                </a:cubicBezTo>
                <a:cubicBezTo>
                  <a:pt x="97536" y="95707"/>
                  <a:pt x="99974" y="72136"/>
                  <a:pt x="99974" y="54254"/>
                </a:cubicBezTo>
                <a:cubicBezTo>
                  <a:pt x="99974" y="36373"/>
                  <a:pt x="98958" y="26009"/>
                  <a:pt x="96926" y="23165"/>
                </a:cubicBezTo>
                <a:cubicBezTo>
                  <a:pt x="92050" y="17069"/>
                  <a:pt x="89611" y="11684"/>
                  <a:pt x="89611" y="7010"/>
                </a:cubicBezTo>
                <a:cubicBezTo>
                  <a:pt x="89611" y="2337"/>
                  <a:pt x="93472" y="0"/>
                  <a:pt x="10119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4800" dirty="0"/>
          </a:p>
        </p:txBody>
      </p:sp>
      <p:sp>
        <p:nvSpPr>
          <p:cNvPr id="25" name="文本框 24"/>
          <p:cNvSpPr txBox="1"/>
          <p:nvPr/>
        </p:nvSpPr>
        <p:spPr>
          <a:xfrm>
            <a:off x="2271623" y="4548637"/>
            <a:ext cx="450494" cy="345033"/>
          </a:xfrm>
          <a:custGeom>
            <a:avLst/>
            <a:gdLst>
              <a:gd name="csX0" fmla="*/ 136550 w 450494"/>
              <a:gd name="csY0" fmla="*/ 63398 h 345033"/>
              <a:gd name="csX1" fmla="*/ 160020 w 450494"/>
              <a:gd name="csY1" fmla="*/ 72542 h 345033"/>
              <a:gd name="csX2" fmla="*/ 176784 w 450494"/>
              <a:gd name="csY2" fmla="*/ 97536 h 345033"/>
              <a:gd name="csX3" fmla="*/ 172821 w 450494"/>
              <a:gd name="csY3" fmla="*/ 109728 h 345033"/>
              <a:gd name="csX4" fmla="*/ 161848 w 450494"/>
              <a:gd name="csY4" fmla="*/ 116433 h 345033"/>
              <a:gd name="csX5" fmla="*/ 142951 w 450494"/>
              <a:gd name="csY5" fmla="*/ 97231 h 345033"/>
              <a:gd name="csX6" fmla="*/ 131064 w 450494"/>
              <a:gd name="csY6" fmla="*/ 70713 h 345033"/>
              <a:gd name="csX7" fmla="*/ 136550 w 450494"/>
              <a:gd name="csY7" fmla="*/ 63398 h 345033"/>
              <a:gd name="csX8" fmla="*/ 390753 w 450494"/>
              <a:gd name="csY8" fmla="*/ 0 h 345033"/>
              <a:gd name="csX9" fmla="*/ 426110 w 450494"/>
              <a:gd name="csY9" fmla="*/ 15544 h 345033"/>
              <a:gd name="csX10" fmla="*/ 450494 w 450494"/>
              <a:gd name="csY10" fmla="*/ 40233 h 345033"/>
              <a:gd name="csX11" fmla="*/ 440740 w 450494"/>
              <a:gd name="csY11" fmla="*/ 60045 h 345033"/>
              <a:gd name="csX12" fmla="*/ 428548 w 450494"/>
              <a:gd name="csY12" fmla="*/ 145694 h 345033"/>
              <a:gd name="csX13" fmla="*/ 417576 w 450494"/>
              <a:gd name="csY13" fmla="*/ 269138 h 345033"/>
              <a:gd name="csX14" fmla="*/ 393496 w 450494"/>
              <a:gd name="csY14" fmla="*/ 324002 h 345033"/>
              <a:gd name="csX15" fmla="*/ 365455 w 450494"/>
              <a:gd name="csY15" fmla="*/ 345033 h 345033"/>
              <a:gd name="csX16" fmla="*/ 348691 w 450494"/>
              <a:gd name="csY16" fmla="*/ 326745 h 345033"/>
              <a:gd name="csX17" fmla="*/ 335280 w 450494"/>
              <a:gd name="csY17" fmla="*/ 303580 h 345033"/>
              <a:gd name="csX18" fmla="*/ 318820 w 450494"/>
              <a:gd name="csY18" fmla="*/ 282854 h 345033"/>
              <a:gd name="csX19" fmla="*/ 306019 w 450494"/>
              <a:gd name="csY19" fmla="*/ 267614 h 345033"/>
              <a:gd name="csX20" fmla="*/ 310286 w 450494"/>
              <a:gd name="csY20" fmla="*/ 263956 h 345033"/>
              <a:gd name="csX21" fmla="*/ 329184 w 450494"/>
              <a:gd name="csY21" fmla="*/ 268528 h 345033"/>
              <a:gd name="csX22" fmla="*/ 355092 w 450494"/>
              <a:gd name="csY22" fmla="*/ 273100 h 345033"/>
              <a:gd name="csX23" fmla="*/ 373989 w 450494"/>
              <a:gd name="csY23" fmla="*/ 257251 h 345033"/>
              <a:gd name="csX24" fmla="*/ 386791 w 450494"/>
              <a:gd name="csY24" fmla="*/ 203606 h 345033"/>
              <a:gd name="csX25" fmla="*/ 391972 w 450494"/>
              <a:gd name="csY25" fmla="*/ 121920 h 345033"/>
              <a:gd name="csX26" fmla="*/ 389534 w 450494"/>
              <a:gd name="csY26" fmla="*/ 60045 h 345033"/>
              <a:gd name="csX27" fmla="*/ 380390 w 450494"/>
              <a:gd name="csY27" fmla="*/ 35661 h 345033"/>
              <a:gd name="csX28" fmla="*/ 356920 w 450494"/>
              <a:gd name="csY28" fmla="*/ 29260 h 345033"/>
              <a:gd name="csX29" fmla="*/ 256032 w 450494"/>
              <a:gd name="csY29" fmla="*/ 40233 h 345033"/>
              <a:gd name="csX30" fmla="*/ 282244 w 450494"/>
              <a:gd name="csY30" fmla="*/ 60350 h 345033"/>
              <a:gd name="csX31" fmla="*/ 276148 w 450494"/>
              <a:gd name="csY31" fmla="*/ 70104 h 345033"/>
              <a:gd name="csX32" fmla="*/ 225552 w 450494"/>
              <a:gd name="csY32" fmla="*/ 120091 h 345033"/>
              <a:gd name="csX33" fmla="*/ 243230 w 450494"/>
              <a:gd name="csY33" fmla="*/ 115824 h 345033"/>
              <a:gd name="csX34" fmla="*/ 277977 w 450494"/>
              <a:gd name="csY34" fmla="*/ 109118 h 345033"/>
              <a:gd name="csX35" fmla="*/ 295046 w 450494"/>
              <a:gd name="csY35" fmla="*/ 111861 h 345033"/>
              <a:gd name="csX36" fmla="*/ 301752 w 450494"/>
              <a:gd name="csY36" fmla="*/ 119481 h 345033"/>
              <a:gd name="csX37" fmla="*/ 276758 w 450494"/>
              <a:gd name="csY37" fmla="*/ 133197 h 345033"/>
              <a:gd name="csX38" fmla="*/ 217017 w 450494"/>
              <a:gd name="csY38" fmla="*/ 141427 h 345033"/>
              <a:gd name="csX39" fmla="*/ 215188 w 450494"/>
              <a:gd name="csY39" fmla="*/ 179222 h 345033"/>
              <a:gd name="csX40" fmla="*/ 275844 w 450494"/>
              <a:gd name="csY40" fmla="*/ 170688 h 345033"/>
              <a:gd name="csX41" fmla="*/ 307543 w 450494"/>
              <a:gd name="csY41" fmla="*/ 174955 h 345033"/>
              <a:gd name="csX42" fmla="*/ 318211 w 450494"/>
              <a:gd name="csY42" fmla="*/ 187147 h 345033"/>
              <a:gd name="csX43" fmla="*/ 299923 w 450494"/>
              <a:gd name="csY43" fmla="*/ 198729 h 345033"/>
              <a:gd name="csX44" fmla="*/ 279806 w 450494"/>
              <a:gd name="csY44" fmla="*/ 198120 h 345033"/>
              <a:gd name="csX45" fmla="*/ 213969 w 450494"/>
              <a:gd name="csY45" fmla="*/ 202387 h 345033"/>
              <a:gd name="csX46" fmla="*/ 206959 w 450494"/>
              <a:gd name="csY46" fmla="*/ 283768 h 345033"/>
              <a:gd name="csX47" fmla="*/ 193852 w 450494"/>
              <a:gd name="csY47" fmla="*/ 302971 h 345033"/>
              <a:gd name="csX48" fmla="*/ 187452 w 450494"/>
              <a:gd name="csY48" fmla="*/ 299923 h 345033"/>
              <a:gd name="csX49" fmla="*/ 183794 w 450494"/>
              <a:gd name="csY49" fmla="*/ 270967 h 345033"/>
              <a:gd name="csX50" fmla="*/ 182880 w 450494"/>
              <a:gd name="csY50" fmla="*/ 208483 h 345033"/>
              <a:gd name="csX51" fmla="*/ 121615 w 450494"/>
              <a:gd name="csY51" fmla="*/ 220065 h 345033"/>
              <a:gd name="csX52" fmla="*/ 99364 w 450494"/>
              <a:gd name="csY52" fmla="*/ 215188 h 345033"/>
              <a:gd name="csX53" fmla="*/ 90220 w 450494"/>
              <a:gd name="csY53" fmla="*/ 205435 h 345033"/>
              <a:gd name="csX54" fmla="*/ 103022 w 450494"/>
              <a:gd name="csY54" fmla="*/ 199339 h 345033"/>
              <a:gd name="csX55" fmla="*/ 182880 w 450494"/>
              <a:gd name="csY55" fmla="*/ 187147 h 345033"/>
              <a:gd name="csX56" fmla="*/ 182270 w 450494"/>
              <a:gd name="csY56" fmla="*/ 148132 h 345033"/>
              <a:gd name="csX57" fmla="*/ 138988 w 450494"/>
              <a:gd name="csY57" fmla="*/ 155448 h 345033"/>
              <a:gd name="csX58" fmla="*/ 118872 w 450494"/>
              <a:gd name="csY58" fmla="*/ 151180 h 345033"/>
              <a:gd name="csX59" fmla="*/ 109728 w 450494"/>
              <a:gd name="csY59" fmla="*/ 142951 h 345033"/>
              <a:gd name="csX60" fmla="*/ 120700 w 450494"/>
              <a:gd name="csY60" fmla="*/ 137769 h 345033"/>
              <a:gd name="csX61" fmla="*/ 206654 w 450494"/>
              <a:gd name="csY61" fmla="*/ 124358 h 345033"/>
              <a:gd name="csX62" fmla="*/ 238353 w 450494"/>
              <a:gd name="csY62" fmla="*/ 50596 h 345033"/>
              <a:gd name="csX63" fmla="*/ 237134 w 450494"/>
              <a:gd name="csY63" fmla="*/ 42062 h 345033"/>
              <a:gd name="csX64" fmla="*/ 47548 w 450494"/>
              <a:gd name="csY64" fmla="*/ 70104 h 345033"/>
              <a:gd name="csX65" fmla="*/ 53644 w 450494"/>
              <a:gd name="csY65" fmla="*/ 224942 h 345033"/>
              <a:gd name="csX66" fmla="*/ 49377 w 450494"/>
              <a:gd name="csY66" fmla="*/ 275844 h 345033"/>
              <a:gd name="csX67" fmla="*/ 37185 w 450494"/>
              <a:gd name="csY67" fmla="*/ 297484 h 345033"/>
              <a:gd name="csX68" fmla="*/ 21031 w 450494"/>
              <a:gd name="csY68" fmla="*/ 281025 h 345033"/>
              <a:gd name="csX69" fmla="*/ 12801 w 450494"/>
              <a:gd name="csY69" fmla="*/ 251460 h 345033"/>
              <a:gd name="csX70" fmla="*/ 17983 w 450494"/>
              <a:gd name="csY70" fmla="*/ 221894 h 345033"/>
              <a:gd name="csX71" fmla="*/ 23164 w 450494"/>
              <a:gd name="csY71" fmla="*/ 173431 h 345033"/>
              <a:gd name="csX72" fmla="*/ 18897 w 450494"/>
              <a:gd name="csY72" fmla="*/ 108813 h 345033"/>
              <a:gd name="csX73" fmla="*/ 7315 w 450494"/>
              <a:gd name="csY73" fmla="*/ 64008 h 345033"/>
              <a:gd name="csX74" fmla="*/ 0 w 450494"/>
              <a:gd name="csY74" fmla="*/ 45110 h 345033"/>
              <a:gd name="csX75" fmla="*/ 8839 w 450494"/>
              <a:gd name="csY75" fmla="*/ 38404 h 345033"/>
              <a:gd name="csX76" fmla="*/ 41452 w 450494"/>
              <a:gd name="csY76" fmla="*/ 50596 h 345033"/>
              <a:gd name="csX77" fmla="*/ 167640 w 450494"/>
              <a:gd name="csY77" fmla="*/ 34137 h 345033"/>
              <a:gd name="csX78" fmla="*/ 171581 w 450494"/>
              <a:gd name="csY78" fmla="*/ 18372 h 345033"/>
              <a:gd name="csX79" fmla="*/ 186305 w 450494"/>
              <a:gd name="csY79" fmla="*/ 23363 h 345033"/>
              <a:gd name="csX80" fmla="*/ 192488 w 450494"/>
              <a:gd name="csY80" fmla="*/ 20587 h 345033"/>
              <a:gd name="csX81" fmla="*/ 188366 w 450494"/>
              <a:gd name="csY81" fmla="*/ 31699 h 345033"/>
              <a:gd name="csX82" fmla="*/ 365455 w 450494"/>
              <a:gd name="csY82" fmla="*/ 5181 h 345033"/>
              <a:gd name="csX83" fmla="*/ 390753 w 450494"/>
              <a:gd name="csY83" fmla="*/ 0 h 3450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450494" h="345033">
                <a:moveTo>
                  <a:pt x="136550" y="63398"/>
                </a:moveTo>
                <a:cubicBezTo>
                  <a:pt x="141020" y="63398"/>
                  <a:pt x="148844" y="66446"/>
                  <a:pt x="160020" y="72542"/>
                </a:cubicBezTo>
                <a:cubicBezTo>
                  <a:pt x="171196" y="78638"/>
                  <a:pt x="176784" y="86969"/>
                  <a:pt x="176784" y="97536"/>
                </a:cubicBezTo>
                <a:cubicBezTo>
                  <a:pt x="176784" y="101193"/>
                  <a:pt x="175463" y="105257"/>
                  <a:pt x="172821" y="109728"/>
                </a:cubicBezTo>
                <a:cubicBezTo>
                  <a:pt x="170180" y="114198"/>
                  <a:pt x="166522" y="116433"/>
                  <a:pt x="161848" y="116433"/>
                </a:cubicBezTo>
                <a:cubicBezTo>
                  <a:pt x="157175" y="116433"/>
                  <a:pt x="150876" y="110032"/>
                  <a:pt x="142951" y="97231"/>
                </a:cubicBezTo>
                <a:cubicBezTo>
                  <a:pt x="135026" y="84429"/>
                  <a:pt x="131064" y="75590"/>
                  <a:pt x="131064" y="70713"/>
                </a:cubicBezTo>
                <a:cubicBezTo>
                  <a:pt x="131064" y="65836"/>
                  <a:pt x="132892" y="63398"/>
                  <a:pt x="136550" y="63398"/>
                </a:cubicBezTo>
                <a:close/>
                <a:moveTo>
                  <a:pt x="390753" y="0"/>
                </a:moveTo>
                <a:cubicBezTo>
                  <a:pt x="398068" y="0"/>
                  <a:pt x="409854" y="5181"/>
                  <a:pt x="426110" y="15544"/>
                </a:cubicBezTo>
                <a:cubicBezTo>
                  <a:pt x="442366" y="25908"/>
                  <a:pt x="450494" y="34137"/>
                  <a:pt x="450494" y="40233"/>
                </a:cubicBezTo>
                <a:cubicBezTo>
                  <a:pt x="450494" y="46329"/>
                  <a:pt x="447243" y="52933"/>
                  <a:pt x="440740" y="60045"/>
                </a:cubicBezTo>
                <a:cubicBezTo>
                  <a:pt x="434238" y="67157"/>
                  <a:pt x="430174" y="95707"/>
                  <a:pt x="428548" y="145694"/>
                </a:cubicBezTo>
                <a:cubicBezTo>
                  <a:pt x="425704" y="205435"/>
                  <a:pt x="422046" y="246583"/>
                  <a:pt x="417576" y="269138"/>
                </a:cubicBezTo>
                <a:cubicBezTo>
                  <a:pt x="413105" y="291693"/>
                  <a:pt x="405079" y="309981"/>
                  <a:pt x="393496" y="324002"/>
                </a:cubicBezTo>
                <a:cubicBezTo>
                  <a:pt x="381914" y="338023"/>
                  <a:pt x="372567" y="345033"/>
                  <a:pt x="365455" y="345033"/>
                </a:cubicBezTo>
                <a:cubicBezTo>
                  <a:pt x="358343" y="345033"/>
                  <a:pt x="352755" y="338937"/>
                  <a:pt x="348691" y="326745"/>
                </a:cubicBezTo>
                <a:cubicBezTo>
                  <a:pt x="346659" y="321056"/>
                  <a:pt x="342188" y="313334"/>
                  <a:pt x="335280" y="303580"/>
                </a:cubicBezTo>
                <a:cubicBezTo>
                  <a:pt x="328371" y="293827"/>
                  <a:pt x="322884" y="286918"/>
                  <a:pt x="318820" y="282854"/>
                </a:cubicBezTo>
                <a:cubicBezTo>
                  <a:pt x="310286" y="275132"/>
                  <a:pt x="306019" y="270052"/>
                  <a:pt x="306019" y="267614"/>
                </a:cubicBezTo>
                <a:cubicBezTo>
                  <a:pt x="306019" y="265176"/>
                  <a:pt x="307441" y="263956"/>
                  <a:pt x="310286" y="263956"/>
                </a:cubicBezTo>
                <a:cubicBezTo>
                  <a:pt x="313131" y="263956"/>
                  <a:pt x="319430" y="265480"/>
                  <a:pt x="329184" y="268528"/>
                </a:cubicBezTo>
                <a:cubicBezTo>
                  <a:pt x="338937" y="271576"/>
                  <a:pt x="347573" y="273100"/>
                  <a:pt x="355092" y="273100"/>
                </a:cubicBezTo>
                <a:cubicBezTo>
                  <a:pt x="362610" y="273100"/>
                  <a:pt x="368909" y="267817"/>
                  <a:pt x="373989" y="257251"/>
                </a:cubicBezTo>
                <a:cubicBezTo>
                  <a:pt x="379069" y="246684"/>
                  <a:pt x="383336" y="228803"/>
                  <a:pt x="386791" y="203606"/>
                </a:cubicBezTo>
                <a:cubicBezTo>
                  <a:pt x="390245" y="178409"/>
                  <a:pt x="391972" y="151180"/>
                  <a:pt x="391972" y="121920"/>
                </a:cubicBezTo>
                <a:cubicBezTo>
                  <a:pt x="391972" y="92659"/>
                  <a:pt x="391160" y="72034"/>
                  <a:pt x="389534" y="60045"/>
                </a:cubicBezTo>
                <a:cubicBezTo>
                  <a:pt x="387908" y="48056"/>
                  <a:pt x="384860" y="39928"/>
                  <a:pt x="380390" y="35661"/>
                </a:cubicBezTo>
                <a:cubicBezTo>
                  <a:pt x="375920" y="31394"/>
                  <a:pt x="368096" y="29260"/>
                  <a:pt x="356920" y="29260"/>
                </a:cubicBezTo>
                <a:cubicBezTo>
                  <a:pt x="345744" y="29260"/>
                  <a:pt x="312115" y="32918"/>
                  <a:pt x="256032" y="40233"/>
                </a:cubicBezTo>
                <a:cubicBezTo>
                  <a:pt x="273507" y="50800"/>
                  <a:pt x="282244" y="57505"/>
                  <a:pt x="282244" y="60350"/>
                </a:cubicBezTo>
                <a:cubicBezTo>
                  <a:pt x="282244" y="63195"/>
                  <a:pt x="280212" y="66446"/>
                  <a:pt x="276148" y="70104"/>
                </a:cubicBezTo>
                <a:cubicBezTo>
                  <a:pt x="269646" y="74980"/>
                  <a:pt x="252780" y="91643"/>
                  <a:pt x="225552" y="120091"/>
                </a:cubicBezTo>
                <a:lnTo>
                  <a:pt x="243230" y="115824"/>
                </a:lnTo>
                <a:cubicBezTo>
                  <a:pt x="259486" y="111353"/>
                  <a:pt x="271068" y="109118"/>
                  <a:pt x="277977" y="109118"/>
                </a:cubicBezTo>
                <a:cubicBezTo>
                  <a:pt x="284886" y="109118"/>
                  <a:pt x="290576" y="110032"/>
                  <a:pt x="295046" y="111861"/>
                </a:cubicBezTo>
                <a:cubicBezTo>
                  <a:pt x="299516" y="113690"/>
                  <a:pt x="301752" y="116230"/>
                  <a:pt x="301752" y="119481"/>
                </a:cubicBezTo>
                <a:cubicBezTo>
                  <a:pt x="301752" y="126796"/>
                  <a:pt x="293420" y="131368"/>
                  <a:pt x="276758" y="133197"/>
                </a:cubicBezTo>
                <a:cubicBezTo>
                  <a:pt x="260096" y="135026"/>
                  <a:pt x="240182" y="137769"/>
                  <a:pt x="217017" y="141427"/>
                </a:cubicBezTo>
                <a:cubicBezTo>
                  <a:pt x="216204" y="164185"/>
                  <a:pt x="215595" y="176784"/>
                  <a:pt x="215188" y="179222"/>
                </a:cubicBezTo>
                <a:cubicBezTo>
                  <a:pt x="241604" y="173532"/>
                  <a:pt x="261823" y="170688"/>
                  <a:pt x="275844" y="170688"/>
                </a:cubicBezTo>
                <a:cubicBezTo>
                  <a:pt x="289864" y="170688"/>
                  <a:pt x="300431" y="172110"/>
                  <a:pt x="307543" y="174955"/>
                </a:cubicBezTo>
                <a:cubicBezTo>
                  <a:pt x="314655" y="177800"/>
                  <a:pt x="318211" y="181864"/>
                  <a:pt x="318211" y="187147"/>
                </a:cubicBezTo>
                <a:cubicBezTo>
                  <a:pt x="318211" y="194868"/>
                  <a:pt x="312115" y="198729"/>
                  <a:pt x="299923" y="198729"/>
                </a:cubicBezTo>
                <a:lnTo>
                  <a:pt x="279806" y="198120"/>
                </a:lnTo>
                <a:cubicBezTo>
                  <a:pt x="257860" y="198120"/>
                  <a:pt x="235915" y="199542"/>
                  <a:pt x="213969" y="202387"/>
                </a:cubicBezTo>
                <a:cubicBezTo>
                  <a:pt x="212344" y="243840"/>
                  <a:pt x="210007" y="270967"/>
                  <a:pt x="206959" y="283768"/>
                </a:cubicBezTo>
                <a:cubicBezTo>
                  <a:pt x="203911" y="296570"/>
                  <a:pt x="199542" y="302971"/>
                  <a:pt x="193852" y="302971"/>
                </a:cubicBezTo>
                <a:cubicBezTo>
                  <a:pt x="191414" y="302971"/>
                  <a:pt x="189280" y="301955"/>
                  <a:pt x="187452" y="299923"/>
                </a:cubicBezTo>
                <a:cubicBezTo>
                  <a:pt x="185623" y="297891"/>
                  <a:pt x="184404" y="288239"/>
                  <a:pt x="183794" y="270967"/>
                </a:cubicBezTo>
                <a:cubicBezTo>
                  <a:pt x="183184" y="253695"/>
                  <a:pt x="182880" y="232867"/>
                  <a:pt x="182880" y="208483"/>
                </a:cubicBezTo>
                <a:cubicBezTo>
                  <a:pt x="150774" y="216204"/>
                  <a:pt x="130352" y="220065"/>
                  <a:pt x="121615" y="220065"/>
                </a:cubicBezTo>
                <a:cubicBezTo>
                  <a:pt x="112877" y="220065"/>
                  <a:pt x="105460" y="218440"/>
                  <a:pt x="99364" y="215188"/>
                </a:cubicBezTo>
                <a:cubicBezTo>
                  <a:pt x="93268" y="211937"/>
                  <a:pt x="90220" y="208686"/>
                  <a:pt x="90220" y="205435"/>
                </a:cubicBezTo>
                <a:cubicBezTo>
                  <a:pt x="90220" y="202184"/>
                  <a:pt x="94488" y="200152"/>
                  <a:pt x="103022" y="199339"/>
                </a:cubicBezTo>
                <a:cubicBezTo>
                  <a:pt x="120904" y="198120"/>
                  <a:pt x="147523" y="194056"/>
                  <a:pt x="182880" y="187147"/>
                </a:cubicBezTo>
                <a:cubicBezTo>
                  <a:pt x="182880" y="169265"/>
                  <a:pt x="182676" y="156260"/>
                  <a:pt x="182270" y="148132"/>
                </a:cubicBezTo>
                <a:cubicBezTo>
                  <a:pt x="160731" y="153009"/>
                  <a:pt x="146304" y="155448"/>
                  <a:pt x="138988" y="155448"/>
                </a:cubicBezTo>
                <a:cubicBezTo>
                  <a:pt x="131673" y="155448"/>
                  <a:pt x="124968" y="154025"/>
                  <a:pt x="118872" y="151180"/>
                </a:cubicBezTo>
                <a:cubicBezTo>
                  <a:pt x="112776" y="148336"/>
                  <a:pt x="109728" y="145592"/>
                  <a:pt x="109728" y="142951"/>
                </a:cubicBezTo>
                <a:cubicBezTo>
                  <a:pt x="109728" y="140309"/>
                  <a:pt x="113385" y="138582"/>
                  <a:pt x="120700" y="137769"/>
                </a:cubicBezTo>
                <a:cubicBezTo>
                  <a:pt x="136956" y="136550"/>
                  <a:pt x="165608" y="132080"/>
                  <a:pt x="206654" y="124358"/>
                </a:cubicBezTo>
                <a:cubicBezTo>
                  <a:pt x="227787" y="88188"/>
                  <a:pt x="238353" y="63601"/>
                  <a:pt x="238353" y="50596"/>
                </a:cubicBezTo>
                <a:cubicBezTo>
                  <a:pt x="238353" y="47752"/>
                  <a:pt x="237947" y="44907"/>
                  <a:pt x="237134" y="42062"/>
                </a:cubicBezTo>
                <a:lnTo>
                  <a:pt x="47548" y="70104"/>
                </a:lnTo>
                <a:cubicBezTo>
                  <a:pt x="51612" y="121310"/>
                  <a:pt x="53644" y="172923"/>
                  <a:pt x="53644" y="224942"/>
                </a:cubicBezTo>
                <a:cubicBezTo>
                  <a:pt x="53644" y="244449"/>
                  <a:pt x="52222" y="261416"/>
                  <a:pt x="49377" y="275844"/>
                </a:cubicBezTo>
                <a:cubicBezTo>
                  <a:pt x="46532" y="290271"/>
                  <a:pt x="42468" y="297484"/>
                  <a:pt x="37185" y="297484"/>
                </a:cubicBezTo>
                <a:cubicBezTo>
                  <a:pt x="31902" y="297484"/>
                  <a:pt x="26517" y="291998"/>
                  <a:pt x="21031" y="281025"/>
                </a:cubicBezTo>
                <a:cubicBezTo>
                  <a:pt x="15544" y="270052"/>
                  <a:pt x="12801" y="260197"/>
                  <a:pt x="12801" y="251460"/>
                </a:cubicBezTo>
                <a:cubicBezTo>
                  <a:pt x="12801" y="242722"/>
                  <a:pt x="14528" y="232867"/>
                  <a:pt x="17983" y="221894"/>
                </a:cubicBezTo>
                <a:cubicBezTo>
                  <a:pt x="21437" y="210921"/>
                  <a:pt x="23164" y="194767"/>
                  <a:pt x="23164" y="173431"/>
                </a:cubicBezTo>
                <a:cubicBezTo>
                  <a:pt x="23164" y="152095"/>
                  <a:pt x="21742" y="130556"/>
                  <a:pt x="18897" y="108813"/>
                </a:cubicBezTo>
                <a:cubicBezTo>
                  <a:pt x="16052" y="87071"/>
                  <a:pt x="12192" y="72136"/>
                  <a:pt x="7315" y="64008"/>
                </a:cubicBezTo>
                <a:cubicBezTo>
                  <a:pt x="2438" y="55880"/>
                  <a:pt x="0" y="49580"/>
                  <a:pt x="0" y="45110"/>
                </a:cubicBezTo>
                <a:cubicBezTo>
                  <a:pt x="0" y="40640"/>
                  <a:pt x="2946" y="38404"/>
                  <a:pt x="8839" y="38404"/>
                </a:cubicBezTo>
                <a:cubicBezTo>
                  <a:pt x="14732" y="38404"/>
                  <a:pt x="25603" y="42468"/>
                  <a:pt x="41452" y="50596"/>
                </a:cubicBezTo>
                <a:cubicBezTo>
                  <a:pt x="67462" y="48158"/>
                  <a:pt x="109524" y="42672"/>
                  <a:pt x="167640" y="34137"/>
                </a:cubicBezTo>
                <a:lnTo>
                  <a:pt x="171581" y="18372"/>
                </a:lnTo>
                <a:lnTo>
                  <a:pt x="186305" y="23363"/>
                </a:lnTo>
                <a:lnTo>
                  <a:pt x="192488" y="20587"/>
                </a:lnTo>
                <a:lnTo>
                  <a:pt x="188366" y="31699"/>
                </a:lnTo>
                <a:cubicBezTo>
                  <a:pt x="296875" y="17475"/>
                  <a:pt x="355904" y="8636"/>
                  <a:pt x="365455" y="5181"/>
                </a:cubicBezTo>
                <a:cubicBezTo>
                  <a:pt x="375005" y="1727"/>
                  <a:pt x="383438" y="0"/>
                  <a:pt x="39075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4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701741" y="4040013"/>
            <a:ext cx="1035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ea"/>
              </a:rPr>
              <a:t>十？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？？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193680" y="4363120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×  </a:t>
            </a:r>
            <a:r>
              <a:rPr lang="zh-CN" altLang="en-US" sz="2000" dirty="0">
                <a:solidFill>
                  <a:srgbClr val="FF0000"/>
                </a:solidFill>
              </a:rPr>
              <a:t>有粘连</a:t>
            </a:r>
            <a:r>
              <a:rPr lang="zh-CN" altLang="en-US" sz="2000" dirty="0"/>
              <a:t>→独体复形，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nj29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233285" y="5124944"/>
            <a:ext cx="387201" cy="468687"/>
          </a:xfrm>
          <a:custGeom>
            <a:avLst/>
            <a:gdLst>
              <a:gd name="csX0" fmla="*/ 357135 w 387201"/>
              <a:gd name="csY0" fmla="*/ 69685 h 468687"/>
              <a:gd name="csX1" fmla="*/ 379052 w 387201"/>
              <a:gd name="csY1" fmla="*/ 73338 h 468687"/>
              <a:gd name="csX2" fmla="*/ 387201 w 387201"/>
              <a:gd name="csY2" fmla="*/ 82892 h 468687"/>
              <a:gd name="csX3" fmla="*/ 379052 w 387201"/>
              <a:gd name="csY3" fmla="*/ 91321 h 468687"/>
              <a:gd name="csX4" fmla="*/ 300938 w 387201"/>
              <a:gd name="csY4" fmla="*/ 107900 h 468687"/>
              <a:gd name="csX5" fmla="*/ 179832 w 387201"/>
              <a:gd name="csY5" fmla="*/ 121949 h 468687"/>
              <a:gd name="csX6" fmla="*/ 157353 w 387201"/>
              <a:gd name="csY6" fmla="*/ 121387 h 468687"/>
              <a:gd name="csX7" fmla="*/ 139370 w 387201"/>
              <a:gd name="csY7" fmla="*/ 250641 h 468687"/>
              <a:gd name="csX8" fmla="*/ 144808 w 387201"/>
              <a:gd name="csY8" fmla="*/ 250033 h 468687"/>
              <a:gd name="csX9" fmla="*/ 142836 w 387201"/>
              <a:gd name="csY9" fmla="*/ 255948 h 468687"/>
              <a:gd name="csX10" fmla="*/ 139844 w 387201"/>
              <a:gd name="csY10" fmla="*/ 263463 h 468687"/>
              <a:gd name="csX11" fmla="*/ 135998 w 387201"/>
              <a:gd name="csY11" fmla="*/ 262443 h 468687"/>
              <a:gd name="csX12" fmla="*/ 89635 w 387201"/>
              <a:gd name="csY12" fmla="*/ 377929 h 468687"/>
              <a:gd name="csX13" fmla="*/ 36810 w 387201"/>
              <a:gd name="csY13" fmla="*/ 445928 h 468687"/>
              <a:gd name="csX14" fmla="*/ 1686 w 387201"/>
              <a:gd name="csY14" fmla="*/ 468687 h 468687"/>
              <a:gd name="csX15" fmla="*/ 0 w 387201"/>
              <a:gd name="csY15" fmla="*/ 467002 h 468687"/>
              <a:gd name="csX16" fmla="*/ 10116 w 387201"/>
              <a:gd name="csY16" fmla="*/ 451828 h 468687"/>
              <a:gd name="csX17" fmla="*/ 73338 w 387201"/>
              <a:gd name="csY17" fmla="*/ 351235 h 468687"/>
              <a:gd name="csX18" fmla="*/ 111833 w 387201"/>
              <a:gd name="csY18" fmla="*/ 230972 h 468687"/>
              <a:gd name="csX19" fmla="*/ 121387 w 387201"/>
              <a:gd name="csY19" fmla="*/ 145271 h 468687"/>
              <a:gd name="csX20" fmla="*/ 118296 w 387201"/>
              <a:gd name="csY20" fmla="*/ 109867 h 468687"/>
              <a:gd name="csX21" fmla="*/ 115205 w 387201"/>
              <a:gd name="csY21" fmla="*/ 98627 h 468687"/>
              <a:gd name="csX22" fmla="*/ 121387 w 387201"/>
              <a:gd name="csY22" fmla="*/ 93850 h 468687"/>
              <a:gd name="csX23" fmla="*/ 138246 w 387201"/>
              <a:gd name="csY23" fmla="*/ 97503 h 468687"/>
              <a:gd name="csX24" fmla="*/ 154543 w 387201"/>
              <a:gd name="csY24" fmla="*/ 106776 h 468687"/>
              <a:gd name="csX25" fmla="*/ 332127 w 387201"/>
              <a:gd name="csY25" fmla="*/ 73057 h 468687"/>
              <a:gd name="csX26" fmla="*/ 357135 w 387201"/>
              <a:gd name="csY26" fmla="*/ 69685 h 468687"/>
              <a:gd name="csX27" fmla="*/ 243335 w 387201"/>
              <a:gd name="csY27" fmla="*/ 0 h 468687"/>
              <a:gd name="csX28" fmla="*/ 282674 w 387201"/>
              <a:gd name="csY28" fmla="*/ 15174 h 468687"/>
              <a:gd name="csX29" fmla="*/ 295037 w 387201"/>
              <a:gd name="csY29" fmla="*/ 43834 h 468687"/>
              <a:gd name="csX30" fmla="*/ 291103 w 387201"/>
              <a:gd name="csY30" fmla="*/ 55917 h 468687"/>
              <a:gd name="csX31" fmla="*/ 281269 w 387201"/>
              <a:gd name="csY31" fmla="*/ 60694 h 468687"/>
              <a:gd name="csX32" fmla="*/ 268624 w 387201"/>
              <a:gd name="csY32" fmla="*/ 56479 h 468687"/>
              <a:gd name="csX33" fmla="*/ 249517 w 387201"/>
              <a:gd name="csY33" fmla="*/ 42149 h 468687"/>
              <a:gd name="csX34" fmla="*/ 228162 w 387201"/>
              <a:gd name="csY34" fmla="*/ 23603 h 468687"/>
              <a:gd name="csX35" fmla="*/ 216642 w 387201"/>
              <a:gd name="csY35" fmla="*/ 12926 h 468687"/>
              <a:gd name="csX36" fmla="*/ 214675 w 387201"/>
              <a:gd name="csY36" fmla="*/ 8430 h 468687"/>
              <a:gd name="csX37" fmla="*/ 243335 w 387201"/>
              <a:gd name="csY37" fmla="*/ 0 h 468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387201" h="468687">
                <a:moveTo>
                  <a:pt x="357135" y="69685"/>
                </a:moveTo>
                <a:cubicBezTo>
                  <a:pt x="366314" y="69685"/>
                  <a:pt x="373620" y="70903"/>
                  <a:pt x="379052" y="73338"/>
                </a:cubicBezTo>
                <a:cubicBezTo>
                  <a:pt x="384485" y="75773"/>
                  <a:pt x="387201" y="78958"/>
                  <a:pt x="387201" y="82892"/>
                </a:cubicBezTo>
                <a:cubicBezTo>
                  <a:pt x="387201" y="86826"/>
                  <a:pt x="384485" y="89635"/>
                  <a:pt x="379052" y="91321"/>
                </a:cubicBezTo>
                <a:cubicBezTo>
                  <a:pt x="373620" y="93007"/>
                  <a:pt x="347582" y="98533"/>
                  <a:pt x="300938" y="107900"/>
                </a:cubicBezTo>
                <a:cubicBezTo>
                  <a:pt x="254294" y="117266"/>
                  <a:pt x="213925" y="121949"/>
                  <a:pt x="179832" y="121949"/>
                </a:cubicBezTo>
                <a:cubicBezTo>
                  <a:pt x="172339" y="121949"/>
                  <a:pt x="164846" y="121762"/>
                  <a:pt x="157353" y="121387"/>
                </a:cubicBezTo>
                <a:cubicBezTo>
                  <a:pt x="157728" y="155105"/>
                  <a:pt x="151734" y="198190"/>
                  <a:pt x="139370" y="250641"/>
                </a:cubicBezTo>
                <a:lnTo>
                  <a:pt x="144808" y="250033"/>
                </a:lnTo>
                <a:lnTo>
                  <a:pt x="142836" y="255948"/>
                </a:lnTo>
                <a:lnTo>
                  <a:pt x="139844" y="263463"/>
                </a:lnTo>
                <a:lnTo>
                  <a:pt x="135998" y="262443"/>
                </a:lnTo>
                <a:cubicBezTo>
                  <a:pt x="122136" y="309274"/>
                  <a:pt x="106682" y="347769"/>
                  <a:pt x="89635" y="377929"/>
                </a:cubicBezTo>
                <a:cubicBezTo>
                  <a:pt x="72589" y="408088"/>
                  <a:pt x="54980" y="430754"/>
                  <a:pt x="36810" y="445928"/>
                </a:cubicBezTo>
                <a:cubicBezTo>
                  <a:pt x="18639" y="461101"/>
                  <a:pt x="6931" y="468687"/>
                  <a:pt x="1686" y="468687"/>
                </a:cubicBezTo>
                <a:cubicBezTo>
                  <a:pt x="562" y="468687"/>
                  <a:pt x="0" y="468126"/>
                  <a:pt x="0" y="467002"/>
                </a:cubicBezTo>
                <a:cubicBezTo>
                  <a:pt x="0" y="464379"/>
                  <a:pt x="3372" y="459321"/>
                  <a:pt x="10116" y="451828"/>
                </a:cubicBezTo>
                <a:cubicBezTo>
                  <a:pt x="32969" y="427101"/>
                  <a:pt x="54044" y="393570"/>
                  <a:pt x="73338" y="351235"/>
                </a:cubicBezTo>
                <a:cubicBezTo>
                  <a:pt x="92632" y="308899"/>
                  <a:pt x="105464" y="268812"/>
                  <a:pt x="111833" y="230972"/>
                </a:cubicBezTo>
                <a:cubicBezTo>
                  <a:pt x="118202" y="193132"/>
                  <a:pt x="121387" y="164565"/>
                  <a:pt x="121387" y="145271"/>
                </a:cubicBezTo>
                <a:cubicBezTo>
                  <a:pt x="121387" y="125976"/>
                  <a:pt x="120357" y="114175"/>
                  <a:pt x="118296" y="109867"/>
                </a:cubicBezTo>
                <a:cubicBezTo>
                  <a:pt x="116235" y="105558"/>
                  <a:pt x="115205" y="101812"/>
                  <a:pt x="115205" y="98627"/>
                </a:cubicBezTo>
                <a:cubicBezTo>
                  <a:pt x="115205" y="95442"/>
                  <a:pt x="117266" y="93850"/>
                  <a:pt x="121387" y="93850"/>
                </a:cubicBezTo>
                <a:cubicBezTo>
                  <a:pt x="125508" y="93850"/>
                  <a:pt x="131128" y="95068"/>
                  <a:pt x="138246" y="97503"/>
                </a:cubicBezTo>
                <a:cubicBezTo>
                  <a:pt x="145364" y="99938"/>
                  <a:pt x="150797" y="103029"/>
                  <a:pt x="154543" y="106776"/>
                </a:cubicBezTo>
                <a:cubicBezTo>
                  <a:pt x="203997" y="103404"/>
                  <a:pt x="263192" y="92164"/>
                  <a:pt x="332127" y="73057"/>
                </a:cubicBezTo>
                <a:cubicBezTo>
                  <a:pt x="339620" y="70809"/>
                  <a:pt x="347956" y="69685"/>
                  <a:pt x="357135" y="69685"/>
                </a:cubicBezTo>
                <a:close/>
                <a:moveTo>
                  <a:pt x="243335" y="0"/>
                </a:moveTo>
                <a:cubicBezTo>
                  <a:pt x="261319" y="0"/>
                  <a:pt x="274431" y="5058"/>
                  <a:pt x="282674" y="15174"/>
                </a:cubicBezTo>
                <a:cubicBezTo>
                  <a:pt x="290916" y="25289"/>
                  <a:pt x="295037" y="34843"/>
                  <a:pt x="295037" y="43834"/>
                </a:cubicBezTo>
                <a:cubicBezTo>
                  <a:pt x="295037" y="48705"/>
                  <a:pt x="293726" y="52732"/>
                  <a:pt x="291103" y="55917"/>
                </a:cubicBezTo>
                <a:cubicBezTo>
                  <a:pt x="288481" y="59101"/>
                  <a:pt x="285203" y="60694"/>
                  <a:pt x="281269" y="60694"/>
                </a:cubicBezTo>
                <a:cubicBezTo>
                  <a:pt x="277335" y="60694"/>
                  <a:pt x="273120" y="59289"/>
                  <a:pt x="268624" y="56479"/>
                </a:cubicBezTo>
                <a:cubicBezTo>
                  <a:pt x="264128" y="53669"/>
                  <a:pt x="257759" y="48892"/>
                  <a:pt x="249517" y="42149"/>
                </a:cubicBezTo>
                <a:lnTo>
                  <a:pt x="228162" y="23603"/>
                </a:lnTo>
                <a:cubicBezTo>
                  <a:pt x="221793" y="17984"/>
                  <a:pt x="217953" y="14424"/>
                  <a:pt x="216642" y="12926"/>
                </a:cubicBezTo>
                <a:cubicBezTo>
                  <a:pt x="215330" y="11427"/>
                  <a:pt x="214675" y="9929"/>
                  <a:pt x="214675" y="8430"/>
                </a:cubicBezTo>
                <a:cubicBezTo>
                  <a:pt x="214675" y="2810"/>
                  <a:pt x="224228" y="0"/>
                  <a:pt x="24333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4400" dirty="0"/>
          </a:p>
        </p:txBody>
      </p:sp>
      <p:sp>
        <p:nvSpPr>
          <p:cNvPr id="32" name="文本框 31"/>
          <p:cNvSpPr txBox="1"/>
          <p:nvPr/>
        </p:nvSpPr>
        <p:spPr>
          <a:xfrm>
            <a:off x="2327697" y="5249141"/>
            <a:ext cx="402936" cy="350110"/>
          </a:xfrm>
          <a:custGeom>
            <a:avLst/>
            <a:gdLst/>
            <a:ahLst/>
            <a:cxnLst/>
            <a:rect l="l" t="t" r="r" b="b"/>
            <a:pathLst>
              <a:path w="402936" h="350110">
                <a:moveTo>
                  <a:pt x="148642" y="0"/>
                </a:moveTo>
                <a:cubicBezTo>
                  <a:pt x="155948" y="0"/>
                  <a:pt x="163816" y="1592"/>
                  <a:pt x="172245" y="4777"/>
                </a:cubicBezTo>
                <a:cubicBezTo>
                  <a:pt x="180675" y="7961"/>
                  <a:pt x="184890" y="12363"/>
                  <a:pt x="184890" y="17983"/>
                </a:cubicBezTo>
                <a:cubicBezTo>
                  <a:pt x="184890" y="19107"/>
                  <a:pt x="184702" y="20231"/>
                  <a:pt x="184328" y="21355"/>
                </a:cubicBezTo>
                <a:cubicBezTo>
                  <a:pt x="182080" y="28473"/>
                  <a:pt x="180394" y="38589"/>
                  <a:pt x="179270" y="51702"/>
                </a:cubicBezTo>
                <a:cubicBezTo>
                  <a:pt x="213363" y="44958"/>
                  <a:pt x="236217" y="37652"/>
                  <a:pt x="247831" y="29785"/>
                </a:cubicBezTo>
                <a:cubicBezTo>
                  <a:pt x="252327" y="27162"/>
                  <a:pt x="256448" y="25851"/>
                  <a:pt x="260194" y="25851"/>
                </a:cubicBezTo>
                <a:cubicBezTo>
                  <a:pt x="263941" y="25851"/>
                  <a:pt x="272090" y="28286"/>
                  <a:pt x="284640" y="33156"/>
                </a:cubicBezTo>
                <a:cubicBezTo>
                  <a:pt x="297191" y="38027"/>
                  <a:pt x="303467" y="42616"/>
                  <a:pt x="303467" y="46925"/>
                </a:cubicBezTo>
                <a:cubicBezTo>
                  <a:pt x="303467" y="51233"/>
                  <a:pt x="301031" y="55916"/>
                  <a:pt x="296161" y="60974"/>
                </a:cubicBezTo>
                <a:cubicBezTo>
                  <a:pt x="291290" y="66032"/>
                  <a:pt x="286795" y="74930"/>
                  <a:pt x="282673" y="87668"/>
                </a:cubicBezTo>
                <a:cubicBezTo>
                  <a:pt x="291290" y="84671"/>
                  <a:pt x="302436" y="81861"/>
                  <a:pt x="316111" y="79238"/>
                </a:cubicBezTo>
                <a:cubicBezTo>
                  <a:pt x="329786" y="76616"/>
                  <a:pt x="340276" y="75305"/>
                  <a:pt x="347582" y="75305"/>
                </a:cubicBezTo>
                <a:cubicBezTo>
                  <a:pt x="354887" y="75305"/>
                  <a:pt x="361725" y="78021"/>
                  <a:pt x="368094" y="83453"/>
                </a:cubicBezTo>
                <a:cubicBezTo>
                  <a:pt x="374463" y="88886"/>
                  <a:pt x="377647" y="93288"/>
                  <a:pt x="377647" y="96660"/>
                </a:cubicBezTo>
                <a:cubicBezTo>
                  <a:pt x="377647" y="100031"/>
                  <a:pt x="376336" y="102560"/>
                  <a:pt x="373713" y="104246"/>
                </a:cubicBezTo>
                <a:cubicBezTo>
                  <a:pt x="371091" y="105932"/>
                  <a:pt x="366970" y="106681"/>
                  <a:pt x="361350" y="106494"/>
                </a:cubicBezTo>
                <a:cubicBezTo>
                  <a:pt x="355730" y="106307"/>
                  <a:pt x="345521" y="106213"/>
                  <a:pt x="330722" y="106213"/>
                </a:cubicBezTo>
                <a:cubicBezTo>
                  <a:pt x="315924" y="106213"/>
                  <a:pt x="297472" y="107337"/>
                  <a:pt x="275368" y="109585"/>
                </a:cubicBezTo>
                <a:cubicBezTo>
                  <a:pt x="274244" y="112957"/>
                  <a:pt x="272183" y="119888"/>
                  <a:pt x="269186" y="130378"/>
                </a:cubicBezTo>
                <a:cubicBezTo>
                  <a:pt x="266189" y="140868"/>
                  <a:pt x="264690" y="146488"/>
                  <a:pt x="264690" y="147237"/>
                </a:cubicBezTo>
                <a:cubicBezTo>
                  <a:pt x="264690" y="152108"/>
                  <a:pt x="268437" y="156416"/>
                  <a:pt x="275930" y="160163"/>
                </a:cubicBezTo>
                <a:cubicBezTo>
                  <a:pt x="278927" y="162036"/>
                  <a:pt x="280426" y="164284"/>
                  <a:pt x="280426" y="166906"/>
                </a:cubicBezTo>
                <a:cubicBezTo>
                  <a:pt x="280426" y="171777"/>
                  <a:pt x="277054" y="174399"/>
                  <a:pt x="270310" y="174774"/>
                </a:cubicBezTo>
                <a:cubicBezTo>
                  <a:pt x="231346" y="175523"/>
                  <a:pt x="197066" y="178521"/>
                  <a:pt x="167469" y="183766"/>
                </a:cubicBezTo>
                <a:cubicBezTo>
                  <a:pt x="167094" y="187138"/>
                  <a:pt x="166532" y="189760"/>
                  <a:pt x="165783" y="191633"/>
                </a:cubicBezTo>
                <a:cubicBezTo>
                  <a:pt x="192383" y="221231"/>
                  <a:pt x="216829" y="244927"/>
                  <a:pt x="239120" y="262723"/>
                </a:cubicBezTo>
                <a:cubicBezTo>
                  <a:pt x="261412" y="280519"/>
                  <a:pt x="283516" y="294287"/>
                  <a:pt x="305433" y="304028"/>
                </a:cubicBezTo>
                <a:cubicBezTo>
                  <a:pt x="327350" y="313769"/>
                  <a:pt x="356480" y="323510"/>
                  <a:pt x="392821" y="333251"/>
                </a:cubicBezTo>
                <a:cubicBezTo>
                  <a:pt x="399564" y="335124"/>
                  <a:pt x="402936" y="337372"/>
                  <a:pt x="402936" y="339995"/>
                </a:cubicBezTo>
                <a:cubicBezTo>
                  <a:pt x="402936" y="341493"/>
                  <a:pt x="401437" y="342898"/>
                  <a:pt x="398440" y="344210"/>
                </a:cubicBezTo>
                <a:cubicBezTo>
                  <a:pt x="395443" y="345521"/>
                  <a:pt x="385140" y="346832"/>
                  <a:pt x="367532" y="348143"/>
                </a:cubicBezTo>
                <a:cubicBezTo>
                  <a:pt x="349923" y="349455"/>
                  <a:pt x="335312" y="350110"/>
                  <a:pt x="323698" y="350110"/>
                </a:cubicBezTo>
                <a:cubicBezTo>
                  <a:pt x="295224" y="350110"/>
                  <a:pt x="276492" y="346364"/>
                  <a:pt x="267500" y="338871"/>
                </a:cubicBezTo>
                <a:cubicBezTo>
                  <a:pt x="258509" y="331378"/>
                  <a:pt x="223104" y="288855"/>
                  <a:pt x="161287" y="211302"/>
                </a:cubicBezTo>
                <a:cubicBezTo>
                  <a:pt x="152670" y="245770"/>
                  <a:pt x="140681" y="272651"/>
                  <a:pt x="125320" y="291946"/>
                </a:cubicBezTo>
                <a:cubicBezTo>
                  <a:pt x="109960" y="311240"/>
                  <a:pt x="89167" y="324447"/>
                  <a:pt x="62941" y="331565"/>
                </a:cubicBezTo>
                <a:cubicBezTo>
                  <a:pt x="36716" y="338683"/>
                  <a:pt x="18171" y="342243"/>
                  <a:pt x="7306" y="342243"/>
                </a:cubicBezTo>
                <a:cubicBezTo>
                  <a:pt x="2435" y="342243"/>
                  <a:pt x="0" y="340931"/>
                  <a:pt x="0" y="338309"/>
                </a:cubicBezTo>
                <a:cubicBezTo>
                  <a:pt x="0" y="334937"/>
                  <a:pt x="4309" y="331752"/>
                  <a:pt x="12925" y="328755"/>
                </a:cubicBezTo>
                <a:cubicBezTo>
                  <a:pt x="87481" y="303654"/>
                  <a:pt x="130566" y="257572"/>
                  <a:pt x="142180" y="190509"/>
                </a:cubicBezTo>
                <a:cubicBezTo>
                  <a:pt x="110709" y="198752"/>
                  <a:pt x="90853" y="202873"/>
                  <a:pt x="82610" y="202873"/>
                </a:cubicBezTo>
                <a:cubicBezTo>
                  <a:pt x="74368" y="202873"/>
                  <a:pt x="67437" y="201468"/>
                  <a:pt x="61817" y="198658"/>
                </a:cubicBezTo>
                <a:cubicBezTo>
                  <a:pt x="56198" y="195848"/>
                  <a:pt x="53388" y="192945"/>
                  <a:pt x="53388" y="189947"/>
                </a:cubicBezTo>
                <a:cubicBezTo>
                  <a:pt x="53388" y="186950"/>
                  <a:pt x="57134" y="185171"/>
                  <a:pt x="64627" y="184609"/>
                </a:cubicBezTo>
                <a:cubicBezTo>
                  <a:pt x="72120" y="184047"/>
                  <a:pt x="98720" y="180206"/>
                  <a:pt x="144428" y="173088"/>
                </a:cubicBezTo>
                <a:lnTo>
                  <a:pt x="147799" y="127568"/>
                </a:lnTo>
                <a:cubicBezTo>
                  <a:pt x="118577" y="133937"/>
                  <a:pt x="98814" y="138527"/>
                  <a:pt x="88511" y="141337"/>
                </a:cubicBezTo>
                <a:cubicBezTo>
                  <a:pt x="78208" y="144146"/>
                  <a:pt x="71746" y="145551"/>
                  <a:pt x="69123" y="145551"/>
                </a:cubicBezTo>
                <a:lnTo>
                  <a:pt x="45432" y="139266"/>
                </a:lnTo>
                <a:lnTo>
                  <a:pt x="48424" y="131751"/>
                </a:lnTo>
                <a:lnTo>
                  <a:pt x="50396" y="125836"/>
                </a:lnTo>
                <a:lnTo>
                  <a:pt x="83875" y="122089"/>
                </a:lnTo>
                <a:cubicBezTo>
                  <a:pt x="101202" y="119747"/>
                  <a:pt x="122885" y="116516"/>
                  <a:pt x="148923" y="112395"/>
                </a:cubicBezTo>
                <a:cubicBezTo>
                  <a:pt x="150047" y="95910"/>
                  <a:pt x="150609" y="83547"/>
                  <a:pt x="150609" y="75305"/>
                </a:cubicBezTo>
                <a:lnTo>
                  <a:pt x="119139" y="82610"/>
                </a:lnTo>
                <a:cubicBezTo>
                  <a:pt x="115392" y="84109"/>
                  <a:pt x="110147" y="84858"/>
                  <a:pt x="103403" y="84858"/>
                </a:cubicBezTo>
                <a:cubicBezTo>
                  <a:pt x="96660" y="84858"/>
                  <a:pt x="90946" y="83079"/>
                  <a:pt x="86263" y="79519"/>
                </a:cubicBezTo>
                <a:cubicBezTo>
                  <a:pt x="81580" y="75960"/>
                  <a:pt x="79239" y="72776"/>
                  <a:pt x="79239" y="69966"/>
                </a:cubicBezTo>
                <a:cubicBezTo>
                  <a:pt x="79239" y="67156"/>
                  <a:pt x="82048" y="65751"/>
                  <a:pt x="87668" y="65751"/>
                </a:cubicBezTo>
                <a:cubicBezTo>
                  <a:pt x="109773" y="64252"/>
                  <a:pt x="130566" y="61630"/>
                  <a:pt x="150047" y="57883"/>
                </a:cubicBezTo>
                <a:cubicBezTo>
                  <a:pt x="149298" y="37652"/>
                  <a:pt x="146863" y="24539"/>
                  <a:pt x="142742" y="18545"/>
                </a:cubicBezTo>
                <a:cubicBezTo>
                  <a:pt x="139370" y="13300"/>
                  <a:pt x="137684" y="8898"/>
                  <a:pt x="137684" y="5339"/>
                </a:cubicBezTo>
                <a:cubicBezTo>
                  <a:pt x="137684" y="1779"/>
                  <a:pt x="141337" y="0"/>
                  <a:pt x="148642" y="0"/>
                </a:cubicBezTo>
                <a:close/>
                <a:moveTo>
                  <a:pt x="237715" y="56759"/>
                </a:moveTo>
                <a:cubicBezTo>
                  <a:pt x="233594" y="56759"/>
                  <a:pt x="213363" y="60506"/>
                  <a:pt x="177022" y="67999"/>
                </a:cubicBezTo>
                <a:cubicBezTo>
                  <a:pt x="176273" y="76616"/>
                  <a:pt x="175524" y="89916"/>
                  <a:pt x="174774" y="107899"/>
                </a:cubicBezTo>
                <a:cubicBezTo>
                  <a:pt x="217484" y="99657"/>
                  <a:pt x="242399" y="94974"/>
                  <a:pt x="249517" y="93850"/>
                </a:cubicBezTo>
                <a:cubicBezTo>
                  <a:pt x="250641" y="86731"/>
                  <a:pt x="251203" y="78770"/>
                  <a:pt x="251203" y="69966"/>
                </a:cubicBezTo>
                <a:cubicBezTo>
                  <a:pt x="251203" y="61161"/>
                  <a:pt x="246707" y="56759"/>
                  <a:pt x="237715" y="56759"/>
                </a:cubicBezTo>
                <a:close/>
                <a:moveTo>
                  <a:pt x="246145" y="112395"/>
                </a:moveTo>
                <a:cubicBezTo>
                  <a:pt x="207181" y="118015"/>
                  <a:pt x="183017" y="121574"/>
                  <a:pt x="173650" y="123072"/>
                </a:cubicBezTo>
                <a:cubicBezTo>
                  <a:pt x="172152" y="143303"/>
                  <a:pt x="170840" y="158289"/>
                  <a:pt x="169716" y="168030"/>
                </a:cubicBezTo>
                <a:cubicBezTo>
                  <a:pt x="196691" y="162785"/>
                  <a:pt x="212989" y="159975"/>
                  <a:pt x="218608" y="159601"/>
                </a:cubicBezTo>
                <a:cubicBezTo>
                  <a:pt x="229848" y="158102"/>
                  <a:pt x="236217" y="155105"/>
                  <a:pt x="237715" y="150609"/>
                </a:cubicBezTo>
                <a:cubicBezTo>
                  <a:pt x="239214" y="146113"/>
                  <a:pt x="242024" y="133375"/>
                  <a:pt x="246145" y="11239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4400" dirty="0"/>
          </a:p>
        </p:txBody>
      </p:sp>
      <p:sp>
        <p:nvSpPr>
          <p:cNvPr id="39" name="文本框 38"/>
          <p:cNvSpPr txBox="1"/>
          <p:nvPr/>
        </p:nvSpPr>
        <p:spPr>
          <a:xfrm>
            <a:off x="1675868" y="4879809"/>
            <a:ext cx="7008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广</a:t>
            </a:r>
            <a:r>
              <a:rPr lang="en-US" altLang="zh-CN" dirty="0">
                <a:latin typeface="+mn-ea"/>
              </a:rPr>
              <a:t>?</a:t>
            </a:r>
          </a:p>
          <a:p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      ??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2934118" y="5162586"/>
            <a:ext cx="3374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√ </a:t>
            </a:r>
            <a:r>
              <a:rPr lang="zh-CN" altLang="en-US" sz="2000" dirty="0">
                <a:solidFill>
                  <a:srgbClr val="FF0000"/>
                </a:solidFill>
              </a:rPr>
              <a:t>独立明显</a:t>
            </a:r>
            <a:r>
              <a:rPr lang="zh-CN" altLang="en-US" sz="2000" dirty="0"/>
              <a:t>→部首 广，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gg1g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85185E-6 L -0.00026 -0.0416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1.48148E-6 L -0.01953 -0.02616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" y="-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  <p:bldP spid="24" grpId="0" animBg="1"/>
      <p:bldP spid="24" grpId="1" animBg="1"/>
      <p:bldP spid="25" grpId="0" animBg="1"/>
      <p:bldP spid="26" grpId="0"/>
      <p:bldP spid="27" grpId="0"/>
      <p:bldP spid="38" grpId="0" animBg="1"/>
      <p:bldP spid="38" grpId="1" animBg="1"/>
      <p:bldP spid="32" grpId="0" animBg="1"/>
      <p:bldP spid="39" grpId="0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32367" y="1467292"/>
            <a:ext cx="10574079" cy="51361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 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合体字的部首选取规则</a:t>
            </a:r>
          </a:p>
          <a:p>
            <a:pPr marL="0" indent="0">
              <a:buNone/>
            </a:pPr>
            <a:r>
              <a:rPr lang="zh-CN" altLang="zh-CN" dirty="0"/>
              <a:t>合体字的</a:t>
            </a:r>
            <a:r>
              <a:rPr lang="zh-CN" altLang="en-US" dirty="0"/>
              <a:t>主</a:t>
            </a:r>
            <a:r>
              <a:rPr lang="zh-CN" altLang="zh-CN" dirty="0"/>
              <a:t>码为其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部首</a:t>
            </a:r>
            <a:r>
              <a:rPr lang="zh-CN" altLang="zh-CN" dirty="0"/>
              <a:t>对应的字母</a:t>
            </a:r>
            <a:r>
              <a:rPr lang="zh-CN" altLang="en-US" dirty="0"/>
              <a:t>（部首码）</a:t>
            </a:r>
            <a:r>
              <a:rPr lang="zh-CN" altLang="zh-CN" dirty="0"/>
              <a:t>，部首的选取遵循以下规则：（康熙部首</a:t>
            </a:r>
            <a:r>
              <a:rPr lang="en-US" altLang="zh-CN" dirty="0"/>
              <a:t>+</a:t>
            </a:r>
            <a:r>
              <a:rPr lang="zh-CN" altLang="zh-CN" dirty="0"/>
              <a:t>优化分配）</a:t>
            </a:r>
          </a:p>
          <a:p>
            <a:pPr marL="0" indent="0"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3.1 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基本原则</a:t>
            </a:r>
          </a:p>
          <a:p>
            <a:pPr marL="0" lvl="0" indent="0">
              <a:buNone/>
            </a:pPr>
            <a:r>
              <a:rPr lang="zh-CN" altLang="zh-CN" b="1" dirty="0"/>
              <a:t>直觉优先：</a:t>
            </a:r>
            <a:r>
              <a:rPr lang="zh-CN" altLang="zh-CN" dirty="0"/>
              <a:t>按直觉如果能拆出一个明确无歧义的部首，则直接取该部首。</a:t>
            </a:r>
          </a:p>
          <a:p>
            <a:pPr marL="0" lvl="0" indent="0">
              <a:buNone/>
            </a:pPr>
            <a:r>
              <a:rPr lang="zh-CN" altLang="zh-CN" b="1" dirty="0"/>
              <a:t>康熙部首验证</a:t>
            </a:r>
            <a:r>
              <a:rPr lang="zh-CN" altLang="zh-CN" dirty="0"/>
              <a:t>：如果按直觉拆出多个部首，或按直觉难以确定部首，则根据《康熙字典》所规定的部首确定。另，根据常识，部首优先为形旁。</a:t>
            </a:r>
          </a:p>
          <a:p>
            <a:pPr marL="0" lvl="0" indent="0">
              <a:buNone/>
            </a:pPr>
            <a:r>
              <a:rPr lang="zh-CN" altLang="zh-CN" b="1" dirty="0"/>
              <a:t>优化分配</a:t>
            </a:r>
            <a:r>
              <a:rPr lang="zh-CN" altLang="zh-CN" dirty="0"/>
              <a:t>：若康熙部首存在疏漏或者在现代字形中难以辨认；或者出于避重、历史编码因素考虑，需要进行部首的优化分配（</a:t>
            </a:r>
            <a:r>
              <a:rPr lang="en-US" altLang="zh-CN" dirty="0"/>
              <a:t>3.4</a:t>
            </a:r>
            <a:r>
              <a:rPr lang="zh-CN" altLang="zh-CN" dirty="0"/>
              <a:t>）。</a:t>
            </a:r>
          </a:p>
          <a:p>
            <a:pPr marL="0" lvl="0" indent="0">
              <a:buNone/>
            </a:pPr>
            <a:r>
              <a:rPr lang="zh-CN" altLang="zh-CN" b="1" dirty="0"/>
              <a:t>部首表对应</a:t>
            </a:r>
            <a:r>
              <a:rPr lang="zh-CN" altLang="zh-CN" dirty="0"/>
              <a:t>：大多数部首已在部首表中给出，直接对应其部首码（见部首表），一些部首需要进行特殊部首处理（</a:t>
            </a:r>
            <a:r>
              <a:rPr lang="en-US" altLang="zh-CN" dirty="0"/>
              <a:t>3.3</a:t>
            </a:r>
            <a:r>
              <a:rPr lang="zh-CN" altLang="zh-CN" dirty="0"/>
              <a:t>）。</a:t>
            </a:r>
          </a:p>
          <a:p>
            <a:endParaRPr lang="zh-CN" altLang="en-US" dirty="0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387548" y="724343"/>
            <a:ext cx="9601200" cy="1485900"/>
          </a:xfrm>
        </p:spPr>
        <p:txBody>
          <a:bodyPr/>
          <a:lstStyle/>
          <a:p>
            <a:r>
              <a:rPr lang="zh-CN" altLang="en-US" b="1" dirty="0"/>
              <a:t>三、主码编码规则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7441" y="1350335"/>
            <a:ext cx="7219507" cy="5507665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3.2 </a:t>
            </a:r>
            <a:r>
              <a:rPr lang="zh-CN" altLang="zh-CN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部</a:t>
            </a:r>
            <a:r>
              <a:rPr lang="zh-CN" altLang="en-US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首</a:t>
            </a:r>
            <a:r>
              <a:rPr lang="zh-CN" altLang="zh-CN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&amp;</a:t>
            </a:r>
            <a:r>
              <a:rPr lang="zh-CN" altLang="en-US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部首次</a:t>
            </a:r>
            <a:r>
              <a:rPr lang="zh-CN" altLang="zh-CN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表（红色</a:t>
            </a:r>
            <a:r>
              <a:rPr lang="zh-CN" altLang="en-US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为别码部首，</a:t>
            </a:r>
            <a:r>
              <a:rPr lang="zh-CN" altLang="zh-CN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需格外记忆）</a:t>
            </a: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：丶一丨丿乙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乛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SimSun-ExtB" panose="02010609060101010101" pitchFamily="49" charset="-122"/>
              </a:rPr>
              <a:t>𠃌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SimSun-ExtB" panose="02010609060101010101" pitchFamily="49" charset="-122"/>
              </a:rPr>
              <a:t>𡿨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b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宀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阝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冫贝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疒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白卜八匕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癶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车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艹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厂凵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寸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卄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屮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      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：刀歹大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亠冖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丷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斗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豆</a:t>
            </a: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无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                     f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：风方父缶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臼辰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：工古广弓光囗革戈瓜艮谷骨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：火户禾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⺌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羊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虍黑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：虫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页雨弋彐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彑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臣赤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  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：金巾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廴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冂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几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SimSun-ExtB" panose="02010609060101010101" pitchFamily="49" charset="-122"/>
              </a:rPr>
              <a:t>𠘨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卩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己见斤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㫐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祭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：口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又舌用角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l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：娄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云勹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力龙老卤里</a:t>
            </a: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：木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彡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釆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马门皿毛目矛米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麦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n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：女牛鸟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耒齿</a:t>
            </a:r>
            <a:r>
              <a:rPr lang="en-US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：耳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二儿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㔾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p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攴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片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殳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丬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皮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髟㐅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ja-JP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：气犬</a:t>
            </a:r>
            <a:r>
              <a:rPr lang="ja-JP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豸</a:t>
            </a:r>
            <a:r>
              <a:rPr lang="ja-JP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欠青其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r</a:t>
            </a:r>
            <a:r>
              <a:rPr lang="ja-JP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：人肉入日</a:t>
            </a:r>
            <a:r>
              <a:rPr lang="ja-JP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リ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示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丝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石尸十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厶巳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t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：土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彳幺夕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田</a:t>
            </a: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攵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水矢手食山士豕身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v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乑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争舟止爪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鬼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支</a:t>
            </a: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：王网瓦韦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隹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文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x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：穴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SimSun-ExtG" panose="02010609060101010101" pitchFamily="49" charset="-122"/>
              </a:rPr>
              <a:t>𰃮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心西小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巛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血辛</a:t>
            </a: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：言酉月鱼衣尢聿业羽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黾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音夗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辶竹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足子自走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标题 1"/>
          <p:cNvSpPr txBox="1"/>
          <p:nvPr/>
        </p:nvSpPr>
        <p:spPr>
          <a:xfrm>
            <a:off x="1387548" y="724343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三、主码编码规则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783033" y="1671834"/>
            <a:ext cx="4408967" cy="4844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dhupygkwv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b: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ku;zglsaio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ekhypgi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d: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klahpmbu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e:                f: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ghubqi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sudvmoexwfbr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h: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ouedylz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seuxohftp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j: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rnztifswmpdx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byusj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l: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bypiskut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usbafnkoyil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n: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yqcli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rbhpe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p: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umyjibn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q: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irvm;b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r: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fbuil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uikpjmw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t: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uiyxm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wvibrjhnf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v: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sgbiwmk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hxazvf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x: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tdnicpms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jbtuihlexknr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z: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vruipb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三、主码编码规则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90157" y="1266470"/>
            <a:ext cx="1098742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3.3 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特殊部首处理</a:t>
            </a: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部分部首因字形变化或使用频率低，需进行如下调整：</a:t>
            </a:r>
          </a:p>
          <a:p>
            <a:pPr indent="267970" algn="just"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变体统一：</a:t>
            </a:r>
            <a:endParaRPr lang="zh-CN" altLang="zh-CN" sz="20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亅→丨，夊夂→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攵，廾→卄，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⺈→刀，冃</a:t>
            </a:r>
            <a:r>
              <a:rPr lang="zh-CN" altLang="zh-CN" sz="2000" kern="100" dirty="0">
                <a:effectLst/>
                <a:latin typeface="Segoe UI Emoji" panose="020B0502040204020203" pitchFamily="34" charset="0"/>
                <a:ea typeface="宋体" panose="02010600030101010101" pitchFamily="2" charset="-122"/>
                <a:cs typeface="Segoe UI Emoji" panose="020B0502040204020203" pitchFamily="34" charset="0"/>
              </a:rPr>
              <a:t>→日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疋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SimSun-ExtB" panose="02010609060101010101" pitchFamily="49" charset="-122"/>
                <a:cs typeface="SimSun-ExtB" panose="02010609060101010101" pitchFamily="49" charset="-122"/>
              </a:rPr>
              <a:t>𤴔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龰→止，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匸→匚，襾→西，龶→青，耂→老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    →祭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buNone/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en-US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非部首字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代替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（未收录的成字部首，用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其他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的部首代替）：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夫→矢，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正→止，长長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镸→髟，玉→王，曰→日，申→田，干→十，无→二，牙→寸，甘→革，生→青，隶→聿，面→囗，韭→耒，飞→疒，鬥→门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，习→冫，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卵→</a:t>
            </a:r>
            <a:r>
              <a:rPr lang="zh-CN" altLang="zh-CN" sz="2000" kern="100" dirty="0">
                <a:solidFill>
                  <a:srgbClr val="00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㔾</a:t>
            </a:r>
            <a:r>
              <a:rPr lang="zh-CN" altLang="en-US" sz="2000" kern="100" dirty="0">
                <a:solidFill>
                  <a:srgbClr val="00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，尺→尸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部首简并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（部首本身包含其他部首，进行简化合并）：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立→亠，鼠→臼，舛→夕，㫃→方，卧→臣，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SimSun-ExtB" panose="02010609060101010101" pitchFamily="49" charset="-122"/>
                <a:cs typeface="SimSun-ExtB" panose="02010609060101010101" pitchFamily="49" charset="-122"/>
              </a:rPr>
              <a:t>𮂱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→禾，行→彳，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SimSun-ExtB" panose="02010609060101010101" pitchFamily="49" charset="-122"/>
                <a:cs typeface="SimSun-ExtB" panose="02010609060101010101" pitchFamily="49" charset="-122"/>
              </a:rPr>
              <a:t>𪧇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→宀，亼→人，龠→人，鼻→自，齐（齊）→文，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林→木，舍→人，多→夕，男→田，死→歹，比→匕，爻→㐅，玄→亠，禸→冂，至→土，色→刀，首→丷，香→禾，高→亠，鬯→匕，鬲→口，鹿→广，麻→广，黄黃→八，黍→禾，黹→业，鼎→目，鼓→支，龟→刀，厄→厂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en-US" altLang="zh-CN" sz="2000" kern="100" dirty="0">
              <a:solidFill>
                <a:srgbClr val="000000"/>
              </a:solidFill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en-US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罕部跳过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（以下部首过于罕见，不采用，转而选取其他部件）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毋（母），氏，而，非。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>
            <a:off x="1833353" y="2609391"/>
            <a:ext cx="235844" cy="157721"/>
          </a:xfrm>
          <a:custGeom>
            <a:avLst/>
            <a:gdLst>
              <a:gd name="csX0" fmla="*/ 144426 w 235844"/>
              <a:gd name="csY0" fmla="*/ 33151 h 157721"/>
              <a:gd name="csX1" fmla="*/ 166527 w 235844"/>
              <a:gd name="csY1" fmla="*/ 75343 h 157721"/>
              <a:gd name="csX2" fmla="*/ 194656 w 235844"/>
              <a:gd name="csY2" fmla="*/ 33151 h 157721"/>
              <a:gd name="csX3" fmla="*/ 132371 w 235844"/>
              <a:gd name="csY3" fmla="*/ 5022 h 157721"/>
              <a:gd name="csX4" fmla="*/ 137394 w 235844"/>
              <a:gd name="csY4" fmla="*/ 5022 h 157721"/>
              <a:gd name="csX5" fmla="*/ 143422 w 235844"/>
              <a:gd name="csY5" fmla="*/ 27123 h 157721"/>
              <a:gd name="csX6" fmla="*/ 193651 w 235844"/>
              <a:gd name="csY6" fmla="*/ 27123 h 157721"/>
              <a:gd name="csX7" fmla="*/ 203697 w 235844"/>
              <a:gd name="csY7" fmla="*/ 16073 h 157721"/>
              <a:gd name="csX8" fmla="*/ 220775 w 235844"/>
              <a:gd name="csY8" fmla="*/ 34155 h 157721"/>
              <a:gd name="csX9" fmla="*/ 202693 w 235844"/>
              <a:gd name="csY9" fmla="*/ 43197 h 157721"/>
              <a:gd name="csX10" fmla="*/ 169541 w 235844"/>
              <a:gd name="csY10" fmla="*/ 79362 h 157721"/>
              <a:gd name="csX11" fmla="*/ 197670 w 235844"/>
              <a:gd name="csY11" fmla="*/ 104979 h 157721"/>
              <a:gd name="csX12" fmla="*/ 235844 w 235844"/>
              <a:gd name="csY12" fmla="*/ 121555 h 157721"/>
              <a:gd name="csX13" fmla="*/ 235844 w 235844"/>
              <a:gd name="csY13" fmla="*/ 124568 h 157721"/>
              <a:gd name="csX14" fmla="*/ 214748 w 235844"/>
              <a:gd name="csY14" fmla="*/ 135619 h 157721"/>
              <a:gd name="csX15" fmla="*/ 168537 w 235844"/>
              <a:gd name="csY15" fmla="*/ 97444 h 157721"/>
              <a:gd name="csX16" fmla="*/ 143924 w 235844"/>
              <a:gd name="csY16" fmla="*/ 53243 h 157721"/>
              <a:gd name="csX17" fmla="*/ 132371 w 235844"/>
              <a:gd name="csY17" fmla="*/ 5022 h 157721"/>
              <a:gd name="csX18" fmla="*/ 61280 w 235844"/>
              <a:gd name="csY18" fmla="*/ 0 h 157721"/>
              <a:gd name="csX19" fmla="*/ 81371 w 235844"/>
              <a:gd name="csY19" fmla="*/ 12055 h 157721"/>
              <a:gd name="csX20" fmla="*/ 72330 w 235844"/>
              <a:gd name="csY20" fmla="*/ 16074 h 157721"/>
              <a:gd name="csX21" fmla="*/ 65298 w 235844"/>
              <a:gd name="csY21" fmla="*/ 29133 h 157721"/>
              <a:gd name="csX22" fmla="*/ 106486 w 235844"/>
              <a:gd name="csY22" fmla="*/ 29133 h 157721"/>
              <a:gd name="csX23" fmla="*/ 115527 w 235844"/>
              <a:gd name="csY23" fmla="*/ 20092 h 157721"/>
              <a:gd name="csX24" fmla="*/ 129592 w 235844"/>
              <a:gd name="csY24" fmla="*/ 34156 h 157721"/>
              <a:gd name="csX25" fmla="*/ 120550 w 235844"/>
              <a:gd name="csY25" fmla="*/ 40184 h 157721"/>
              <a:gd name="csX26" fmla="*/ 84385 w 235844"/>
              <a:gd name="csY26" fmla="*/ 101966 h 157721"/>
              <a:gd name="csX27" fmla="*/ 46211 w 235844"/>
              <a:gd name="csY27" fmla="*/ 134615 h 157721"/>
              <a:gd name="csX28" fmla="*/ 1004 w 235844"/>
              <a:gd name="csY28" fmla="*/ 157721 h 157721"/>
              <a:gd name="csX29" fmla="*/ 0 w 235844"/>
              <a:gd name="csY29" fmla="*/ 153703 h 157721"/>
              <a:gd name="csX30" fmla="*/ 56257 w 235844"/>
              <a:gd name="csY30" fmla="*/ 116533 h 157721"/>
              <a:gd name="csX31" fmla="*/ 89408 w 235844"/>
              <a:gd name="csY31" fmla="*/ 73838 h 157721"/>
              <a:gd name="csX32" fmla="*/ 106486 w 235844"/>
              <a:gd name="csY32" fmla="*/ 35161 h 157721"/>
              <a:gd name="csX33" fmla="*/ 63289 w 235844"/>
              <a:gd name="csY33" fmla="*/ 35161 h 157721"/>
              <a:gd name="csX34" fmla="*/ 56257 w 235844"/>
              <a:gd name="csY34" fmla="*/ 45207 h 157721"/>
              <a:gd name="csX35" fmla="*/ 79864 w 235844"/>
              <a:gd name="csY35" fmla="*/ 55755 h 157721"/>
              <a:gd name="csX36" fmla="*/ 85390 w 235844"/>
              <a:gd name="csY36" fmla="*/ 64294 h 157721"/>
              <a:gd name="csX37" fmla="*/ 82878 w 235844"/>
              <a:gd name="csY37" fmla="*/ 72833 h 157721"/>
              <a:gd name="csX38" fmla="*/ 79362 w 235844"/>
              <a:gd name="csY38" fmla="*/ 77354 h 157721"/>
              <a:gd name="csX39" fmla="*/ 72330 w 235844"/>
              <a:gd name="csY39" fmla="*/ 69317 h 157721"/>
              <a:gd name="csX40" fmla="*/ 54247 w 235844"/>
              <a:gd name="csY40" fmla="*/ 49225 h 157721"/>
              <a:gd name="csX41" fmla="*/ 37169 w 235844"/>
              <a:gd name="csY41" fmla="*/ 71326 h 157721"/>
              <a:gd name="csX42" fmla="*/ 61280 w 235844"/>
              <a:gd name="csY42" fmla="*/ 82879 h 157721"/>
              <a:gd name="csX43" fmla="*/ 65298 w 235844"/>
              <a:gd name="csY43" fmla="*/ 91418 h 157721"/>
              <a:gd name="csX44" fmla="*/ 62786 w 235844"/>
              <a:gd name="csY44" fmla="*/ 99455 h 157721"/>
              <a:gd name="csX45" fmla="*/ 58266 w 235844"/>
              <a:gd name="csY45" fmla="*/ 103473 h 157721"/>
              <a:gd name="csX46" fmla="*/ 52238 w 235844"/>
              <a:gd name="csY46" fmla="*/ 96441 h 157721"/>
              <a:gd name="csX47" fmla="*/ 35160 w 235844"/>
              <a:gd name="csY47" fmla="*/ 74340 h 157721"/>
              <a:gd name="csX48" fmla="*/ 6027 w 235844"/>
              <a:gd name="csY48" fmla="*/ 101464 h 157721"/>
              <a:gd name="csX49" fmla="*/ 4018 w 235844"/>
              <a:gd name="csY49" fmla="*/ 98450 h 157721"/>
              <a:gd name="csX50" fmla="*/ 38676 w 235844"/>
              <a:gd name="csY50" fmla="*/ 52239 h 157721"/>
              <a:gd name="csX51" fmla="*/ 61280 w 235844"/>
              <a:gd name="csY51" fmla="*/ 0 h 1577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35844" h="157721">
                <a:moveTo>
                  <a:pt x="144426" y="33151"/>
                </a:moveTo>
                <a:cubicBezTo>
                  <a:pt x="151124" y="51233"/>
                  <a:pt x="158491" y="65298"/>
                  <a:pt x="166527" y="75343"/>
                </a:cubicBezTo>
                <a:lnTo>
                  <a:pt x="194656" y="33151"/>
                </a:lnTo>
                <a:close/>
                <a:moveTo>
                  <a:pt x="132371" y="5022"/>
                </a:moveTo>
                <a:lnTo>
                  <a:pt x="137394" y="5022"/>
                </a:lnTo>
                <a:cubicBezTo>
                  <a:pt x="139404" y="15738"/>
                  <a:pt x="141413" y="23105"/>
                  <a:pt x="143422" y="27123"/>
                </a:cubicBezTo>
                <a:lnTo>
                  <a:pt x="193651" y="27123"/>
                </a:lnTo>
                <a:lnTo>
                  <a:pt x="203697" y="16073"/>
                </a:lnTo>
                <a:lnTo>
                  <a:pt x="220775" y="34155"/>
                </a:lnTo>
                <a:cubicBezTo>
                  <a:pt x="214748" y="34825"/>
                  <a:pt x="208720" y="37839"/>
                  <a:pt x="202693" y="43197"/>
                </a:cubicBezTo>
                <a:cubicBezTo>
                  <a:pt x="196665" y="48554"/>
                  <a:pt x="185615" y="60610"/>
                  <a:pt x="169541" y="79362"/>
                </a:cubicBezTo>
                <a:cubicBezTo>
                  <a:pt x="178248" y="90077"/>
                  <a:pt x="187624" y="98616"/>
                  <a:pt x="197670" y="104979"/>
                </a:cubicBezTo>
                <a:cubicBezTo>
                  <a:pt x="207716" y="111341"/>
                  <a:pt x="220440" y="116867"/>
                  <a:pt x="235844" y="121555"/>
                </a:cubicBezTo>
                <a:lnTo>
                  <a:pt x="235844" y="124568"/>
                </a:lnTo>
                <a:cubicBezTo>
                  <a:pt x="225798" y="125238"/>
                  <a:pt x="218766" y="128922"/>
                  <a:pt x="214748" y="135619"/>
                </a:cubicBezTo>
                <a:cubicBezTo>
                  <a:pt x="194656" y="123564"/>
                  <a:pt x="179252" y="110839"/>
                  <a:pt x="168537" y="97444"/>
                </a:cubicBezTo>
                <a:cubicBezTo>
                  <a:pt x="157821" y="84050"/>
                  <a:pt x="149617" y="69316"/>
                  <a:pt x="143924" y="53243"/>
                </a:cubicBezTo>
                <a:cubicBezTo>
                  <a:pt x="138231" y="37169"/>
                  <a:pt x="134381" y="21096"/>
                  <a:pt x="132371" y="5022"/>
                </a:cubicBezTo>
                <a:close/>
                <a:moveTo>
                  <a:pt x="61280" y="0"/>
                </a:moveTo>
                <a:lnTo>
                  <a:pt x="81371" y="12055"/>
                </a:lnTo>
                <a:lnTo>
                  <a:pt x="72330" y="16074"/>
                </a:lnTo>
                <a:lnTo>
                  <a:pt x="65298" y="29133"/>
                </a:lnTo>
                <a:lnTo>
                  <a:pt x="106486" y="29133"/>
                </a:lnTo>
                <a:lnTo>
                  <a:pt x="115527" y="20092"/>
                </a:lnTo>
                <a:lnTo>
                  <a:pt x="129592" y="34156"/>
                </a:lnTo>
                <a:lnTo>
                  <a:pt x="120550" y="40184"/>
                </a:lnTo>
                <a:cubicBezTo>
                  <a:pt x="108495" y="68312"/>
                  <a:pt x="96440" y="88906"/>
                  <a:pt x="84385" y="101966"/>
                </a:cubicBezTo>
                <a:cubicBezTo>
                  <a:pt x="72330" y="115026"/>
                  <a:pt x="59605" y="125909"/>
                  <a:pt x="46211" y="134615"/>
                </a:cubicBezTo>
                <a:cubicBezTo>
                  <a:pt x="32816" y="143322"/>
                  <a:pt x="17747" y="151024"/>
                  <a:pt x="1004" y="157721"/>
                </a:cubicBezTo>
                <a:lnTo>
                  <a:pt x="0" y="153703"/>
                </a:lnTo>
                <a:cubicBezTo>
                  <a:pt x="23440" y="142317"/>
                  <a:pt x="42192" y="129927"/>
                  <a:pt x="56257" y="116533"/>
                </a:cubicBezTo>
                <a:cubicBezTo>
                  <a:pt x="70321" y="103138"/>
                  <a:pt x="81371" y="88906"/>
                  <a:pt x="89408" y="73838"/>
                </a:cubicBezTo>
                <a:cubicBezTo>
                  <a:pt x="97445" y="58769"/>
                  <a:pt x="103137" y="45877"/>
                  <a:pt x="106486" y="35161"/>
                </a:cubicBezTo>
                <a:lnTo>
                  <a:pt x="63289" y="35161"/>
                </a:lnTo>
                <a:lnTo>
                  <a:pt x="56257" y="45207"/>
                </a:lnTo>
                <a:cubicBezTo>
                  <a:pt x="68312" y="49225"/>
                  <a:pt x="76181" y="52741"/>
                  <a:pt x="79864" y="55755"/>
                </a:cubicBezTo>
                <a:cubicBezTo>
                  <a:pt x="83548" y="58769"/>
                  <a:pt x="85390" y="61615"/>
                  <a:pt x="85390" y="64294"/>
                </a:cubicBezTo>
                <a:cubicBezTo>
                  <a:pt x="85390" y="66973"/>
                  <a:pt x="84553" y="69819"/>
                  <a:pt x="82878" y="72833"/>
                </a:cubicBezTo>
                <a:cubicBezTo>
                  <a:pt x="81204" y="75847"/>
                  <a:pt x="80032" y="77354"/>
                  <a:pt x="79362" y="77354"/>
                </a:cubicBezTo>
                <a:cubicBezTo>
                  <a:pt x="77353" y="77354"/>
                  <a:pt x="75009" y="74675"/>
                  <a:pt x="72330" y="69317"/>
                </a:cubicBezTo>
                <a:cubicBezTo>
                  <a:pt x="68312" y="61950"/>
                  <a:pt x="62284" y="55253"/>
                  <a:pt x="54247" y="49225"/>
                </a:cubicBezTo>
                <a:cubicBezTo>
                  <a:pt x="47550" y="59271"/>
                  <a:pt x="41857" y="66638"/>
                  <a:pt x="37169" y="71326"/>
                </a:cubicBezTo>
                <a:cubicBezTo>
                  <a:pt x="50564" y="76014"/>
                  <a:pt x="58601" y="79865"/>
                  <a:pt x="61280" y="82879"/>
                </a:cubicBezTo>
                <a:cubicBezTo>
                  <a:pt x="63958" y="85893"/>
                  <a:pt x="65298" y="88739"/>
                  <a:pt x="65298" y="91418"/>
                </a:cubicBezTo>
                <a:cubicBezTo>
                  <a:pt x="65298" y="94097"/>
                  <a:pt x="64461" y="96776"/>
                  <a:pt x="62786" y="99455"/>
                </a:cubicBezTo>
                <a:cubicBezTo>
                  <a:pt x="61112" y="102134"/>
                  <a:pt x="59605" y="103473"/>
                  <a:pt x="58266" y="103473"/>
                </a:cubicBezTo>
                <a:cubicBezTo>
                  <a:pt x="56257" y="103473"/>
                  <a:pt x="54247" y="101129"/>
                  <a:pt x="52238" y="96441"/>
                </a:cubicBezTo>
                <a:cubicBezTo>
                  <a:pt x="48890" y="89074"/>
                  <a:pt x="43197" y="81707"/>
                  <a:pt x="35160" y="74340"/>
                </a:cubicBezTo>
                <a:cubicBezTo>
                  <a:pt x="25784" y="85056"/>
                  <a:pt x="16073" y="94097"/>
                  <a:pt x="6027" y="101464"/>
                </a:cubicBezTo>
                <a:lnTo>
                  <a:pt x="4018" y="98450"/>
                </a:lnTo>
                <a:cubicBezTo>
                  <a:pt x="16743" y="85725"/>
                  <a:pt x="28295" y="70322"/>
                  <a:pt x="38676" y="52239"/>
                </a:cubicBezTo>
                <a:cubicBezTo>
                  <a:pt x="49057" y="34156"/>
                  <a:pt x="56591" y="16743"/>
                  <a:pt x="6128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9596" y="1281223"/>
            <a:ext cx="11293549" cy="55767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3.4 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优化分配原则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zh-CN" dirty="0"/>
              <a:t>在实际编码中，部首的选取还需考虑以下</a:t>
            </a:r>
            <a:r>
              <a:rPr lang="zh-CN" altLang="en-US" dirty="0"/>
              <a:t>方法</a:t>
            </a:r>
            <a:r>
              <a:rPr lang="zh-CN" altLang="zh-CN" dirty="0"/>
              <a:t>：</a:t>
            </a:r>
          </a:p>
          <a:p>
            <a:pPr marL="0" lvl="0" indent="0">
              <a:buNone/>
            </a:pPr>
            <a:r>
              <a:rPr lang="zh-CN" altLang="zh-CN" b="1" dirty="0"/>
              <a:t>独体字</a:t>
            </a:r>
            <a:r>
              <a:rPr lang="en-US" altLang="zh-CN" b="1" dirty="0"/>
              <a:t>/</a:t>
            </a:r>
            <a:r>
              <a:rPr lang="zh-CN" altLang="zh-CN" b="1" dirty="0"/>
              <a:t>合体字判定</a:t>
            </a:r>
            <a:r>
              <a:rPr lang="zh-CN" altLang="zh-CN" dirty="0"/>
              <a:t>：确保合体字判定准确。</a:t>
            </a:r>
            <a:br>
              <a:rPr lang="en-US" altLang="zh-CN" dirty="0"/>
            </a:br>
            <a:r>
              <a:rPr lang="zh-CN" altLang="zh-CN" b="1" dirty="0"/>
              <a:t>康熙部首为本字</a:t>
            </a:r>
            <a:r>
              <a:rPr lang="zh-CN" altLang="zh-CN" dirty="0"/>
              <a:t>：按解书拆分进一步取部首。</a:t>
            </a:r>
            <a:br>
              <a:rPr lang="en-US" altLang="zh-CN" dirty="0"/>
            </a:br>
            <a:r>
              <a:rPr lang="zh-CN" altLang="zh-CN" b="1" dirty="0"/>
              <a:t>主码冲突</a:t>
            </a:r>
            <a:r>
              <a:rPr lang="zh-CN" altLang="zh-CN" dirty="0"/>
              <a:t>：当不同部首对应同一部首码（字母）时，可以调整以避免重码。</a:t>
            </a:r>
            <a:br>
              <a:rPr lang="en-US" altLang="zh-CN" dirty="0"/>
            </a:br>
            <a:r>
              <a:rPr lang="zh-CN" altLang="zh-CN" b="1" dirty="0"/>
              <a:t>亲缘衍生忽略</a:t>
            </a:r>
            <a:r>
              <a:rPr lang="zh-CN" altLang="zh-CN" dirty="0"/>
              <a:t>：若音码不同，可忽略亲缘衍生关系。</a:t>
            </a:r>
            <a:br>
              <a:rPr lang="en-US" altLang="zh-CN" dirty="0"/>
            </a:br>
            <a:r>
              <a:rPr lang="zh-CN" altLang="zh-CN" b="1" dirty="0"/>
              <a:t>特定部首规则</a:t>
            </a:r>
            <a:r>
              <a:rPr lang="zh-CN" altLang="zh-CN" dirty="0"/>
              <a:t>：部分部首有特殊规则（如含彳取彳，含廾取廾）。</a:t>
            </a:r>
            <a:br>
              <a:rPr lang="en-US" altLang="zh-CN" dirty="0"/>
            </a:br>
            <a:r>
              <a:rPr lang="zh-CN" altLang="zh-CN" b="1" dirty="0"/>
              <a:t>现代字形与左上原则</a:t>
            </a:r>
            <a:r>
              <a:rPr lang="zh-CN" altLang="zh-CN" dirty="0"/>
              <a:t>：部首的选取需在现代汉字结构下具有区分度。如果传统部首因隶变、简化等原因在现代字形中难以辨认，或造成重码问题</a:t>
            </a:r>
            <a:r>
              <a:rPr lang="en-US" altLang="zh-CN" dirty="0"/>
              <a:t>/</a:t>
            </a:r>
            <a:r>
              <a:rPr lang="zh-CN" altLang="zh-CN" dirty="0"/>
              <a:t>与现代字形差异过大，则按解书拆分选取首部（左上角部件）。当依旧无法确定部首时，优先取左上角部件。</a:t>
            </a:r>
            <a:br>
              <a:rPr lang="en-US" altLang="zh-CN" dirty="0"/>
            </a:br>
            <a:r>
              <a:rPr lang="zh-CN" altLang="zh-CN" b="1" dirty="0"/>
              <a:t>包围声旁处理</a:t>
            </a:r>
            <a:r>
              <a:rPr lang="zh-CN" altLang="zh-CN" dirty="0"/>
              <a:t>：声旁特征不明显或被外部特征覆盖时，若仅此一字如此，则取外声旁；若多字如此，则取内部件。</a:t>
            </a:r>
            <a:br>
              <a:rPr lang="en-US" altLang="zh-CN" dirty="0"/>
            </a:br>
            <a:r>
              <a:rPr lang="zh-CN" altLang="zh-CN" b="1" dirty="0"/>
              <a:t>简体问题</a:t>
            </a:r>
            <a:r>
              <a:rPr lang="zh-CN" altLang="zh-CN" dirty="0"/>
              <a:t>：有些简化字按简化前的繁体字形处理。</a:t>
            </a:r>
            <a:br>
              <a:rPr lang="en-US" altLang="zh-CN" dirty="0"/>
            </a:br>
            <a:r>
              <a:rPr lang="zh-CN" altLang="zh-CN" b="1" dirty="0"/>
              <a:t>简并</a:t>
            </a:r>
            <a:r>
              <a:rPr lang="en-US" altLang="zh-CN" b="1" dirty="0"/>
              <a:t>/</a:t>
            </a:r>
            <a:r>
              <a:rPr lang="zh-CN" altLang="zh-CN" b="1" dirty="0"/>
              <a:t>非部首字合理跳过</a:t>
            </a:r>
            <a:r>
              <a:rPr lang="zh-CN" altLang="zh-CN" dirty="0"/>
              <a:t>：若有其他部首，则不取简并部首或者未收录的成字部首。</a:t>
            </a:r>
            <a:br>
              <a:rPr lang="en-US" altLang="zh-CN" dirty="0"/>
            </a:br>
            <a:r>
              <a:rPr lang="zh-CN" altLang="zh-CN" b="1" dirty="0"/>
              <a:t>字源参考</a:t>
            </a:r>
            <a:r>
              <a:rPr lang="zh-CN" altLang="zh-CN" dirty="0"/>
              <a:t>：在无法决断时，可参考字源。</a:t>
            </a:r>
          </a:p>
        </p:txBody>
      </p:sp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三、主码编码规则</a:t>
            </a:r>
          </a:p>
        </p:txBody>
      </p:sp>
      <p:sp>
        <p:nvSpPr>
          <p:cNvPr id="7" name="矩形 6"/>
          <p:cNvSpPr/>
          <p:nvPr/>
        </p:nvSpPr>
        <p:spPr>
          <a:xfrm>
            <a:off x="3633055" y="4771935"/>
            <a:ext cx="850906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7200" b="1" cap="none" spc="0" dirty="0">
                <a:ln w="22225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···</a:t>
            </a:r>
            <a:r>
              <a:rPr lang="zh-CN" altLang="en-US" sz="7200" b="1" cap="none" spc="0" dirty="0">
                <a:ln w="22225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这太复杂了！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00" y="1428750"/>
            <a:ext cx="9601200" cy="98484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zh-CN" altLang="zh-CN" dirty="0"/>
              <a:t>尽管考虑因素众多，但通常情况下，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《康熙字典》所规定的部首</a:t>
            </a:r>
            <a:r>
              <a:rPr lang="zh-CN" altLang="zh-CN" dirty="0"/>
              <a:t>就是最优解。</a:t>
            </a:r>
          </a:p>
          <a:p>
            <a:pPr marL="0" indent="0">
              <a:buNone/>
            </a:pPr>
            <a:r>
              <a:rPr lang="zh-CN" altLang="zh-CN" dirty="0"/>
              <a:t>根据优化分配规则，需要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着重理解</a:t>
            </a:r>
            <a:r>
              <a:rPr lang="zh-CN" altLang="zh-CN" dirty="0"/>
              <a:t>的字例有：</a:t>
            </a:r>
          </a:p>
        </p:txBody>
      </p:sp>
      <p:sp>
        <p:nvSpPr>
          <p:cNvPr id="5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三、主码编码规则</a:t>
            </a:r>
          </a:p>
        </p:txBody>
      </p:sp>
      <p:sp>
        <p:nvSpPr>
          <p:cNvPr id="32" name="任意多边形: 形状 31"/>
          <p:cNvSpPr/>
          <p:nvPr/>
        </p:nvSpPr>
        <p:spPr>
          <a:xfrm>
            <a:off x="3071784" y="2686559"/>
            <a:ext cx="622020" cy="571958"/>
          </a:xfrm>
          <a:custGeom>
            <a:avLst/>
            <a:gdLst>
              <a:gd name="csX0" fmla="*/ 248945 w 622020"/>
              <a:gd name="csY0" fmla="*/ 377876 h 571958"/>
              <a:gd name="csX1" fmla="*/ 187909 w 622020"/>
              <a:gd name="csY1" fmla="*/ 391592 h 571958"/>
              <a:gd name="csX2" fmla="*/ 168707 w 622020"/>
              <a:gd name="csY2" fmla="*/ 439255 h 571958"/>
              <a:gd name="csX3" fmla="*/ 180365 w 622020"/>
              <a:gd name="csY3" fmla="*/ 448514 h 571958"/>
              <a:gd name="csX4" fmla="*/ 214655 w 622020"/>
              <a:gd name="csY4" fmla="*/ 464973 h 571958"/>
              <a:gd name="csX5" fmla="*/ 248945 w 622020"/>
              <a:gd name="csY5" fmla="*/ 377876 h 571958"/>
              <a:gd name="csX6" fmla="*/ 178994 w 622020"/>
              <a:gd name="csY6" fmla="*/ 307925 h 571958"/>
              <a:gd name="csX7" fmla="*/ 200253 w 622020"/>
              <a:gd name="csY7" fmla="*/ 317526 h 571958"/>
              <a:gd name="csX8" fmla="*/ 214655 w 622020"/>
              <a:gd name="csY8" fmla="*/ 334671 h 571958"/>
              <a:gd name="csX9" fmla="*/ 210540 w 622020"/>
              <a:gd name="csY9" fmla="*/ 347015 h 571958"/>
              <a:gd name="csX10" fmla="*/ 197510 w 622020"/>
              <a:gd name="csY10" fmla="*/ 371704 h 571958"/>
              <a:gd name="csX11" fmla="*/ 251688 w 622020"/>
              <a:gd name="csY11" fmla="*/ 362103 h 571958"/>
              <a:gd name="csX12" fmla="*/ 252717 w 622020"/>
              <a:gd name="csY12" fmla="*/ 345986 h 571958"/>
              <a:gd name="csX13" fmla="*/ 251688 w 622020"/>
              <a:gd name="csY13" fmla="*/ 338100 h 571958"/>
              <a:gd name="csX14" fmla="*/ 258546 w 622020"/>
              <a:gd name="csY14" fmla="*/ 329870 h 571958"/>
              <a:gd name="csX15" fmla="*/ 281864 w 622020"/>
              <a:gd name="csY15" fmla="*/ 338443 h 571958"/>
              <a:gd name="csX16" fmla="*/ 298323 w 622020"/>
              <a:gd name="csY16" fmla="*/ 353187 h 571958"/>
              <a:gd name="csX17" fmla="*/ 292151 w 622020"/>
              <a:gd name="csY17" fmla="*/ 369647 h 571958"/>
              <a:gd name="csX18" fmla="*/ 276720 w 622020"/>
              <a:gd name="csY18" fmla="*/ 407708 h 571958"/>
              <a:gd name="csX19" fmla="*/ 239344 w 622020"/>
              <a:gd name="csY19" fmla="*/ 478689 h 571958"/>
              <a:gd name="csX20" fmla="*/ 279120 w 622020"/>
              <a:gd name="csY20" fmla="*/ 508521 h 571958"/>
              <a:gd name="csX21" fmla="*/ 290093 w 622020"/>
              <a:gd name="csY21" fmla="*/ 536982 h 571958"/>
              <a:gd name="csX22" fmla="*/ 282892 w 622020"/>
              <a:gd name="csY22" fmla="*/ 552755 h 571958"/>
              <a:gd name="csX23" fmla="*/ 268833 w 622020"/>
              <a:gd name="csY23" fmla="*/ 545211 h 571958"/>
              <a:gd name="csX24" fmla="*/ 223571 w 622020"/>
              <a:gd name="csY24" fmla="*/ 500634 h 571958"/>
              <a:gd name="csX25" fmla="*/ 147447 w 622020"/>
              <a:gd name="csY25" fmla="*/ 552755 h 571958"/>
              <a:gd name="csX26" fmla="*/ 64465 w 622020"/>
              <a:gd name="csY26" fmla="*/ 571958 h 571958"/>
              <a:gd name="csX27" fmla="*/ 55550 w 622020"/>
              <a:gd name="csY27" fmla="*/ 567500 h 571958"/>
              <a:gd name="csX28" fmla="*/ 63779 w 622020"/>
              <a:gd name="csY28" fmla="*/ 560985 h 571958"/>
              <a:gd name="csX29" fmla="*/ 202311 w 622020"/>
              <a:gd name="csY29" fmla="*/ 483489 h 571958"/>
              <a:gd name="csX30" fmla="*/ 157048 w 622020"/>
              <a:gd name="csY30" fmla="*/ 456743 h 571958"/>
              <a:gd name="csX31" fmla="*/ 141960 w 622020"/>
              <a:gd name="csY31" fmla="*/ 443027 h 571958"/>
              <a:gd name="csX32" fmla="*/ 147447 w 622020"/>
              <a:gd name="csY32" fmla="*/ 427940 h 571958"/>
              <a:gd name="csX33" fmla="*/ 157734 w 622020"/>
              <a:gd name="csY33" fmla="*/ 399136 h 571958"/>
              <a:gd name="csX34" fmla="*/ 63779 w 622020"/>
              <a:gd name="csY34" fmla="*/ 426568 h 571958"/>
              <a:gd name="csX35" fmla="*/ 34290 w 622020"/>
              <a:gd name="csY35" fmla="*/ 432740 h 571958"/>
              <a:gd name="csX36" fmla="*/ 12001 w 622020"/>
              <a:gd name="csY36" fmla="*/ 421082 h 571958"/>
              <a:gd name="csX37" fmla="*/ 0 w 622020"/>
              <a:gd name="csY37" fmla="*/ 402565 h 571958"/>
              <a:gd name="csX38" fmla="*/ 13030 w 622020"/>
              <a:gd name="csY38" fmla="*/ 395707 h 571958"/>
              <a:gd name="csX39" fmla="*/ 32918 w 622020"/>
              <a:gd name="csY39" fmla="*/ 396393 h 571958"/>
              <a:gd name="csX40" fmla="*/ 163220 w 622020"/>
              <a:gd name="csY40" fmla="*/ 377876 h 571958"/>
              <a:gd name="csX41" fmla="*/ 172136 w 622020"/>
              <a:gd name="csY41" fmla="*/ 319583 h 571958"/>
              <a:gd name="csX42" fmla="*/ 178994 w 622020"/>
              <a:gd name="csY42" fmla="*/ 307925 h 571958"/>
              <a:gd name="csX43" fmla="*/ 239344 w 622020"/>
              <a:gd name="csY43" fmla="*/ 231801 h 571958"/>
              <a:gd name="csX44" fmla="*/ 282549 w 622020"/>
              <a:gd name="csY44" fmla="*/ 242431 h 571958"/>
              <a:gd name="csX45" fmla="*/ 305181 w 622020"/>
              <a:gd name="csY45" fmla="*/ 275692 h 571958"/>
              <a:gd name="csX46" fmla="*/ 295580 w 622020"/>
              <a:gd name="csY46" fmla="*/ 288722 h 571958"/>
              <a:gd name="csX47" fmla="*/ 259575 w 622020"/>
              <a:gd name="csY47" fmla="*/ 264033 h 571958"/>
              <a:gd name="csX48" fmla="*/ 231800 w 622020"/>
              <a:gd name="csY48" fmla="*/ 235573 h 571958"/>
              <a:gd name="csX49" fmla="*/ 239344 w 622020"/>
              <a:gd name="csY49" fmla="*/ 231801 h 571958"/>
              <a:gd name="csX50" fmla="*/ 116586 w 622020"/>
              <a:gd name="csY50" fmla="*/ 106985 h 571958"/>
              <a:gd name="csX51" fmla="*/ 150876 w 622020"/>
              <a:gd name="csY51" fmla="*/ 116929 h 571958"/>
              <a:gd name="csX52" fmla="*/ 163220 w 622020"/>
              <a:gd name="csY52" fmla="*/ 144361 h 571958"/>
              <a:gd name="csX53" fmla="*/ 152590 w 622020"/>
              <a:gd name="csY53" fmla="*/ 161849 h 571958"/>
              <a:gd name="csX54" fmla="*/ 123444 w 622020"/>
              <a:gd name="csY54" fmla="*/ 140589 h 571958"/>
              <a:gd name="csX55" fmla="*/ 104927 w 622020"/>
              <a:gd name="csY55" fmla="*/ 113157 h 571958"/>
              <a:gd name="csX56" fmla="*/ 116586 w 622020"/>
              <a:gd name="csY56" fmla="*/ 106985 h 571958"/>
              <a:gd name="csX57" fmla="*/ 291465 w 622020"/>
              <a:gd name="csY57" fmla="*/ 57608 h 571958"/>
              <a:gd name="csX58" fmla="*/ 316154 w 622020"/>
              <a:gd name="csY58" fmla="*/ 69609 h 571958"/>
              <a:gd name="csX59" fmla="*/ 331927 w 622020"/>
              <a:gd name="csY59" fmla="*/ 88469 h 571958"/>
              <a:gd name="csX60" fmla="*/ 319925 w 622020"/>
              <a:gd name="csY60" fmla="*/ 101499 h 571958"/>
              <a:gd name="csX61" fmla="*/ 256489 w 622020"/>
              <a:gd name="csY61" fmla="*/ 143333 h 571958"/>
              <a:gd name="csX62" fmla="*/ 247916 w 622020"/>
              <a:gd name="csY62" fmla="*/ 147447 h 571958"/>
              <a:gd name="csX63" fmla="*/ 244830 w 622020"/>
              <a:gd name="csY63" fmla="*/ 144361 h 571958"/>
              <a:gd name="csX64" fmla="*/ 247574 w 622020"/>
              <a:gd name="csY64" fmla="*/ 137846 h 571958"/>
              <a:gd name="csX65" fmla="*/ 273291 w 622020"/>
              <a:gd name="csY65" fmla="*/ 99784 h 571958"/>
              <a:gd name="csX66" fmla="*/ 281178 w 622020"/>
              <a:gd name="csY66" fmla="*/ 72352 h 571958"/>
              <a:gd name="csX67" fmla="*/ 291465 w 622020"/>
              <a:gd name="csY67" fmla="*/ 57608 h 571958"/>
              <a:gd name="csX68" fmla="*/ 417652 w 622020"/>
              <a:gd name="csY68" fmla="*/ 39778 h 571958"/>
              <a:gd name="csX69" fmla="*/ 449199 w 622020"/>
              <a:gd name="csY69" fmla="*/ 52122 h 571958"/>
              <a:gd name="csX70" fmla="*/ 469773 w 622020"/>
              <a:gd name="csY70" fmla="*/ 76811 h 571958"/>
              <a:gd name="csX71" fmla="*/ 462915 w 622020"/>
              <a:gd name="csY71" fmla="*/ 90527 h 571958"/>
              <a:gd name="csX72" fmla="*/ 428282 w 622020"/>
              <a:gd name="csY72" fmla="*/ 154306 h 571958"/>
              <a:gd name="csX73" fmla="*/ 381990 w 622020"/>
              <a:gd name="csY73" fmla="*/ 237288 h 571958"/>
              <a:gd name="csX74" fmla="*/ 469430 w 622020"/>
              <a:gd name="csY74" fmla="*/ 210885 h 571958"/>
              <a:gd name="csX75" fmla="*/ 541439 w 622020"/>
              <a:gd name="csY75" fmla="*/ 187911 h 571958"/>
              <a:gd name="csX76" fmla="*/ 565099 w 622020"/>
              <a:gd name="csY76" fmla="*/ 192711 h 571958"/>
              <a:gd name="csX77" fmla="*/ 574014 w 622020"/>
              <a:gd name="csY77" fmla="*/ 201969 h 571958"/>
              <a:gd name="csX78" fmla="*/ 566471 w 622020"/>
              <a:gd name="csY78" fmla="*/ 211228 h 571958"/>
              <a:gd name="csX79" fmla="*/ 523951 w 622020"/>
              <a:gd name="csY79" fmla="*/ 226658 h 571958"/>
              <a:gd name="csX80" fmla="*/ 437540 w 622020"/>
              <a:gd name="csY80" fmla="*/ 245518 h 571958"/>
              <a:gd name="csX81" fmla="*/ 478688 w 622020"/>
              <a:gd name="csY81" fmla="*/ 282551 h 571958"/>
              <a:gd name="csX82" fmla="*/ 474916 w 622020"/>
              <a:gd name="csY82" fmla="*/ 290781 h 571958"/>
              <a:gd name="csX83" fmla="*/ 468401 w 622020"/>
              <a:gd name="csY83" fmla="*/ 306211 h 571958"/>
              <a:gd name="csX84" fmla="*/ 460857 w 622020"/>
              <a:gd name="csY84" fmla="*/ 342216 h 571958"/>
              <a:gd name="csX85" fmla="*/ 435483 w 622020"/>
              <a:gd name="csY85" fmla="*/ 423140 h 571958"/>
              <a:gd name="csX86" fmla="*/ 511264 w 622020"/>
              <a:gd name="csY86" fmla="*/ 492749 h 571958"/>
              <a:gd name="csX87" fmla="*/ 608304 w 622020"/>
              <a:gd name="csY87" fmla="*/ 534240 h 571958"/>
              <a:gd name="csX88" fmla="*/ 622020 w 622020"/>
              <a:gd name="csY88" fmla="*/ 542126 h 571958"/>
              <a:gd name="csX89" fmla="*/ 617220 w 622020"/>
              <a:gd name="csY89" fmla="*/ 548641 h 571958"/>
              <a:gd name="csX90" fmla="*/ 581901 w 622020"/>
              <a:gd name="csY90" fmla="*/ 554128 h 571958"/>
              <a:gd name="csX91" fmla="*/ 535610 w 622020"/>
              <a:gd name="csY91" fmla="*/ 557557 h 571958"/>
              <a:gd name="csX92" fmla="*/ 488632 w 622020"/>
              <a:gd name="csY92" fmla="*/ 538697 h 571958"/>
              <a:gd name="csX93" fmla="*/ 421081 w 622020"/>
              <a:gd name="csY93" fmla="*/ 447143 h 571958"/>
              <a:gd name="csX94" fmla="*/ 353530 w 622020"/>
              <a:gd name="csY94" fmla="*/ 503721 h 571958"/>
              <a:gd name="csX95" fmla="*/ 304495 w 622020"/>
              <a:gd name="csY95" fmla="*/ 520524 h 571958"/>
              <a:gd name="csX96" fmla="*/ 299694 w 622020"/>
              <a:gd name="csY96" fmla="*/ 517437 h 571958"/>
              <a:gd name="csX97" fmla="*/ 305867 w 622020"/>
              <a:gd name="csY97" fmla="*/ 510922 h 571958"/>
              <a:gd name="csX98" fmla="*/ 367246 w 622020"/>
              <a:gd name="csY98" fmla="*/ 466002 h 571958"/>
              <a:gd name="csX99" fmla="*/ 402564 w 622020"/>
              <a:gd name="csY99" fmla="*/ 419711 h 571958"/>
              <a:gd name="csX100" fmla="*/ 374789 w 622020"/>
              <a:gd name="csY100" fmla="*/ 378220 h 571958"/>
              <a:gd name="csX101" fmla="*/ 333984 w 622020"/>
              <a:gd name="csY101" fmla="*/ 330557 h 571958"/>
              <a:gd name="csX102" fmla="*/ 328498 w 622020"/>
              <a:gd name="csY102" fmla="*/ 321984 h 571958"/>
              <a:gd name="csX103" fmla="*/ 344271 w 622020"/>
              <a:gd name="csY103" fmla="*/ 316841 h 571958"/>
              <a:gd name="csX104" fmla="*/ 377190 w 622020"/>
              <a:gd name="csY104" fmla="*/ 344616 h 571958"/>
              <a:gd name="csX105" fmla="*/ 412851 w 622020"/>
              <a:gd name="csY105" fmla="*/ 396394 h 571958"/>
              <a:gd name="csX106" fmla="*/ 430682 w 622020"/>
              <a:gd name="csY106" fmla="*/ 288723 h 571958"/>
              <a:gd name="csX107" fmla="*/ 426567 w 622020"/>
              <a:gd name="csY107" fmla="*/ 247575 h 571958"/>
              <a:gd name="csX108" fmla="*/ 393306 w 622020"/>
              <a:gd name="csY108" fmla="*/ 251004 h 571958"/>
              <a:gd name="csX109" fmla="*/ 374447 w 622020"/>
              <a:gd name="csY109" fmla="*/ 248947 h 571958"/>
              <a:gd name="csX110" fmla="*/ 338099 w 622020"/>
              <a:gd name="csY110" fmla="*/ 293181 h 571958"/>
              <a:gd name="csX111" fmla="*/ 314439 w 622020"/>
              <a:gd name="csY111" fmla="*/ 312726 h 571958"/>
              <a:gd name="csX112" fmla="*/ 310667 w 622020"/>
              <a:gd name="csY112" fmla="*/ 309297 h 571958"/>
              <a:gd name="csX113" fmla="*/ 314096 w 622020"/>
              <a:gd name="csY113" fmla="*/ 300382 h 571958"/>
              <a:gd name="csX114" fmla="*/ 389534 w 622020"/>
              <a:gd name="csY114" fmla="*/ 155335 h 571958"/>
              <a:gd name="csX115" fmla="*/ 410794 w 622020"/>
              <a:gd name="csY115" fmla="*/ 70639 h 571958"/>
              <a:gd name="csX116" fmla="*/ 408737 w 622020"/>
              <a:gd name="csY116" fmla="*/ 60009 h 571958"/>
              <a:gd name="csX117" fmla="*/ 406679 w 622020"/>
              <a:gd name="csY117" fmla="*/ 50065 h 571958"/>
              <a:gd name="csX118" fmla="*/ 417652 w 622020"/>
              <a:gd name="csY118" fmla="*/ 39778 h 571958"/>
              <a:gd name="csX119" fmla="*/ 188938 w 622020"/>
              <a:gd name="csY119" fmla="*/ 0 h 571958"/>
              <a:gd name="csX120" fmla="*/ 218084 w 622020"/>
              <a:gd name="csY120" fmla="*/ 8916 h 571958"/>
              <a:gd name="csX121" fmla="*/ 237972 w 622020"/>
              <a:gd name="csY121" fmla="*/ 28118 h 571958"/>
              <a:gd name="csX122" fmla="*/ 234543 w 622020"/>
              <a:gd name="csY122" fmla="*/ 41834 h 571958"/>
              <a:gd name="csX123" fmla="*/ 228714 w 622020"/>
              <a:gd name="csY123" fmla="*/ 73038 h 571958"/>
              <a:gd name="csX124" fmla="*/ 222199 w 622020"/>
              <a:gd name="csY124" fmla="*/ 185166 h 571958"/>
              <a:gd name="csX125" fmla="*/ 306209 w 622020"/>
              <a:gd name="csY125" fmla="*/ 168021 h 571958"/>
              <a:gd name="csX126" fmla="*/ 319925 w 622020"/>
              <a:gd name="csY126" fmla="*/ 171793 h 571958"/>
              <a:gd name="csX127" fmla="*/ 323697 w 622020"/>
              <a:gd name="csY127" fmla="*/ 178994 h 571958"/>
              <a:gd name="csX128" fmla="*/ 301066 w 622020"/>
              <a:gd name="csY128" fmla="*/ 194768 h 571958"/>
              <a:gd name="csX129" fmla="*/ 221513 w 622020"/>
              <a:gd name="csY129" fmla="*/ 209855 h 571958"/>
              <a:gd name="csX130" fmla="*/ 216370 w 622020"/>
              <a:gd name="csY130" fmla="*/ 287008 h 571958"/>
              <a:gd name="csX131" fmla="*/ 207797 w 622020"/>
              <a:gd name="csY131" fmla="*/ 305181 h 571958"/>
              <a:gd name="csX132" fmla="*/ 196824 w 622020"/>
              <a:gd name="csY132" fmla="*/ 294209 h 571958"/>
              <a:gd name="csX133" fmla="*/ 192024 w 622020"/>
              <a:gd name="csY133" fmla="*/ 260604 h 571958"/>
              <a:gd name="csX134" fmla="*/ 193395 w 622020"/>
              <a:gd name="csY134" fmla="*/ 214656 h 571958"/>
              <a:gd name="csX135" fmla="*/ 145732 w 622020"/>
              <a:gd name="csY135" fmla="*/ 278778 h 571958"/>
              <a:gd name="csX136" fmla="*/ 81267 w 622020"/>
              <a:gd name="csY136" fmla="*/ 327470 h 571958"/>
              <a:gd name="csX137" fmla="*/ 37719 w 622020"/>
              <a:gd name="csY137" fmla="*/ 345644 h 571958"/>
              <a:gd name="csX138" fmla="*/ 35661 w 622020"/>
              <a:gd name="csY138" fmla="*/ 343586 h 571958"/>
              <a:gd name="csX139" fmla="*/ 41148 w 622020"/>
              <a:gd name="csY139" fmla="*/ 337414 h 571958"/>
              <a:gd name="csX140" fmla="*/ 155676 w 622020"/>
              <a:gd name="csY140" fmla="*/ 220142 h 571958"/>
              <a:gd name="csX141" fmla="*/ 106985 w 622020"/>
              <a:gd name="csY141" fmla="*/ 224257 h 571958"/>
              <a:gd name="csX142" fmla="*/ 82296 w 622020"/>
              <a:gd name="csY142" fmla="*/ 220828 h 571958"/>
              <a:gd name="csX143" fmla="*/ 72695 w 622020"/>
              <a:gd name="csY143" fmla="*/ 213284 h 571958"/>
              <a:gd name="csX144" fmla="*/ 85725 w 622020"/>
              <a:gd name="csY144" fmla="*/ 208484 h 571958"/>
              <a:gd name="csX145" fmla="*/ 194767 w 622020"/>
              <a:gd name="csY145" fmla="*/ 190653 h 571958"/>
              <a:gd name="csX146" fmla="*/ 196824 w 622020"/>
              <a:gd name="csY146" fmla="*/ 121387 h 571958"/>
              <a:gd name="csX147" fmla="*/ 186537 w 622020"/>
              <a:gd name="csY147" fmla="*/ 23318 h 571958"/>
              <a:gd name="csX148" fmla="*/ 179679 w 622020"/>
              <a:gd name="csY148" fmla="*/ 6858 h 571958"/>
              <a:gd name="csX149" fmla="*/ 188938 w 622020"/>
              <a:gd name="csY149" fmla="*/ 0 h 571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</a:cxnLst>
            <a:rect l="l" t="t" r="r" b="b"/>
            <a:pathLst>
              <a:path w="622020" h="571958">
                <a:moveTo>
                  <a:pt x="248945" y="377876"/>
                </a:moveTo>
                <a:lnTo>
                  <a:pt x="187909" y="391592"/>
                </a:lnTo>
                <a:cubicBezTo>
                  <a:pt x="175107" y="419939"/>
                  <a:pt x="168707" y="435826"/>
                  <a:pt x="168707" y="439255"/>
                </a:cubicBezTo>
                <a:cubicBezTo>
                  <a:pt x="168707" y="442684"/>
                  <a:pt x="172593" y="445770"/>
                  <a:pt x="180365" y="448514"/>
                </a:cubicBezTo>
                <a:cubicBezTo>
                  <a:pt x="194081" y="453543"/>
                  <a:pt x="205511" y="459029"/>
                  <a:pt x="214655" y="464973"/>
                </a:cubicBezTo>
                <a:cubicBezTo>
                  <a:pt x="229743" y="438912"/>
                  <a:pt x="241173" y="409880"/>
                  <a:pt x="248945" y="377876"/>
                </a:cubicBezTo>
                <a:close/>
                <a:moveTo>
                  <a:pt x="178994" y="307925"/>
                </a:moveTo>
                <a:cubicBezTo>
                  <a:pt x="183566" y="307925"/>
                  <a:pt x="190652" y="311125"/>
                  <a:pt x="200253" y="317526"/>
                </a:cubicBezTo>
                <a:cubicBezTo>
                  <a:pt x="209855" y="323927"/>
                  <a:pt x="214655" y="329642"/>
                  <a:pt x="214655" y="334671"/>
                </a:cubicBezTo>
                <a:cubicBezTo>
                  <a:pt x="214655" y="339700"/>
                  <a:pt x="213284" y="343815"/>
                  <a:pt x="210540" y="347015"/>
                </a:cubicBezTo>
                <a:cubicBezTo>
                  <a:pt x="207797" y="350216"/>
                  <a:pt x="203454" y="358445"/>
                  <a:pt x="197510" y="371704"/>
                </a:cubicBezTo>
                <a:lnTo>
                  <a:pt x="251688" y="362103"/>
                </a:lnTo>
                <a:cubicBezTo>
                  <a:pt x="253060" y="354788"/>
                  <a:pt x="253403" y="349415"/>
                  <a:pt x="252717" y="345986"/>
                </a:cubicBezTo>
                <a:cubicBezTo>
                  <a:pt x="252031" y="342557"/>
                  <a:pt x="251688" y="339929"/>
                  <a:pt x="251688" y="338100"/>
                </a:cubicBezTo>
                <a:cubicBezTo>
                  <a:pt x="251688" y="332613"/>
                  <a:pt x="253974" y="329870"/>
                  <a:pt x="258546" y="329870"/>
                </a:cubicBezTo>
                <a:cubicBezTo>
                  <a:pt x="263118" y="329870"/>
                  <a:pt x="270891" y="332728"/>
                  <a:pt x="281864" y="338443"/>
                </a:cubicBezTo>
                <a:cubicBezTo>
                  <a:pt x="292836" y="344158"/>
                  <a:pt x="298323" y="349073"/>
                  <a:pt x="298323" y="353187"/>
                </a:cubicBezTo>
                <a:cubicBezTo>
                  <a:pt x="298323" y="357302"/>
                  <a:pt x="296265" y="362789"/>
                  <a:pt x="292151" y="369647"/>
                </a:cubicBezTo>
                <a:cubicBezTo>
                  <a:pt x="288036" y="376505"/>
                  <a:pt x="282892" y="389192"/>
                  <a:pt x="276720" y="407708"/>
                </a:cubicBezTo>
                <a:cubicBezTo>
                  <a:pt x="270548" y="426225"/>
                  <a:pt x="258089" y="449885"/>
                  <a:pt x="239344" y="478689"/>
                </a:cubicBezTo>
                <a:cubicBezTo>
                  <a:pt x="258546" y="489662"/>
                  <a:pt x="271805" y="499606"/>
                  <a:pt x="279120" y="508521"/>
                </a:cubicBezTo>
                <a:cubicBezTo>
                  <a:pt x="286436" y="517436"/>
                  <a:pt x="290093" y="526923"/>
                  <a:pt x="290093" y="536982"/>
                </a:cubicBezTo>
                <a:cubicBezTo>
                  <a:pt x="290093" y="547497"/>
                  <a:pt x="287693" y="552755"/>
                  <a:pt x="282892" y="552755"/>
                </a:cubicBezTo>
                <a:cubicBezTo>
                  <a:pt x="278092" y="552755"/>
                  <a:pt x="273405" y="550241"/>
                  <a:pt x="268833" y="545211"/>
                </a:cubicBezTo>
                <a:cubicBezTo>
                  <a:pt x="250088" y="526009"/>
                  <a:pt x="235001" y="511150"/>
                  <a:pt x="223571" y="500634"/>
                </a:cubicBezTo>
                <a:cubicBezTo>
                  <a:pt x="203911" y="522580"/>
                  <a:pt x="178536" y="539954"/>
                  <a:pt x="147447" y="552755"/>
                </a:cubicBezTo>
                <a:cubicBezTo>
                  <a:pt x="116357" y="565557"/>
                  <a:pt x="88697" y="571958"/>
                  <a:pt x="64465" y="571958"/>
                </a:cubicBezTo>
                <a:cubicBezTo>
                  <a:pt x="58521" y="571958"/>
                  <a:pt x="55550" y="570472"/>
                  <a:pt x="55550" y="567500"/>
                </a:cubicBezTo>
                <a:cubicBezTo>
                  <a:pt x="55550" y="564528"/>
                  <a:pt x="58293" y="562356"/>
                  <a:pt x="63779" y="560985"/>
                </a:cubicBezTo>
                <a:cubicBezTo>
                  <a:pt x="129159" y="539039"/>
                  <a:pt x="175336" y="513207"/>
                  <a:pt x="202311" y="483489"/>
                </a:cubicBezTo>
                <a:cubicBezTo>
                  <a:pt x="182194" y="469773"/>
                  <a:pt x="167106" y="460858"/>
                  <a:pt x="157048" y="456743"/>
                </a:cubicBezTo>
                <a:cubicBezTo>
                  <a:pt x="146990" y="452628"/>
                  <a:pt x="141960" y="448056"/>
                  <a:pt x="141960" y="443027"/>
                </a:cubicBezTo>
                <a:cubicBezTo>
                  <a:pt x="141960" y="440741"/>
                  <a:pt x="143789" y="435712"/>
                  <a:pt x="147447" y="427940"/>
                </a:cubicBezTo>
                <a:cubicBezTo>
                  <a:pt x="151104" y="420167"/>
                  <a:pt x="154533" y="410566"/>
                  <a:pt x="157734" y="399136"/>
                </a:cubicBezTo>
                <a:cubicBezTo>
                  <a:pt x="124815" y="407366"/>
                  <a:pt x="93497" y="416510"/>
                  <a:pt x="63779" y="426568"/>
                </a:cubicBezTo>
                <a:cubicBezTo>
                  <a:pt x="50978" y="430683"/>
                  <a:pt x="41148" y="432740"/>
                  <a:pt x="34290" y="432740"/>
                </a:cubicBezTo>
                <a:cubicBezTo>
                  <a:pt x="27432" y="432740"/>
                  <a:pt x="20002" y="428854"/>
                  <a:pt x="12001" y="421082"/>
                </a:cubicBezTo>
                <a:cubicBezTo>
                  <a:pt x="4000" y="413309"/>
                  <a:pt x="0" y="407137"/>
                  <a:pt x="0" y="402565"/>
                </a:cubicBezTo>
                <a:cubicBezTo>
                  <a:pt x="0" y="397993"/>
                  <a:pt x="4343" y="395707"/>
                  <a:pt x="13030" y="395707"/>
                </a:cubicBezTo>
                <a:lnTo>
                  <a:pt x="32918" y="396393"/>
                </a:lnTo>
                <a:cubicBezTo>
                  <a:pt x="52121" y="396393"/>
                  <a:pt x="95555" y="390221"/>
                  <a:pt x="163220" y="377876"/>
                </a:cubicBezTo>
                <a:cubicBezTo>
                  <a:pt x="169164" y="358674"/>
                  <a:pt x="172136" y="339243"/>
                  <a:pt x="172136" y="319583"/>
                </a:cubicBezTo>
                <a:cubicBezTo>
                  <a:pt x="172136" y="311811"/>
                  <a:pt x="174422" y="307925"/>
                  <a:pt x="178994" y="307925"/>
                </a:cubicBezTo>
                <a:close/>
                <a:moveTo>
                  <a:pt x="239344" y="231801"/>
                </a:moveTo>
                <a:cubicBezTo>
                  <a:pt x="253060" y="231801"/>
                  <a:pt x="267462" y="235344"/>
                  <a:pt x="282549" y="242431"/>
                </a:cubicBezTo>
                <a:cubicBezTo>
                  <a:pt x="297637" y="249517"/>
                  <a:pt x="305181" y="260604"/>
                  <a:pt x="305181" y="275692"/>
                </a:cubicBezTo>
                <a:cubicBezTo>
                  <a:pt x="305181" y="284379"/>
                  <a:pt x="301980" y="288722"/>
                  <a:pt x="295580" y="288722"/>
                </a:cubicBezTo>
                <a:cubicBezTo>
                  <a:pt x="290093" y="288722"/>
                  <a:pt x="278092" y="280493"/>
                  <a:pt x="259575" y="264033"/>
                </a:cubicBezTo>
                <a:cubicBezTo>
                  <a:pt x="241058" y="247574"/>
                  <a:pt x="231800" y="238087"/>
                  <a:pt x="231800" y="235573"/>
                </a:cubicBezTo>
                <a:cubicBezTo>
                  <a:pt x="231800" y="233058"/>
                  <a:pt x="234315" y="231801"/>
                  <a:pt x="239344" y="231801"/>
                </a:cubicBezTo>
                <a:close/>
                <a:moveTo>
                  <a:pt x="116586" y="106985"/>
                </a:moveTo>
                <a:cubicBezTo>
                  <a:pt x="131216" y="106985"/>
                  <a:pt x="142646" y="110300"/>
                  <a:pt x="150876" y="116929"/>
                </a:cubicBezTo>
                <a:cubicBezTo>
                  <a:pt x="159105" y="123559"/>
                  <a:pt x="163220" y="132703"/>
                  <a:pt x="163220" y="144361"/>
                </a:cubicBezTo>
                <a:cubicBezTo>
                  <a:pt x="163220" y="156020"/>
                  <a:pt x="159677" y="161849"/>
                  <a:pt x="152590" y="161849"/>
                </a:cubicBezTo>
                <a:cubicBezTo>
                  <a:pt x="145504" y="161849"/>
                  <a:pt x="135788" y="154763"/>
                  <a:pt x="123444" y="140589"/>
                </a:cubicBezTo>
                <a:cubicBezTo>
                  <a:pt x="111099" y="126416"/>
                  <a:pt x="104927" y="117272"/>
                  <a:pt x="104927" y="113157"/>
                </a:cubicBezTo>
                <a:cubicBezTo>
                  <a:pt x="104927" y="109043"/>
                  <a:pt x="108813" y="106985"/>
                  <a:pt x="116586" y="106985"/>
                </a:cubicBezTo>
                <a:close/>
                <a:moveTo>
                  <a:pt x="291465" y="57608"/>
                </a:moveTo>
                <a:cubicBezTo>
                  <a:pt x="297408" y="57608"/>
                  <a:pt x="305638" y="61608"/>
                  <a:pt x="316154" y="69609"/>
                </a:cubicBezTo>
                <a:cubicBezTo>
                  <a:pt x="326669" y="77610"/>
                  <a:pt x="331927" y="83897"/>
                  <a:pt x="331927" y="88469"/>
                </a:cubicBezTo>
                <a:cubicBezTo>
                  <a:pt x="331927" y="92583"/>
                  <a:pt x="327926" y="96927"/>
                  <a:pt x="319925" y="101499"/>
                </a:cubicBezTo>
                <a:cubicBezTo>
                  <a:pt x="311924" y="106071"/>
                  <a:pt x="290779" y="120015"/>
                  <a:pt x="256489" y="143333"/>
                </a:cubicBezTo>
                <a:cubicBezTo>
                  <a:pt x="252831" y="146076"/>
                  <a:pt x="249974" y="147447"/>
                  <a:pt x="247916" y="147447"/>
                </a:cubicBezTo>
                <a:cubicBezTo>
                  <a:pt x="245859" y="147447"/>
                  <a:pt x="244830" y="146419"/>
                  <a:pt x="244830" y="144361"/>
                </a:cubicBezTo>
                <a:cubicBezTo>
                  <a:pt x="244830" y="142304"/>
                  <a:pt x="245745" y="140132"/>
                  <a:pt x="247574" y="137846"/>
                </a:cubicBezTo>
                <a:cubicBezTo>
                  <a:pt x="260375" y="120930"/>
                  <a:pt x="268948" y="108242"/>
                  <a:pt x="273291" y="99784"/>
                </a:cubicBezTo>
                <a:cubicBezTo>
                  <a:pt x="277634" y="91326"/>
                  <a:pt x="280263" y="82182"/>
                  <a:pt x="281178" y="72352"/>
                </a:cubicBezTo>
                <a:cubicBezTo>
                  <a:pt x="282092" y="62522"/>
                  <a:pt x="285521" y="57608"/>
                  <a:pt x="291465" y="57608"/>
                </a:cubicBezTo>
                <a:close/>
                <a:moveTo>
                  <a:pt x="417652" y="39778"/>
                </a:moveTo>
                <a:cubicBezTo>
                  <a:pt x="424967" y="39778"/>
                  <a:pt x="435483" y="43893"/>
                  <a:pt x="449199" y="52122"/>
                </a:cubicBezTo>
                <a:cubicBezTo>
                  <a:pt x="462915" y="60352"/>
                  <a:pt x="469773" y="68581"/>
                  <a:pt x="469773" y="76811"/>
                </a:cubicBezTo>
                <a:cubicBezTo>
                  <a:pt x="469773" y="81383"/>
                  <a:pt x="467487" y="85955"/>
                  <a:pt x="462915" y="90527"/>
                </a:cubicBezTo>
                <a:cubicBezTo>
                  <a:pt x="455600" y="100128"/>
                  <a:pt x="444055" y="121388"/>
                  <a:pt x="428282" y="154306"/>
                </a:cubicBezTo>
                <a:cubicBezTo>
                  <a:pt x="412508" y="187225"/>
                  <a:pt x="397078" y="214885"/>
                  <a:pt x="381990" y="237288"/>
                </a:cubicBezTo>
                <a:cubicBezTo>
                  <a:pt x="402107" y="235002"/>
                  <a:pt x="431254" y="226201"/>
                  <a:pt x="469430" y="210885"/>
                </a:cubicBezTo>
                <a:cubicBezTo>
                  <a:pt x="507606" y="195569"/>
                  <a:pt x="531609" y="187911"/>
                  <a:pt x="541439" y="187911"/>
                </a:cubicBezTo>
                <a:cubicBezTo>
                  <a:pt x="551269" y="187911"/>
                  <a:pt x="559155" y="189511"/>
                  <a:pt x="565099" y="192711"/>
                </a:cubicBezTo>
                <a:cubicBezTo>
                  <a:pt x="571043" y="195912"/>
                  <a:pt x="574014" y="198998"/>
                  <a:pt x="574014" y="201969"/>
                </a:cubicBezTo>
                <a:cubicBezTo>
                  <a:pt x="574014" y="204941"/>
                  <a:pt x="571500" y="208027"/>
                  <a:pt x="566471" y="211228"/>
                </a:cubicBezTo>
                <a:cubicBezTo>
                  <a:pt x="561441" y="214428"/>
                  <a:pt x="547268" y="219572"/>
                  <a:pt x="523951" y="226658"/>
                </a:cubicBezTo>
                <a:cubicBezTo>
                  <a:pt x="500634" y="233745"/>
                  <a:pt x="471830" y="240031"/>
                  <a:pt x="437540" y="245518"/>
                </a:cubicBezTo>
                <a:cubicBezTo>
                  <a:pt x="464972" y="262434"/>
                  <a:pt x="478688" y="274779"/>
                  <a:pt x="478688" y="282551"/>
                </a:cubicBezTo>
                <a:cubicBezTo>
                  <a:pt x="478688" y="284837"/>
                  <a:pt x="477431" y="287580"/>
                  <a:pt x="474916" y="290781"/>
                </a:cubicBezTo>
                <a:cubicBezTo>
                  <a:pt x="472402" y="293981"/>
                  <a:pt x="470230" y="299124"/>
                  <a:pt x="468401" y="306211"/>
                </a:cubicBezTo>
                <a:cubicBezTo>
                  <a:pt x="466572" y="313298"/>
                  <a:pt x="464058" y="325299"/>
                  <a:pt x="460857" y="342216"/>
                </a:cubicBezTo>
                <a:cubicBezTo>
                  <a:pt x="455828" y="369648"/>
                  <a:pt x="447370" y="396622"/>
                  <a:pt x="435483" y="423140"/>
                </a:cubicBezTo>
                <a:cubicBezTo>
                  <a:pt x="460629" y="452401"/>
                  <a:pt x="485889" y="475604"/>
                  <a:pt x="511264" y="492749"/>
                </a:cubicBezTo>
                <a:cubicBezTo>
                  <a:pt x="536638" y="509894"/>
                  <a:pt x="568985" y="523724"/>
                  <a:pt x="608304" y="534240"/>
                </a:cubicBezTo>
                <a:cubicBezTo>
                  <a:pt x="617448" y="536526"/>
                  <a:pt x="622020" y="539154"/>
                  <a:pt x="622020" y="542126"/>
                </a:cubicBezTo>
                <a:cubicBezTo>
                  <a:pt x="622020" y="545098"/>
                  <a:pt x="620420" y="547270"/>
                  <a:pt x="617220" y="548641"/>
                </a:cubicBezTo>
                <a:cubicBezTo>
                  <a:pt x="614019" y="550013"/>
                  <a:pt x="602246" y="551842"/>
                  <a:pt x="581901" y="554128"/>
                </a:cubicBezTo>
                <a:cubicBezTo>
                  <a:pt x="561556" y="556414"/>
                  <a:pt x="546125" y="557557"/>
                  <a:pt x="535610" y="557557"/>
                </a:cubicBezTo>
                <a:cubicBezTo>
                  <a:pt x="512750" y="557557"/>
                  <a:pt x="497090" y="551270"/>
                  <a:pt x="488632" y="538697"/>
                </a:cubicBezTo>
                <a:cubicBezTo>
                  <a:pt x="480174" y="526124"/>
                  <a:pt x="457657" y="495606"/>
                  <a:pt x="421081" y="447143"/>
                </a:cubicBezTo>
                <a:cubicBezTo>
                  <a:pt x="401421" y="473661"/>
                  <a:pt x="378904" y="492520"/>
                  <a:pt x="353530" y="503721"/>
                </a:cubicBezTo>
                <a:cubicBezTo>
                  <a:pt x="328155" y="514923"/>
                  <a:pt x="311810" y="520524"/>
                  <a:pt x="304495" y="520524"/>
                </a:cubicBezTo>
                <a:cubicBezTo>
                  <a:pt x="301295" y="520524"/>
                  <a:pt x="299694" y="519495"/>
                  <a:pt x="299694" y="517437"/>
                </a:cubicBezTo>
                <a:cubicBezTo>
                  <a:pt x="299694" y="515380"/>
                  <a:pt x="301752" y="513208"/>
                  <a:pt x="305867" y="510922"/>
                </a:cubicBezTo>
                <a:cubicBezTo>
                  <a:pt x="332841" y="494463"/>
                  <a:pt x="353301" y="479490"/>
                  <a:pt x="367246" y="466002"/>
                </a:cubicBezTo>
                <a:cubicBezTo>
                  <a:pt x="381190" y="452515"/>
                  <a:pt x="392963" y="437085"/>
                  <a:pt x="402564" y="419711"/>
                </a:cubicBezTo>
                <a:cubicBezTo>
                  <a:pt x="399364" y="415596"/>
                  <a:pt x="390106" y="401766"/>
                  <a:pt x="374789" y="378220"/>
                </a:cubicBezTo>
                <a:cubicBezTo>
                  <a:pt x="359473" y="354674"/>
                  <a:pt x="345872" y="338787"/>
                  <a:pt x="333984" y="330557"/>
                </a:cubicBezTo>
                <a:cubicBezTo>
                  <a:pt x="330327" y="328271"/>
                  <a:pt x="328498" y="325413"/>
                  <a:pt x="328498" y="321984"/>
                </a:cubicBezTo>
                <a:cubicBezTo>
                  <a:pt x="328498" y="318555"/>
                  <a:pt x="333756" y="316841"/>
                  <a:pt x="344271" y="316841"/>
                </a:cubicBezTo>
                <a:cubicBezTo>
                  <a:pt x="354787" y="316841"/>
                  <a:pt x="365760" y="326099"/>
                  <a:pt x="377190" y="344616"/>
                </a:cubicBezTo>
                <a:cubicBezTo>
                  <a:pt x="388620" y="363132"/>
                  <a:pt x="400507" y="380392"/>
                  <a:pt x="412851" y="396394"/>
                </a:cubicBezTo>
                <a:cubicBezTo>
                  <a:pt x="424739" y="363018"/>
                  <a:pt x="430682" y="327128"/>
                  <a:pt x="430682" y="288723"/>
                </a:cubicBezTo>
                <a:cubicBezTo>
                  <a:pt x="430682" y="272264"/>
                  <a:pt x="429311" y="258548"/>
                  <a:pt x="426567" y="247575"/>
                </a:cubicBezTo>
                <a:cubicBezTo>
                  <a:pt x="412394" y="249861"/>
                  <a:pt x="401307" y="251004"/>
                  <a:pt x="393306" y="251004"/>
                </a:cubicBezTo>
                <a:cubicBezTo>
                  <a:pt x="385305" y="251004"/>
                  <a:pt x="379019" y="250318"/>
                  <a:pt x="374447" y="248947"/>
                </a:cubicBezTo>
                <a:cubicBezTo>
                  <a:pt x="363474" y="265406"/>
                  <a:pt x="351358" y="280151"/>
                  <a:pt x="338099" y="293181"/>
                </a:cubicBezTo>
                <a:cubicBezTo>
                  <a:pt x="324840" y="306211"/>
                  <a:pt x="316954" y="312726"/>
                  <a:pt x="314439" y="312726"/>
                </a:cubicBezTo>
                <a:cubicBezTo>
                  <a:pt x="311924" y="312726"/>
                  <a:pt x="310667" y="311583"/>
                  <a:pt x="310667" y="309297"/>
                </a:cubicBezTo>
                <a:cubicBezTo>
                  <a:pt x="310667" y="307011"/>
                  <a:pt x="311810" y="304039"/>
                  <a:pt x="314096" y="300382"/>
                </a:cubicBezTo>
                <a:cubicBezTo>
                  <a:pt x="350215" y="245518"/>
                  <a:pt x="375361" y="197169"/>
                  <a:pt x="389534" y="155335"/>
                </a:cubicBezTo>
                <a:cubicBezTo>
                  <a:pt x="403707" y="113501"/>
                  <a:pt x="410794" y="85269"/>
                  <a:pt x="410794" y="70639"/>
                </a:cubicBezTo>
                <a:cubicBezTo>
                  <a:pt x="410794" y="66981"/>
                  <a:pt x="410108" y="63438"/>
                  <a:pt x="408737" y="60009"/>
                </a:cubicBezTo>
                <a:cubicBezTo>
                  <a:pt x="407365" y="56580"/>
                  <a:pt x="406679" y="53265"/>
                  <a:pt x="406679" y="50065"/>
                </a:cubicBezTo>
                <a:cubicBezTo>
                  <a:pt x="406679" y="43207"/>
                  <a:pt x="410337" y="39778"/>
                  <a:pt x="417652" y="39778"/>
                </a:cubicBezTo>
                <a:close/>
                <a:moveTo>
                  <a:pt x="188938" y="0"/>
                </a:moveTo>
                <a:cubicBezTo>
                  <a:pt x="195110" y="0"/>
                  <a:pt x="204825" y="2972"/>
                  <a:pt x="218084" y="8916"/>
                </a:cubicBezTo>
                <a:cubicBezTo>
                  <a:pt x="231343" y="14859"/>
                  <a:pt x="237972" y="21260"/>
                  <a:pt x="237972" y="28118"/>
                </a:cubicBezTo>
                <a:cubicBezTo>
                  <a:pt x="237972" y="31319"/>
                  <a:pt x="236829" y="35890"/>
                  <a:pt x="234543" y="41834"/>
                </a:cubicBezTo>
                <a:cubicBezTo>
                  <a:pt x="232257" y="47778"/>
                  <a:pt x="230314" y="58179"/>
                  <a:pt x="228714" y="73038"/>
                </a:cubicBezTo>
                <a:cubicBezTo>
                  <a:pt x="227114" y="87897"/>
                  <a:pt x="224942" y="125273"/>
                  <a:pt x="222199" y="185166"/>
                </a:cubicBezTo>
                <a:cubicBezTo>
                  <a:pt x="271577" y="173736"/>
                  <a:pt x="299580" y="168021"/>
                  <a:pt x="306209" y="168021"/>
                </a:cubicBezTo>
                <a:cubicBezTo>
                  <a:pt x="312839" y="168021"/>
                  <a:pt x="317411" y="169279"/>
                  <a:pt x="319925" y="171793"/>
                </a:cubicBezTo>
                <a:cubicBezTo>
                  <a:pt x="322440" y="174308"/>
                  <a:pt x="323697" y="176708"/>
                  <a:pt x="323697" y="178994"/>
                </a:cubicBezTo>
                <a:cubicBezTo>
                  <a:pt x="323697" y="185852"/>
                  <a:pt x="316154" y="191110"/>
                  <a:pt x="301066" y="194768"/>
                </a:cubicBezTo>
                <a:cubicBezTo>
                  <a:pt x="285978" y="198425"/>
                  <a:pt x="259461" y="203454"/>
                  <a:pt x="221513" y="209855"/>
                </a:cubicBezTo>
                <a:cubicBezTo>
                  <a:pt x="219684" y="249174"/>
                  <a:pt x="217970" y="274892"/>
                  <a:pt x="216370" y="287008"/>
                </a:cubicBezTo>
                <a:cubicBezTo>
                  <a:pt x="214769" y="299123"/>
                  <a:pt x="211912" y="305181"/>
                  <a:pt x="207797" y="305181"/>
                </a:cubicBezTo>
                <a:cubicBezTo>
                  <a:pt x="203682" y="305181"/>
                  <a:pt x="200025" y="301524"/>
                  <a:pt x="196824" y="294209"/>
                </a:cubicBezTo>
                <a:cubicBezTo>
                  <a:pt x="193624" y="286893"/>
                  <a:pt x="192024" y="275692"/>
                  <a:pt x="192024" y="260604"/>
                </a:cubicBezTo>
                <a:cubicBezTo>
                  <a:pt x="192024" y="245517"/>
                  <a:pt x="192481" y="230201"/>
                  <a:pt x="193395" y="214656"/>
                </a:cubicBezTo>
                <a:cubicBezTo>
                  <a:pt x="182423" y="237059"/>
                  <a:pt x="166535" y="258433"/>
                  <a:pt x="145732" y="278778"/>
                </a:cubicBezTo>
                <a:cubicBezTo>
                  <a:pt x="124930" y="299123"/>
                  <a:pt x="103441" y="315354"/>
                  <a:pt x="81267" y="327470"/>
                </a:cubicBezTo>
                <a:cubicBezTo>
                  <a:pt x="59093" y="339586"/>
                  <a:pt x="44577" y="345644"/>
                  <a:pt x="37719" y="345644"/>
                </a:cubicBezTo>
                <a:cubicBezTo>
                  <a:pt x="36347" y="345644"/>
                  <a:pt x="35661" y="344958"/>
                  <a:pt x="35661" y="343586"/>
                </a:cubicBezTo>
                <a:cubicBezTo>
                  <a:pt x="35661" y="342215"/>
                  <a:pt x="37490" y="340157"/>
                  <a:pt x="41148" y="337414"/>
                </a:cubicBezTo>
                <a:cubicBezTo>
                  <a:pt x="95555" y="297180"/>
                  <a:pt x="133731" y="258090"/>
                  <a:pt x="155676" y="220142"/>
                </a:cubicBezTo>
                <a:cubicBezTo>
                  <a:pt x="133274" y="222885"/>
                  <a:pt x="117043" y="224257"/>
                  <a:pt x="106985" y="224257"/>
                </a:cubicBezTo>
                <a:cubicBezTo>
                  <a:pt x="96926" y="224257"/>
                  <a:pt x="88697" y="223114"/>
                  <a:pt x="82296" y="220828"/>
                </a:cubicBezTo>
                <a:cubicBezTo>
                  <a:pt x="75895" y="218542"/>
                  <a:pt x="72695" y="216027"/>
                  <a:pt x="72695" y="213284"/>
                </a:cubicBezTo>
                <a:cubicBezTo>
                  <a:pt x="72695" y="210541"/>
                  <a:pt x="77038" y="208941"/>
                  <a:pt x="85725" y="208484"/>
                </a:cubicBezTo>
                <a:cubicBezTo>
                  <a:pt x="105842" y="207569"/>
                  <a:pt x="142189" y="201626"/>
                  <a:pt x="194767" y="190653"/>
                </a:cubicBezTo>
                <a:cubicBezTo>
                  <a:pt x="196139" y="167336"/>
                  <a:pt x="196824" y="144247"/>
                  <a:pt x="196824" y="121387"/>
                </a:cubicBezTo>
                <a:cubicBezTo>
                  <a:pt x="196824" y="65151"/>
                  <a:pt x="193395" y="32462"/>
                  <a:pt x="186537" y="23318"/>
                </a:cubicBezTo>
                <a:cubicBezTo>
                  <a:pt x="181965" y="16917"/>
                  <a:pt x="179679" y="11430"/>
                  <a:pt x="179679" y="6858"/>
                </a:cubicBezTo>
                <a:cubicBezTo>
                  <a:pt x="179679" y="2286"/>
                  <a:pt x="182765" y="0"/>
                  <a:pt x="18893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>
            <a:off x="1720264" y="2685502"/>
            <a:ext cx="572643" cy="567157"/>
          </a:xfrm>
          <a:custGeom>
            <a:avLst/>
            <a:gdLst>
              <a:gd name="csX0" fmla="*/ 387134 w 572643"/>
              <a:gd name="csY0" fmla="*/ 319583 h 567157"/>
              <a:gd name="csX1" fmla="*/ 423481 w 572643"/>
              <a:gd name="csY1" fmla="*/ 326098 h 567157"/>
              <a:gd name="csX2" fmla="*/ 433426 w 572643"/>
              <a:gd name="csY2" fmla="*/ 338785 h 567157"/>
              <a:gd name="csX3" fmla="*/ 413537 w 572643"/>
              <a:gd name="csY3" fmla="*/ 349415 h 567157"/>
              <a:gd name="csX4" fmla="*/ 305867 w 572643"/>
              <a:gd name="csY4" fmla="*/ 360045 h 567157"/>
              <a:gd name="csX5" fmla="*/ 302438 w 572643"/>
              <a:gd name="csY5" fmla="*/ 417652 h 567157"/>
              <a:gd name="csX6" fmla="*/ 367589 w 572643"/>
              <a:gd name="csY6" fmla="*/ 407365 h 567157"/>
              <a:gd name="csX7" fmla="*/ 393992 w 572643"/>
              <a:gd name="csY7" fmla="*/ 411823 h 567157"/>
              <a:gd name="csX8" fmla="*/ 404622 w 572643"/>
              <a:gd name="csY8" fmla="*/ 422453 h 567157"/>
              <a:gd name="csX9" fmla="*/ 394335 w 572643"/>
              <a:gd name="csY9" fmla="*/ 433769 h 567157"/>
              <a:gd name="csX10" fmla="*/ 301066 w 572643"/>
              <a:gd name="csY10" fmla="*/ 447142 h 567157"/>
              <a:gd name="csX11" fmla="*/ 299694 w 572643"/>
              <a:gd name="csY11" fmla="*/ 512979 h 567157"/>
              <a:gd name="csX12" fmla="*/ 435826 w 572643"/>
              <a:gd name="csY12" fmla="*/ 500291 h 567157"/>
              <a:gd name="csX13" fmla="*/ 485546 w 572643"/>
              <a:gd name="csY13" fmla="*/ 495834 h 567157"/>
              <a:gd name="csX14" fmla="*/ 550697 w 572643"/>
              <a:gd name="csY14" fmla="*/ 509207 h 567157"/>
              <a:gd name="csX15" fmla="*/ 572643 w 572643"/>
              <a:gd name="csY15" fmla="*/ 535610 h 567157"/>
              <a:gd name="csX16" fmla="*/ 544525 w 572643"/>
              <a:gd name="csY16" fmla="*/ 550698 h 567157"/>
              <a:gd name="csX17" fmla="*/ 521894 w 572643"/>
              <a:gd name="csY17" fmla="*/ 547954 h 567157"/>
              <a:gd name="csX18" fmla="*/ 385077 w 572643"/>
              <a:gd name="csY18" fmla="*/ 540411 h 567157"/>
              <a:gd name="csX19" fmla="*/ 199225 w 572643"/>
              <a:gd name="csY19" fmla="*/ 548640 h 567157"/>
              <a:gd name="csX20" fmla="*/ 78867 w 572643"/>
              <a:gd name="csY20" fmla="*/ 563728 h 567157"/>
              <a:gd name="csX21" fmla="*/ 44577 w 572643"/>
              <a:gd name="csY21" fmla="*/ 567157 h 567157"/>
              <a:gd name="csX22" fmla="*/ 14059 w 572643"/>
              <a:gd name="csY22" fmla="*/ 555841 h 567157"/>
              <a:gd name="csX23" fmla="*/ 0 w 572643"/>
              <a:gd name="csY23" fmla="*/ 538696 h 567157"/>
              <a:gd name="csX24" fmla="*/ 4115 w 572643"/>
              <a:gd name="csY24" fmla="*/ 531495 h 567157"/>
              <a:gd name="csX25" fmla="*/ 19888 w 572643"/>
              <a:gd name="csY25" fmla="*/ 530124 h 567157"/>
              <a:gd name="csX26" fmla="*/ 262661 w 572643"/>
              <a:gd name="csY26" fmla="*/ 515722 h 567157"/>
              <a:gd name="csX27" fmla="*/ 265404 w 572643"/>
              <a:gd name="csY27" fmla="*/ 451257 h 567157"/>
              <a:gd name="csX28" fmla="*/ 242773 w 572643"/>
              <a:gd name="csY28" fmla="*/ 454000 h 567157"/>
              <a:gd name="csX29" fmla="*/ 196139 w 572643"/>
              <a:gd name="csY29" fmla="*/ 459486 h 567157"/>
              <a:gd name="csX30" fmla="*/ 166992 w 572643"/>
              <a:gd name="csY30" fmla="*/ 453657 h 567157"/>
              <a:gd name="csX31" fmla="*/ 156362 w 572643"/>
              <a:gd name="csY31" fmla="*/ 443027 h 567157"/>
              <a:gd name="csX32" fmla="*/ 170764 w 572643"/>
              <a:gd name="csY32" fmla="*/ 436855 h 567157"/>
              <a:gd name="csX33" fmla="*/ 265404 w 572643"/>
              <a:gd name="csY33" fmla="*/ 424510 h 567157"/>
              <a:gd name="csX34" fmla="*/ 264719 w 572643"/>
              <a:gd name="csY34" fmla="*/ 364846 h 567157"/>
              <a:gd name="csX35" fmla="*/ 196824 w 572643"/>
              <a:gd name="csY35" fmla="*/ 372390 h 567157"/>
              <a:gd name="csX36" fmla="*/ 156705 w 572643"/>
              <a:gd name="csY36" fmla="*/ 367246 h 567157"/>
              <a:gd name="csX37" fmla="*/ 141960 w 572643"/>
              <a:gd name="csY37" fmla="*/ 356273 h 567157"/>
              <a:gd name="csX38" fmla="*/ 151562 w 572643"/>
              <a:gd name="csY38" fmla="*/ 350444 h 567157"/>
              <a:gd name="csX39" fmla="*/ 236258 w 572643"/>
              <a:gd name="csY39" fmla="*/ 343243 h 567157"/>
              <a:gd name="csX40" fmla="*/ 316839 w 572643"/>
              <a:gd name="csY40" fmla="*/ 329184 h 567157"/>
              <a:gd name="csX41" fmla="*/ 387134 w 572643"/>
              <a:gd name="csY41" fmla="*/ 319583 h 567157"/>
              <a:gd name="csX42" fmla="*/ 381305 w 572643"/>
              <a:gd name="csY42" fmla="*/ 132360 h 567157"/>
              <a:gd name="csX43" fmla="*/ 286664 w 572643"/>
              <a:gd name="csY43" fmla="*/ 141961 h 567157"/>
              <a:gd name="csX44" fmla="*/ 167335 w 572643"/>
              <a:gd name="csY44" fmla="*/ 155677 h 567157"/>
              <a:gd name="csX45" fmla="*/ 181737 w 572643"/>
              <a:gd name="csY45" fmla="*/ 202997 h 567157"/>
              <a:gd name="csX46" fmla="*/ 232486 w 572643"/>
              <a:gd name="csY46" fmla="*/ 197511 h 567157"/>
              <a:gd name="csX47" fmla="*/ 280492 w 572643"/>
              <a:gd name="csY47" fmla="*/ 185852 h 567157"/>
              <a:gd name="csX48" fmla="*/ 315125 w 572643"/>
              <a:gd name="csY48" fmla="*/ 180366 h 567157"/>
              <a:gd name="csX49" fmla="*/ 342557 w 572643"/>
              <a:gd name="csY49" fmla="*/ 186195 h 567157"/>
              <a:gd name="csX50" fmla="*/ 351129 w 572643"/>
              <a:gd name="csY50" fmla="*/ 196825 h 567157"/>
              <a:gd name="csX51" fmla="*/ 345986 w 572643"/>
              <a:gd name="csY51" fmla="*/ 204026 h 567157"/>
              <a:gd name="csX52" fmla="*/ 294894 w 572643"/>
              <a:gd name="csY52" fmla="*/ 212941 h 567157"/>
              <a:gd name="csX53" fmla="*/ 223914 w 572643"/>
              <a:gd name="csY53" fmla="*/ 219456 h 567157"/>
              <a:gd name="csX54" fmla="*/ 185852 w 572643"/>
              <a:gd name="csY54" fmla="*/ 217399 h 567157"/>
              <a:gd name="csX55" fmla="*/ 200253 w 572643"/>
              <a:gd name="csY55" fmla="*/ 279121 h 567157"/>
              <a:gd name="csX56" fmla="*/ 342900 w 572643"/>
              <a:gd name="csY56" fmla="*/ 259233 h 567157"/>
              <a:gd name="csX57" fmla="*/ 351815 w 572643"/>
              <a:gd name="csY57" fmla="*/ 260947 h 567157"/>
              <a:gd name="csX58" fmla="*/ 360045 w 572643"/>
              <a:gd name="csY58" fmla="*/ 262662 h 567157"/>
              <a:gd name="csX59" fmla="*/ 368274 w 572643"/>
              <a:gd name="csY59" fmla="*/ 258547 h 567157"/>
              <a:gd name="csX60" fmla="*/ 383705 w 572643"/>
              <a:gd name="csY60" fmla="*/ 231458 h 567157"/>
              <a:gd name="csX61" fmla="*/ 402565 w 572643"/>
              <a:gd name="csY61" fmla="*/ 180023 h 567157"/>
              <a:gd name="csX62" fmla="*/ 410108 w 572643"/>
              <a:gd name="csY62" fmla="*/ 143675 h 567157"/>
              <a:gd name="csX63" fmla="*/ 402222 w 572643"/>
              <a:gd name="csY63" fmla="*/ 134074 h 567157"/>
              <a:gd name="csX64" fmla="*/ 381305 w 572643"/>
              <a:gd name="csY64" fmla="*/ 132360 h 567157"/>
              <a:gd name="csX65" fmla="*/ 276377 w 572643"/>
              <a:gd name="csY65" fmla="*/ 0 h 567157"/>
              <a:gd name="csX66" fmla="*/ 314096 w 572643"/>
              <a:gd name="csY66" fmla="*/ 11659 h 567157"/>
              <a:gd name="csX67" fmla="*/ 339471 w 572643"/>
              <a:gd name="csY67" fmla="*/ 32919 h 567157"/>
              <a:gd name="csX68" fmla="*/ 329870 w 572643"/>
              <a:gd name="csY68" fmla="*/ 43206 h 567157"/>
              <a:gd name="csX69" fmla="*/ 283235 w 572643"/>
              <a:gd name="csY69" fmla="*/ 73724 h 567157"/>
              <a:gd name="csX70" fmla="*/ 217399 w 572643"/>
              <a:gd name="csY70" fmla="*/ 133731 h 567157"/>
              <a:gd name="csX71" fmla="*/ 328498 w 572643"/>
              <a:gd name="csY71" fmla="*/ 115900 h 567157"/>
              <a:gd name="csX72" fmla="*/ 385420 w 572643"/>
              <a:gd name="csY72" fmla="*/ 105613 h 567157"/>
              <a:gd name="csX73" fmla="*/ 419710 w 572643"/>
              <a:gd name="csY73" fmla="*/ 98070 h 567157"/>
              <a:gd name="csX74" fmla="*/ 459829 w 572643"/>
              <a:gd name="csY74" fmla="*/ 118986 h 567157"/>
              <a:gd name="csX75" fmla="*/ 488290 w 572643"/>
              <a:gd name="csY75" fmla="*/ 146418 h 567157"/>
              <a:gd name="csX76" fmla="*/ 479031 w 572643"/>
              <a:gd name="csY76" fmla="*/ 160820 h 567157"/>
              <a:gd name="csX77" fmla="*/ 457086 w 572643"/>
              <a:gd name="csY77" fmla="*/ 187224 h 567157"/>
              <a:gd name="csX78" fmla="*/ 434797 w 572643"/>
              <a:gd name="csY78" fmla="*/ 222885 h 567157"/>
              <a:gd name="csX79" fmla="*/ 402565 w 572643"/>
              <a:gd name="csY79" fmla="*/ 270891 h 567157"/>
              <a:gd name="csX80" fmla="*/ 377876 w 572643"/>
              <a:gd name="csY80" fmla="*/ 289408 h 567157"/>
              <a:gd name="csX81" fmla="*/ 361074 w 572643"/>
              <a:gd name="csY81" fmla="*/ 283921 h 567157"/>
              <a:gd name="csX82" fmla="*/ 344271 w 572643"/>
              <a:gd name="csY82" fmla="*/ 278435 h 567157"/>
              <a:gd name="csX83" fmla="*/ 284607 w 572643"/>
              <a:gd name="csY83" fmla="*/ 284607 h 567157"/>
              <a:gd name="csX84" fmla="*/ 201625 w 572643"/>
              <a:gd name="csY84" fmla="*/ 296266 h 567157"/>
              <a:gd name="csX85" fmla="*/ 191338 w 572643"/>
              <a:gd name="csY85" fmla="*/ 303810 h 567157"/>
              <a:gd name="csX86" fmla="*/ 163906 w 572643"/>
              <a:gd name="csY86" fmla="*/ 258547 h 567157"/>
              <a:gd name="csX87" fmla="*/ 115900 w 572643"/>
              <a:gd name="csY87" fmla="*/ 159792 h 567157"/>
              <a:gd name="csX88" fmla="*/ 106299 w 572643"/>
              <a:gd name="csY88" fmla="*/ 144704 h 567157"/>
              <a:gd name="csX89" fmla="*/ 117615 w 572643"/>
              <a:gd name="csY89" fmla="*/ 137846 h 567157"/>
              <a:gd name="csX90" fmla="*/ 141275 w 572643"/>
              <a:gd name="csY90" fmla="*/ 139903 h 567157"/>
              <a:gd name="csX91" fmla="*/ 152933 w 572643"/>
              <a:gd name="csY91" fmla="*/ 141275 h 567157"/>
              <a:gd name="csX92" fmla="*/ 187909 w 572643"/>
              <a:gd name="csY92" fmla="*/ 137846 h 567157"/>
              <a:gd name="csX93" fmla="*/ 225628 w 572643"/>
              <a:gd name="csY93" fmla="*/ 92583 h 567157"/>
              <a:gd name="csX94" fmla="*/ 252717 w 572643"/>
              <a:gd name="csY94" fmla="*/ 52121 h 567157"/>
              <a:gd name="csX95" fmla="*/ 263347 w 572643"/>
              <a:gd name="csY95" fmla="*/ 27775 h 567157"/>
              <a:gd name="csX96" fmla="*/ 264033 w 572643"/>
              <a:gd name="csY96" fmla="*/ 16459 h 567157"/>
              <a:gd name="csX97" fmla="*/ 276377 w 572643"/>
              <a:gd name="csY97" fmla="*/ 0 h 567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</a:cxnLst>
            <a:rect l="l" t="t" r="r" b="b"/>
            <a:pathLst>
              <a:path w="572643" h="567157">
                <a:moveTo>
                  <a:pt x="387134" y="319583"/>
                </a:moveTo>
                <a:cubicBezTo>
                  <a:pt x="404736" y="319583"/>
                  <a:pt x="416852" y="321755"/>
                  <a:pt x="423481" y="326098"/>
                </a:cubicBezTo>
                <a:cubicBezTo>
                  <a:pt x="430111" y="330441"/>
                  <a:pt x="433426" y="334671"/>
                  <a:pt x="433426" y="338785"/>
                </a:cubicBezTo>
                <a:cubicBezTo>
                  <a:pt x="433426" y="342900"/>
                  <a:pt x="426796" y="346443"/>
                  <a:pt x="413537" y="349415"/>
                </a:cubicBezTo>
                <a:cubicBezTo>
                  <a:pt x="400279" y="352387"/>
                  <a:pt x="364388" y="355930"/>
                  <a:pt x="305867" y="360045"/>
                </a:cubicBezTo>
                <a:lnTo>
                  <a:pt x="302438" y="417652"/>
                </a:lnTo>
                <a:cubicBezTo>
                  <a:pt x="335356" y="410794"/>
                  <a:pt x="357073" y="407365"/>
                  <a:pt x="367589" y="407365"/>
                </a:cubicBezTo>
                <a:cubicBezTo>
                  <a:pt x="378104" y="407365"/>
                  <a:pt x="386905" y="408851"/>
                  <a:pt x="393992" y="411823"/>
                </a:cubicBezTo>
                <a:cubicBezTo>
                  <a:pt x="401079" y="414795"/>
                  <a:pt x="404622" y="418338"/>
                  <a:pt x="404622" y="422453"/>
                </a:cubicBezTo>
                <a:cubicBezTo>
                  <a:pt x="404622" y="426568"/>
                  <a:pt x="401193" y="430340"/>
                  <a:pt x="394335" y="433769"/>
                </a:cubicBezTo>
                <a:cubicBezTo>
                  <a:pt x="387477" y="437198"/>
                  <a:pt x="356387" y="441655"/>
                  <a:pt x="301066" y="447142"/>
                </a:cubicBezTo>
                <a:lnTo>
                  <a:pt x="299694" y="512979"/>
                </a:lnTo>
                <a:cubicBezTo>
                  <a:pt x="371932" y="507492"/>
                  <a:pt x="417309" y="503263"/>
                  <a:pt x="435826" y="500291"/>
                </a:cubicBezTo>
                <a:cubicBezTo>
                  <a:pt x="454342" y="497319"/>
                  <a:pt x="470916" y="495834"/>
                  <a:pt x="485546" y="495834"/>
                </a:cubicBezTo>
                <a:cubicBezTo>
                  <a:pt x="514350" y="495834"/>
                  <a:pt x="536067" y="500291"/>
                  <a:pt x="550697" y="509207"/>
                </a:cubicBezTo>
                <a:cubicBezTo>
                  <a:pt x="565328" y="518122"/>
                  <a:pt x="572643" y="526923"/>
                  <a:pt x="572643" y="535610"/>
                </a:cubicBezTo>
                <a:cubicBezTo>
                  <a:pt x="572643" y="545668"/>
                  <a:pt x="563270" y="550698"/>
                  <a:pt x="544525" y="550698"/>
                </a:cubicBezTo>
                <a:cubicBezTo>
                  <a:pt x="537667" y="550698"/>
                  <a:pt x="530123" y="549783"/>
                  <a:pt x="521894" y="547954"/>
                </a:cubicBezTo>
                <a:cubicBezTo>
                  <a:pt x="494462" y="542925"/>
                  <a:pt x="448856" y="540411"/>
                  <a:pt x="385077" y="540411"/>
                </a:cubicBezTo>
                <a:cubicBezTo>
                  <a:pt x="321297" y="540411"/>
                  <a:pt x="259347" y="543154"/>
                  <a:pt x="199225" y="548640"/>
                </a:cubicBezTo>
                <a:cubicBezTo>
                  <a:pt x="139103" y="554127"/>
                  <a:pt x="98984" y="559156"/>
                  <a:pt x="78867" y="563728"/>
                </a:cubicBezTo>
                <a:cubicBezTo>
                  <a:pt x="66980" y="566014"/>
                  <a:pt x="55550" y="567157"/>
                  <a:pt x="44577" y="567157"/>
                </a:cubicBezTo>
                <a:cubicBezTo>
                  <a:pt x="33604" y="567157"/>
                  <a:pt x="23431" y="563385"/>
                  <a:pt x="14059" y="555841"/>
                </a:cubicBezTo>
                <a:cubicBezTo>
                  <a:pt x="4686" y="548297"/>
                  <a:pt x="0" y="542582"/>
                  <a:pt x="0" y="538696"/>
                </a:cubicBezTo>
                <a:cubicBezTo>
                  <a:pt x="0" y="534810"/>
                  <a:pt x="1371" y="532410"/>
                  <a:pt x="4115" y="531495"/>
                </a:cubicBezTo>
                <a:cubicBezTo>
                  <a:pt x="6858" y="530581"/>
                  <a:pt x="12116" y="530124"/>
                  <a:pt x="19888" y="530124"/>
                </a:cubicBezTo>
                <a:cubicBezTo>
                  <a:pt x="40919" y="530124"/>
                  <a:pt x="121844" y="525323"/>
                  <a:pt x="262661" y="515722"/>
                </a:cubicBezTo>
                <a:cubicBezTo>
                  <a:pt x="263576" y="502920"/>
                  <a:pt x="264490" y="481432"/>
                  <a:pt x="265404" y="451257"/>
                </a:cubicBezTo>
                <a:lnTo>
                  <a:pt x="242773" y="454000"/>
                </a:lnTo>
                <a:cubicBezTo>
                  <a:pt x="224028" y="457657"/>
                  <a:pt x="208483" y="459486"/>
                  <a:pt x="196139" y="459486"/>
                </a:cubicBezTo>
                <a:cubicBezTo>
                  <a:pt x="183794" y="459486"/>
                  <a:pt x="174079" y="457543"/>
                  <a:pt x="166992" y="453657"/>
                </a:cubicBezTo>
                <a:cubicBezTo>
                  <a:pt x="159906" y="449771"/>
                  <a:pt x="156362" y="446227"/>
                  <a:pt x="156362" y="443027"/>
                </a:cubicBezTo>
                <a:cubicBezTo>
                  <a:pt x="156362" y="439827"/>
                  <a:pt x="161163" y="437769"/>
                  <a:pt x="170764" y="436855"/>
                </a:cubicBezTo>
                <a:cubicBezTo>
                  <a:pt x="197282" y="435026"/>
                  <a:pt x="228828" y="430911"/>
                  <a:pt x="265404" y="424510"/>
                </a:cubicBezTo>
                <a:cubicBezTo>
                  <a:pt x="265862" y="408051"/>
                  <a:pt x="265633" y="388163"/>
                  <a:pt x="264719" y="364846"/>
                </a:cubicBezTo>
                <a:cubicBezTo>
                  <a:pt x="236372" y="369875"/>
                  <a:pt x="213741" y="372390"/>
                  <a:pt x="196824" y="372390"/>
                </a:cubicBezTo>
                <a:cubicBezTo>
                  <a:pt x="179908" y="372390"/>
                  <a:pt x="166535" y="370675"/>
                  <a:pt x="156705" y="367246"/>
                </a:cubicBezTo>
                <a:cubicBezTo>
                  <a:pt x="146875" y="363817"/>
                  <a:pt x="141960" y="360159"/>
                  <a:pt x="141960" y="356273"/>
                </a:cubicBezTo>
                <a:cubicBezTo>
                  <a:pt x="141960" y="352387"/>
                  <a:pt x="145161" y="350444"/>
                  <a:pt x="151562" y="350444"/>
                </a:cubicBezTo>
                <a:cubicBezTo>
                  <a:pt x="174879" y="349987"/>
                  <a:pt x="203111" y="347586"/>
                  <a:pt x="236258" y="343243"/>
                </a:cubicBezTo>
                <a:cubicBezTo>
                  <a:pt x="269405" y="338900"/>
                  <a:pt x="296265" y="334213"/>
                  <a:pt x="316839" y="329184"/>
                </a:cubicBezTo>
                <a:cubicBezTo>
                  <a:pt x="346100" y="322783"/>
                  <a:pt x="369532" y="319583"/>
                  <a:pt x="387134" y="319583"/>
                </a:cubicBezTo>
                <a:close/>
                <a:moveTo>
                  <a:pt x="381305" y="132360"/>
                </a:moveTo>
                <a:cubicBezTo>
                  <a:pt x="359816" y="132360"/>
                  <a:pt x="328269" y="135560"/>
                  <a:pt x="286664" y="141961"/>
                </a:cubicBezTo>
                <a:cubicBezTo>
                  <a:pt x="245059" y="148362"/>
                  <a:pt x="205283" y="152934"/>
                  <a:pt x="167335" y="155677"/>
                </a:cubicBezTo>
                <a:cubicBezTo>
                  <a:pt x="172821" y="170764"/>
                  <a:pt x="177622" y="186538"/>
                  <a:pt x="181737" y="202997"/>
                </a:cubicBezTo>
                <a:cubicBezTo>
                  <a:pt x="194081" y="203454"/>
                  <a:pt x="210998" y="201625"/>
                  <a:pt x="232486" y="197511"/>
                </a:cubicBezTo>
                <a:cubicBezTo>
                  <a:pt x="253974" y="193396"/>
                  <a:pt x="269976" y="189510"/>
                  <a:pt x="280492" y="185852"/>
                </a:cubicBezTo>
                <a:cubicBezTo>
                  <a:pt x="291008" y="182194"/>
                  <a:pt x="302552" y="180366"/>
                  <a:pt x="315125" y="180366"/>
                </a:cubicBezTo>
                <a:cubicBezTo>
                  <a:pt x="327698" y="180366"/>
                  <a:pt x="336842" y="182309"/>
                  <a:pt x="342557" y="186195"/>
                </a:cubicBezTo>
                <a:cubicBezTo>
                  <a:pt x="348272" y="190081"/>
                  <a:pt x="351129" y="193624"/>
                  <a:pt x="351129" y="196825"/>
                </a:cubicBezTo>
                <a:cubicBezTo>
                  <a:pt x="351129" y="200025"/>
                  <a:pt x="349415" y="202425"/>
                  <a:pt x="345986" y="204026"/>
                </a:cubicBezTo>
                <a:cubicBezTo>
                  <a:pt x="342557" y="205626"/>
                  <a:pt x="325526" y="208598"/>
                  <a:pt x="294894" y="212941"/>
                </a:cubicBezTo>
                <a:cubicBezTo>
                  <a:pt x="264261" y="217284"/>
                  <a:pt x="240601" y="219456"/>
                  <a:pt x="223914" y="219456"/>
                </a:cubicBezTo>
                <a:cubicBezTo>
                  <a:pt x="207226" y="219456"/>
                  <a:pt x="194538" y="218770"/>
                  <a:pt x="185852" y="217399"/>
                </a:cubicBezTo>
                <a:cubicBezTo>
                  <a:pt x="189966" y="230200"/>
                  <a:pt x="194767" y="250774"/>
                  <a:pt x="200253" y="279121"/>
                </a:cubicBezTo>
                <a:cubicBezTo>
                  <a:pt x="269291" y="265862"/>
                  <a:pt x="316839" y="259233"/>
                  <a:pt x="342900" y="259233"/>
                </a:cubicBezTo>
                <a:cubicBezTo>
                  <a:pt x="346100" y="259233"/>
                  <a:pt x="349072" y="259804"/>
                  <a:pt x="351815" y="260947"/>
                </a:cubicBezTo>
                <a:cubicBezTo>
                  <a:pt x="354558" y="262090"/>
                  <a:pt x="357302" y="262662"/>
                  <a:pt x="360045" y="262662"/>
                </a:cubicBezTo>
                <a:cubicBezTo>
                  <a:pt x="362788" y="262662"/>
                  <a:pt x="365531" y="261290"/>
                  <a:pt x="368274" y="258547"/>
                </a:cubicBezTo>
                <a:cubicBezTo>
                  <a:pt x="371018" y="255804"/>
                  <a:pt x="376161" y="246774"/>
                  <a:pt x="383705" y="231458"/>
                </a:cubicBezTo>
                <a:cubicBezTo>
                  <a:pt x="391249" y="216141"/>
                  <a:pt x="397535" y="198996"/>
                  <a:pt x="402565" y="180023"/>
                </a:cubicBezTo>
                <a:cubicBezTo>
                  <a:pt x="407594" y="161049"/>
                  <a:pt x="410108" y="148933"/>
                  <a:pt x="410108" y="143675"/>
                </a:cubicBezTo>
                <a:cubicBezTo>
                  <a:pt x="410108" y="138417"/>
                  <a:pt x="407479" y="135217"/>
                  <a:pt x="402222" y="134074"/>
                </a:cubicBezTo>
                <a:cubicBezTo>
                  <a:pt x="396964" y="132931"/>
                  <a:pt x="389992" y="132360"/>
                  <a:pt x="381305" y="132360"/>
                </a:cubicBezTo>
                <a:close/>
                <a:moveTo>
                  <a:pt x="276377" y="0"/>
                </a:moveTo>
                <a:cubicBezTo>
                  <a:pt x="284607" y="0"/>
                  <a:pt x="297180" y="3886"/>
                  <a:pt x="314096" y="11659"/>
                </a:cubicBezTo>
                <a:cubicBezTo>
                  <a:pt x="331013" y="19431"/>
                  <a:pt x="339471" y="26518"/>
                  <a:pt x="339471" y="32919"/>
                </a:cubicBezTo>
                <a:cubicBezTo>
                  <a:pt x="339471" y="36576"/>
                  <a:pt x="336270" y="40005"/>
                  <a:pt x="329870" y="43206"/>
                </a:cubicBezTo>
                <a:cubicBezTo>
                  <a:pt x="315696" y="49606"/>
                  <a:pt x="300152" y="59779"/>
                  <a:pt x="283235" y="73724"/>
                </a:cubicBezTo>
                <a:cubicBezTo>
                  <a:pt x="266319" y="87668"/>
                  <a:pt x="244373" y="107671"/>
                  <a:pt x="217399" y="133731"/>
                </a:cubicBezTo>
                <a:cubicBezTo>
                  <a:pt x="256260" y="127788"/>
                  <a:pt x="293294" y="121844"/>
                  <a:pt x="328498" y="115900"/>
                </a:cubicBezTo>
                <a:cubicBezTo>
                  <a:pt x="363702" y="109957"/>
                  <a:pt x="382676" y="106528"/>
                  <a:pt x="385420" y="105613"/>
                </a:cubicBezTo>
                <a:cubicBezTo>
                  <a:pt x="400507" y="100584"/>
                  <a:pt x="411937" y="98070"/>
                  <a:pt x="419710" y="98070"/>
                </a:cubicBezTo>
                <a:cubicBezTo>
                  <a:pt x="427482" y="98070"/>
                  <a:pt x="440855" y="105042"/>
                  <a:pt x="459829" y="118986"/>
                </a:cubicBezTo>
                <a:cubicBezTo>
                  <a:pt x="478803" y="132931"/>
                  <a:pt x="488290" y="142075"/>
                  <a:pt x="488290" y="146418"/>
                </a:cubicBezTo>
                <a:cubicBezTo>
                  <a:pt x="488290" y="150762"/>
                  <a:pt x="485203" y="155562"/>
                  <a:pt x="479031" y="160820"/>
                </a:cubicBezTo>
                <a:cubicBezTo>
                  <a:pt x="472859" y="166078"/>
                  <a:pt x="465544" y="174879"/>
                  <a:pt x="457086" y="187224"/>
                </a:cubicBezTo>
                <a:cubicBezTo>
                  <a:pt x="448627" y="199568"/>
                  <a:pt x="441198" y="211455"/>
                  <a:pt x="434797" y="222885"/>
                </a:cubicBezTo>
                <a:cubicBezTo>
                  <a:pt x="423824" y="242545"/>
                  <a:pt x="413080" y="258547"/>
                  <a:pt x="402565" y="270891"/>
                </a:cubicBezTo>
                <a:cubicBezTo>
                  <a:pt x="392049" y="283236"/>
                  <a:pt x="383819" y="289408"/>
                  <a:pt x="377876" y="289408"/>
                </a:cubicBezTo>
                <a:cubicBezTo>
                  <a:pt x="371932" y="289408"/>
                  <a:pt x="366331" y="287579"/>
                  <a:pt x="361074" y="283921"/>
                </a:cubicBezTo>
                <a:cubicBezTo>
                  <a:pt x="355816" y="280264"/>
                  <a:pt x="350215" y="278435"/>
                  <a:pt x="344271" y="278435"/>
                </a:cubicBezTo>
                <a:cubicBezTo>
                  <a:pt x="338328" y="278435"/>
                  <a:pt x="318440" y="280492"/>
                  <a:pt x="284607" y="284607"/>
                </a:cubicBezTo>
                <a:cubicBezTo>
                  <a:pt x="250774" y="288722"/>
                  <a:pt x="223113" y="292608"/>
                  <a:pt x="201625" y="296266"/>
                </a:cubicBezTo>
                <a:cubicBezTo>
                  <a:pt x="199796" y="301295"/>
                  <a:pt x="196367" y="303810"/>
                  <a:pt x="191338" y="303810"/>
                </a:cubicBezTo>
                <a:cubicBezTo>
                  <a:pt x="181737" y="303810"/>
                  <a:pt x="172593" y="288722"/>
                  <a:pt x="163906" y="258547"/>
                </a:cubicBezTo>
                <a:cubicBezTo>
                  <a:pt x="149276" y="208712"/>
                  <a:pt x="133274" y="175794"/>
                  <a:pt x="115900" y="159792"/>
                </a:cubicBezTo>
                <a:cubicBezTo>
                  <a:pt x="109499" y="153391"/>
                  <a:pt x="106299" y="148362"/>
                  <a:pt x="106299" y="144704"/>
                </a:cubicBezTo>
                <a:cubicBezTo>
                  <a:pt x="106299" y="140132"/>
                  <a:pt x="110071" y="137846"/>
                  <a:pt x="117615" y="137846"/>
                </a:cubicBezTo>
                <a:cubicBezTo>
                  <a:pt x="125158" y="137846"/>
                  <a:pt x="133045" y="138532"/>
                  <a:pt x="141275" y="139903"/>
                </a:cubicBezTo>
                <a:lnTo>
                  <a:pt x="152933" y="141275"/>
                </a:lnTo>
                <a:cubicBezTo>
                  <a:pt x="159791" y="141275"/>
                  <a:pt x="171450" y="140132"/>
                  <a:pt x="187909" y="137846"/>
                </a:cubicBezTo>
                <a:cubicBezTo>
                  <a:pt x="201625" y="122758"/>
                  <a:pt x="214198" y="107671"/>
                  <a:pt x="225628" y="92583"/>
                </a:cubicBezTo>
                <a:cubicBezTo>
                  <a:pt x="237058" y="77496"/>
                  <a:pt x="246088" y="64008"/>
                  <a:pt x="252717" y="52121"/>
                </a:cubicBezTo>
                <a:cubicBezTo>
                  <a:pt x="259347" y="40234"/>
                  <a:pt x="262890" y="32118"/>
                  <a:pt x="263347" y="27775"/>
                </a:cubicBezTo>
                <a:cubicBezTo>
                  <a:pt x="263804" y="23432"/>
                  <a:pt x="264033" y="19660"/>
                  <a:pt x="264033" y="16459"/>
                </a:cubicBezTo>
                <a:cubicBezTo>
                  <a:pt x="264033" y="5487"/>
                  <a:pt x="268148" y="0"/>
                  <a:pt x="2763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/>
        </p:nvSpPr>
        <p:spPr>
          <a:xfrm>
            <a:off x="1720264" y="3005085"/>
            <a:ext cx="572643" cy="247574"/>
          </a:xfrm>
          <a:custGeom>
            <a:avLst/>
            <a:gdLst/>
            <a:ahLst/>
            <a:cxnLst/>
            <a:rect l="l" t="t" r="r" b="b"/>
            <a:pathLst>
              <a:path w="572643" h="247574">
                <a:moveTo>
                  <a:pt x="387134" y="0"/>
                </a:moveTo>
                <a:cubicBezTo>
                  <a:pt x="404736" y="0"/>
                  <a:pt x="416852" y="2172"/>
                  <a:pt x="423481" y="6515"/>
                </a:cubicBezTo>
                <a:cubicBezTo>
                  <a:pt x="430111" y="10858"/>
                  <a:pt x="433426" y="15088"/>
                  <a:pt x="433426" y="19202"/>
                </a:cubicBezTo>
                <a:cubicBezTo>
                  <a:pt x="433426" y="23317"/>
                  <a:pt x="426796" y="26860"/>
                  <a:pt x="413537" y="29832"/>
                </a:cubicBezTo>
                <a:cubicBezTo>
                  <a:pt x="400279" y="32804"/>
                  <a:pt x="364388" y="36347"/>
                  <a:pt x="305867" y="40462"/>
                </a:cubicBezTo>
                <a:lnTo>
                  <a:pt x="302438" y="98069"/>
                </a:lnTo>
                <a:cubicBezTo>
                  <a:pt x="335356" y="91211"/>
                  <a:pt x="357073" y="87782"/>
                  <a:pt x="367589" y="87782"/>
                </a:cubicBezTo>
                <a:cubicBezTo>
                  <a:pt x="378104" y="87782"/>
                  <a:pt x="386905" y="89268"/>
                  <a:pt x="393992" y="92240"/>
                </a:cubicBezTo>
                <a:cubicBezTo>
                  <a:pt x="401079" y="95212"/>
                  <a:pt x="404622" y="98755"/>
                  <a:pt x="404622" y="102870"/>
                </a:cubicBezTo>
                <a:cubicBezTo>
                  <a:pt x="404622" y="106985"/>
                  <a:pt x="401193" y="110757"/>
                  <a:pt x="394335" y="114186"/>
                </a:cubicBezTo>
                <a:cubicBezTo>
                  <a:pt x="387477" y="117615"/>
                  <a:pt x="356387" y="122072"/>
                  <a:pt x="301066" y="127559"/>
                </a:cubicBezTo>
                <a:lnTo>
                  <a:pt x="299694" y="193396"/>
                </a:lnTo>
                <a:cubicBezTo>
                  <a:pt x="371932" y="187909"/>
                  <a:pt x="417309" y="183680"/>
                  <a:pt x="435826" y="180708"/>
                </a:cubicBezTo>
                <a:cubicBezTo>
                  <a:pt x="454342" y="177736"/>
                  <a:pt x="470916" y="176251"/>
                  <a:pt x="485546" y="176251"/>
                </a:cubicBezTo>
                <a:cubicBezTo>
                  <a:pt x="514350" y="176251"/>
                  <a:pt x="536067" y="180708"/>
                  <a:pt x="550697" y="189624"/>
                </a:cubicBezTo>
                <a:cubicBezTo>
                  <a:pt x="565328" y="198539"/>
                  <a:pt x="572643" y="207340"/>
                  <a:pt x="572643" y="216027"/>
                </a:cubicBezTo>
                <a:cubicBezTo>
                  <a:pt x="572643" y="226085"/>
                  <a:pt x="563270" y="231115"/>
                  <a:pt x="544525" y="231115"/>
                </a:cubicBezTo>
                <a:cubicBezTo>
                  <a:pt x="537667" y="231115"/>
                  <a:pt x="530123" y="230200"/>
                  <a:pt x="521894" y="228371"/>
                </a:cubicBezTo>
                <a:cubicBezTo>
                  <a:pt x="494462" y="223342"/>
                  <a:pt x="448856" y="220828"/>
                  <a:pt x="385077" y="220828"/>
                </a:cubicBezTo>
                <a:cubicBezTo>
                  <a:pt x="321297" y="220828"/>
                  <a:pt x="259347" y="223571"/>
                  <a:pt x="199225" y="229057"/>
                </a:cubicBezTo>
                <a:cubicBezTo>
                  <a:pt x="139103" y="234544"/>
                  <a:pt x="98984" y="239573"/>
                  <a:pt x="78867" y="244145"/>
                </a:cubicBezTo>
                <a:cubicBezTo>
                  <a:pt x="66980" y="246431"/>
                  <a:pt x="55550" y="247574"/>
                  <a:pt x="44577" y="247574"/>
                </a:cubicBezTo>
                <a:cubicBezTo>
                  <a:pt x="33604" y="247574"/>
                  <a:pt x="23431" y="243802"/>
                  <a:pt x="14059" y="236258"/>
                </a:cubicBezTo>
                <a:cubicBezTo>
                  <a:pt x="4686" y="228714"/>
                  <a:pt x="0" y="222999"/>
                  <a:pt x="0" y="219113"/>
                </a:cubicBezTo>
                <a:cubicBezTo>
                  <a:pt x="0" y="215227"/>
                  <a:pt x="1371" y="212827"/>
                  <a:pt x="4115" y="211912"/>
                </a:cubicBezTo>
                <a:cubicBezTo>
                  <a:pt x="6858" y="210998"/>
                  <a:pt x="12116" y="210541"/>
                  <a:pt x="19888" y="210541"/>
                </a:cubicBezTo>
                <a:cubicBezTo>
                  <a:pt x="40919" y="210541"/>
                  <a:pt x="121844" y="205740"/>
                  <a:pt x="262661" y="196139"/>
                </a:cubicBezTo>
                <a:cubicBezTo>
                  <a:pt x="263576" y="183337"/>
                  <a:pt x="264490" y="161849"/>
                  <a:pt x="265404" y="131674"/>
                </a:cubicBezTo>
                <a:lnTo>
                  <a:pt x="242773" y="134417"/>
                </a:lnTo>
                <a:cubicBezTo>
                  <a:pt x="224028" y="138074"/>
                  <a:pt x="208483" y="139903"/>
                  <a:pt x="196139" y="139903"/>
                </a:cubicBezTo>
                <a:cubicBezTo>
                  <a:pt x="183794" y="139903"/>
                  <a:pt x="174079" y="137960"/>
                  <a:pt x="166992" y="134074"/>
                </a:cubicBezTo>
                <a:cubicBezTo>
                  <a:pt x="159906" y="130188"/>
                  <a:pt x="156362" y="126644"/>
                  <a:pt x="156362" y="123444"/>
                </a:cubicBezTo>
                <a:cubicBezTo>
                  <a:pt x="156362" y="120244"/>
                  <a:pt x="161163" y="118186"/>
                  <a:pt x="170764" y="117272"/>
                </a:cubicBezTo>
                <a:cubicBezTo>
                  <a:pt x="197282" y="115443"/>
                  <a:pt x="228828" y="111328"/>
                  <a:pt x="265404" y="104927"/>
                </a:cubicBezTo>
                <a:cubicBezTo>
                  <a:pt x="265862" y="88468"/>
                  <a:pt x="265633" y="68580"/>
                  <a:pt x="264719" y="45263"/>
                </a:cubicBezTo>
                <a:cubicBezTo>
                  <a:pt x="236372" y="50292"/>
                  <a:pt x="213741" y="52807"/>
                  <a:pt x="196824" y="52807"/>
                </a:cubicBezTo>
                <a:cubicBezTo>
                  <a:pt x="179908" y="52807"/>
                  <a:pt x="166535" y="51092"/>
                  <a:pt x="156705" y="47663"/>
                </a:cubicBezTo>
                <a:cubicBezTo>
                  <a:pt x="146875" y="44234"/>
                  <a:pt x="141960" y="40576"/>
                  <a:pt x="141960" y="36690"/>
                </a:cubicBezTo>
                <a:cubicBezTo>
                  <a:pt x="141960" y="32804"/>
                  <a:pt x="145161" y="30861"/>
                  <a:pt x="151562" y="30861"/>
                </a:cubicBezTo>
                <a:cubicBezTo>
                  <a:pt x="174879" y="30404"/>
                  <a:pt x="203111" y="28003"/>
                  <a:pt x="236258" y="23660"/>
                </a:cubicBezTo>
                <a:cubicBezTo>
                  <a:pt x="269405" y="19317"/>
                  <a:pt x="296265" y="14630"/>
                  <a:pt x="316839" y="9601"/>
                </a:cubicBezTo>
                <a:cubicBezTo>
                  <a:pt x="346100" y="3200"/>
                  <a:pt x="369532" y="0"/>
                  <a:pt x="38713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257064" y="2862564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3071784" y="2688396"/>
            <a:ext cx="331927" cy="571958"/>
          </a:xfrm>
          <a:custGeom>
            <a:avLst/>
            <a:gdLst>
              <a:gd name="csX0" fmla="*/ 248945 w 331927"/>
              <a:gd name="csY0" fmla="*/ 377876 h 571958"/>
              <a:gd name="csX1" fmla="*/ 187909 w 331927"/>
              <a:gd name="csY1" fmla="*/ 391592 h 571958"/>
              <a:gd name="csX2" fmla="*/ 168707 w 331927"/>
              <a:gd name="csY2" fmla="*/ 439255 h 571958"/>
              <a:gd name="csX3" fmla="*/ 180365 w 331927"/>
              <a:gd name="csY3" fmla="*/ 448514 h 571958"/>
              <a:gd name="csX4" fmla="*/ 214655 w 331927"/>
              <a:gd name="csY4" fmla="*/ 464973 h 571958"/>
              <a:gd name="csX5" fmla="*/ 248945 w 331927"/>
              <a:gd name="csY5" fmla="*/ 377876 h 571958"/>
              <a:gd name="csX6" fmla="*/ 178994 w 331927"/>
              <a:gd name="csY6" fmla="*/ 307925 h 571958"/>
              <a:gd name="csX7" fmla="*/ 200253 w 331927"/>
              <a:gd name="csY7" fmla="*/ 317526 h 571958"/>
              <a:gd name="csX8" fmla="*/ 214655 w 331927"/>
              <a:gd name="csY8" fmla="*/ 334671 h 571958"/>
              <a:gd name="csX9" fmla="*/ 210540 w 331927"/>
              <a:gd name="csY9" fmla="*/ 347015 h 571958"/>
              <a:gd name="csX10" fmla="*/ 197510 w 331927"/>
              <a:gd name="csY10" fmla="*/ 371704 h 571958"/>
              <a:gd name="csX11" fmla="*/ 251688 w 331927"/>
              <a:gd name="csY11" fmla="*/ 362103 h 571958"/>
              <a:gd name="csX12" fmla="*/ 252717 w 331927"/>
              <a:gd name="csY12" fmla="*/ 345986 h 571958"/>
              <a:gd name="csX13" fmla="*/ 251688 w 331927"/>
              <a:gd name="csY13" fmla="*/ 338100 h 571958"/>
              <a:gd name="csX14" fmla="*/ 258546 w 331927"/>
              <a:gd name="csY14" fmla="*/ 329870 h 571958"/>
              <a:gd name="csX15" fmla="*/ 281864 w 331927"/>
              <a:gd name="csY15" fmla="*/ 338443 h 571958"/>
              <a:gd name="csX16" fmla="*/ 298323 w 331927"/>
              <a:gd name="csY16" fmla="*/ 353187 h 571958"/>
              <a:gd name="csX17" fmla="*/ 292151 w 331927"/>
              <a:gd name="csY17" fmla="*/ 369647 h 571958"/>
              <a:gd name="csX18" fmla="*/ 276720 w 331927"/>
              <a:gd name="csY18" fmla="*/ 407708 h 571958"/>
              <a:gd name="csX19" fmla="*/ 239344 w 331927"/>
              <a:gd name="csY19" fmla="*/ 478689 h 571958"/>
              <a:gd name="csX20" fmla="*/ 279120 w 331927"/>
              <a:gd name="csY20" fmla="*/ 508521 h 571958"/>
              <a:gd name="csX21" fmla="*/ 290093 w 331927"/>
              <a:gd name="csY21" fmla="*/ 536982 h 571958"/>
              <a:gd name="csX22" fmla="*/ 282892 w 331927"/>
              <a:gd name="csY22" fmla="*/ 552755 h 571958"/>
              <a:gd name="csX23" fmla="*/ 268833 w 331927"/>
              <a:gd name="csY23" fmla="*/ 545211 h 571958"/>
              <a:gd name="csX24" fmla="*/ 223571 w 331927"/>
              <a:gd name="csY24" fmla="*/ 500634 h 571958"/>
              <a:gd name="csX25" fmla="*/ 147447 w 331927"/>
              <a:gd name="csY25" fmla="*/ 552755 h 571958"/>
              <a:gd name="csX26" fmla="*/ 64465 w 331927"/>
              <a:gd name="csY26" fmla="*/ 571958 h 571958"/>
              <a:gd name="csX27" fmla="*/ 55550 w 331927"/>
              <a:gd name="csY27" fmla="*/ 567500 h 571958"/>
              <a:gd name="csX28" fmla="*/ 63779 w 331927"/>
              <a:gd name="csY28" fmla="*/ 560985 h 571958"/>
              <a:gd name="csX29" fmla="*/ 202311 w 331927"/>
              <a:gd name="csY29" fmla="*/ 483489 h 571958"/>
              <a:gd name="csX30" fmla="*/ 157048 w 331927"/>
              <a:gd name="csY30" fmla="*/ 456743 h 571958"/>
              <a:gd name="csX31" fmla="*/ 141960 w 331927"/>
              <a:gd name="csY31" fmla="*/ 443027 h 571958"/>
              <a:gd name="csX32" fmla="*/ 147447 w 331927"/>
              <a:gd name="csY32" fmla="*/ 427940 h 571958"/>
              <a:gd name="csX33" fmla="*/ 157734 w 331927"/>
              <a:gd name="csY33" fmla="*/ 399136 h 571958"/>
              <a:gd name="csX34" fmla="*/ 63779 w 331927"/>
              <a:gd name="csY34" fmla="*/ 426568 h 571958"/>
              <a:gd name="csX35" fmla="*/ 34290 w 331927"/>
              <a:gd name="csY35" fmla="*/ 432740 h 571958"/>
              <a:gd name="csX36" fmla="*/ 12001 w 331927"/>
              <a:gd name="csY36" fmla="*/ 421082 h 571958"/>
              <a:gd name="csX37" fmla="*/ 0 w 331927"/>
              <a:gd name="csY37" fmla="*/ 402565 h 571958"/>
              <a:gd name="csX38" fmla="*/ 13030 w 331927"/>
              <a:gd name="csY38" fmla="*/ 395707 h 571958"/>
              <a:gd name="csX39" fmla="*/ 32918 w 331927"/>
              <a:gd name="csY39" fmla="*/ 396393 h 571958"/>
              <a:gd name="csX40" fmla="*/ 163220 w 331927"/>
              <a:gd name="csY40" fmla="*/ 377876 h 571958"/>
              <a:gd name="csX41" fmla="*/ 172136 w 331927"/>
              <a:gd name="csY41" fmla="*/ 319583 h 571958"/>
              <a:gd name="csX42" fmla="*/ 178994 w 331927"/>
              <a:gd name="csY42" fmla="*/ 307925 h 571958"/>
              <a:gd name="csX43" fmla="*/ 239344 w 331927"/>
              <a:gd name="csY43" fmla="*/ 231801 h 571958"/>
              <a:gd name="csX44" fmla="*/ 282549 w 331927"/>
              <a:gd name="csY44" fmla="*/ 242431 h 571958"/>
              <a:gd name="csX45" fmla="*/ 305181 w 331927"/>
              <a:gd name="csY45" fmla="*/ 275692 h 571958"/>
              <a:gd name="csX46" fmla="*/ 295580 w 331927"/>
              <a:gd name="csY46" fmla="*/ 288722 h 571958"/>
              <a:gd name="csX47" fmla="*/ 259575 w 331927"/>
              <a:gd name="csY47" fmla="*/ 264033 h 571958"/>
              <a:gd name="csX48" fmla="*/ 231800 w 331927"/>
              <a:gd name="csY48" fmla="*/ 235573 h 571958"/>
              <a:gd name="csX49" fmla="*/ 239344 w 331927"/>
              <a:gd name="csY49" fmla="*/ 231801 h 571958"/>
              <a:gd name="csX50" fmla="*/ 116586 w 331927"/>
              <a:gd name="csY50" fmla="*/ 106985 h 571958"/>
              <a:gd name="csX51" fmla="*/ 150876 w 331927"/>
              <a:gd name="csY51" fmla="*/ 116929 h 571958"/>
              <a:gd name="csX52" fmla="*/ 163220 w 331927"/>
              <a:gd name="csY52" fmla="*/ 144361 h 571958"/>
              <a:gd name="csX53" fmla="*/ 152590 w 331927"/>
              <a:gd name="csY53" fmla="*/ 161849 h 571958"/>
              <a:gd name="csX54" fmla="*/ 123444 w 331927"/>
              <a:gd name="csY54" fmla="*/ 140589 h 571958"/>
              <a:gd name="csX55" fmla="*/ 104927 w 331927"/>
              <a:gd name="csY55" fmla="*/ 113157 h 571958"/>
              <a:gd name="csX56" fmla="*/ 116586 w 331927"/>
              <a:gd name="csY56" fmla="*/ 106985 h 571958"/>
              <a:gd name="csX57" fmla="*/ 291465 w 331927"/>
              <a:gd name="csY57" fmla="*/ 57608 h 571958"/>
              <a:gd name="csX58" fmla="*/ 316154 w 331927"/>
              <a:gd name="csY58" fmla="*/ 69609 h 571958"/>
              <a:gd name="csX59" fmla="*/ 331927 w 331927"/>
              <a:gd name="csY59" fmla="*/ 88469 h 571958"/>
              <a:gd name="csX60" fmla="*/ 319925 w 331927"/>
              <a:gd name="csY60" fmla="*/ 101499 h 571958"/>
              <a:gd name="csX61" fmla="*/ 256489 w 331927"/>
              <a:gd name="csY61" fmla="*/ 143333 h 571958"/>
              <a:gd name="csX62" fmla="*/ 247916 w 331927"/>
              <a:gd name="csY62" fmla="*/ 147447 h 571958"/>
              <a:gd name="csX63" fmla="*/ 244830 w 331927"/>
              <a:gd name="csY63" fmla="*/ 144361 h 571958"/>
              <a:gd name="csX64" fmla="*/ 247574 w 331927"/>
              <a:gd name="csY64" fmla="*/ 137846 h 571958"/>
              <a:gd name="csX65" fmla="*/ 273291 w 331927"/>
              <a:gd name="csY65" fmla="*/ 99784 h 571958"/>
              <a:gd name="csX66" fmla="*/ 281178 w 331927"/>
              <a:gd name="csY66" fmla="*/ 72352 h 571958"/>
              <a:gd name="csX67" fmla="*/ 291465 w 331927"/>
              <a:gd name="csY67" fmla="*/ 57608 h 571958"/>
              <a:gd name="csX68" fmla="*/ 188938 w 331927"/>
              <a:gd name="csY68" fmla="*/ 0 h 571958"/>
              <a:gd name="csX69" fmla="*/ 218084 w 331927"/>
              <a:gd name="csY69" fmla="*/ 8916 h 571958"/>
              <a:gd name="csX70" fmla="*/ 237972 w 331927"/>
              <a:gd name="csY70" fmla="*/ 28118 h 571958"/>
              <a:gd name="csX71" fmla="*/ 234543 w 331927"/>
              <a:gd name="csY71" fmla="*/ 41834 h 571958"/>
              <a:gd name="csX72" fmla="*/ 228714 w 331927"/>
              <a:gd name="csY72" fmla="*/ 73038 h 571958"/>
              <a:gd name="csX73" fmla="*/ 222199 w 331927"/>
              <a:gd name="csY73" fmla="*/ 185166 h 571958"/>
              <a:gd name="csX74" fmla="*/ 306209 w 331927"/>
              <a:gd name="csY74" fmla="*/ 168021 h 571958"/>
              <a:gd name="csX75" fmla="*/ 319925 w 331927"/>
              <a:gd name="csY75" fmla="*/ 171793 h 571958"/>
              <a:gd name="csX76" fmla="*/ 323697 w 331927"/>
              <a:gd name="csY76" fmla="*/ 178994 h 571958"/>
              <a:gd name="csX77" fmla="*/ 301066 w 331927"/>
              <a:gd name="csY77" fmla="*/ 194768 h 571958"/>
              <a:gd name="csX78" fmla="*/ 221513 w 331927"/>
              <a:gd name="csY78" fmla="*/ 209855 h 571958"/>
              <a:gd name="csX79" fmla="*/ 216370 w 331927"/>
              <a:gd name="csY79" fmla="*/ 287008 h 571958"/>
              <a:gd name="csX80" fmla="*/ 207797 w 331927"/>
              <a:gd name="csY80" fmla="*/ 305181 h 571958"/>
              <a:gd name="csX81" fmla="*/ 196824 w 331927"/>
              <a:gd name="csY81" fmla="*/ 294209 h 571958"/>
              <a:gd name="csX82" fmla="*/ 192024 w 331927"/>
              <a:gd name="csY82" fmla="*/ 260604 h 571958"/>
              <a:gd name="csX83" fmla="*/ 193395 w 331927"/>
              <a:gd name="csY83" fmla="*/ 214656 h 571958"/>
              <a:gd name="csX84" fmla="*/ 145732 w 331927"/>
              <a:gd name="csY84" fmla="*/ 278778 h 571958"/>
              <a:gd name="csX85" fmla="*/ 81267 w 331927"/>
              <a:gd name="csY85" fmla="*/ 327470 h 571958"/>
              <a:gd name="csX86" fmla="*/ 37719 w 331927"/>
              <a:gd name="csY86" fmla="*/ 345644 h 571958"/>
              <a:gd name="csX87" fmla="*/ 35661 w 331927"/>
              <a:gd name="csY87" fmla="*/ 343586 h 571958"/>
              <a:gd name="csX88" fmla="*/ 41148 w 331927"/>
              <a:gd name="csY88" fmla="*/ 337414 h 571958"/>
              <a:gd name="csX89" fmla="*/ 155676 w 331927"/>
              <a:gd name="csY89" fmla="*/ 220142 h 571958"/>
              <a:gd name="csX90" fmla="*/ 106985 w 331927"/>
              <a:gd name="csY90" fmla="*/ 224257 h 571958"/>
              <a:gd name="csX91" fmla="*/ 82296 w 331927"/>
              <a:gd name="csY91" fmla="*/ 220828 h 571958"/>
              <a:gd name="csX92" fmla="*/ 72695 w 331927"/>
              <a:gd name="csY92" fmla="*/ 213284 h 571958"/>
              <a:gd name="csX93" fmla="*/ 85725 w 331927"/>
              <a:gd name="csY93" fmla="*/ 208484 h 571958"/>
              <a:gd name="csX94" fmla="*/ 194767 w 331927"/>
              <a:gd name="csY94" fmla="*/ 190653 h 571958"/>
              <a:gd name="csX95" fmla="*/ 196824 w 331927"/>
              <a:gd name="csY95" fmla="*/ 121387 h 571958"/>
              <a:gd name="csX96" fmla="*/ 186537 w 331927"/>
              <a:gd name="csY96" fmla="*/ 23318 h 571958"/>
              <a:gd name="csX97" fmla="*/ 179679 w 331927"/>
              <a:gd name="csY97" fmla="*/ 6858 h 571958"/>
              <a:gd name="csX98" fmla="*/ 188938 w 331927"/>
              <a:gd name="csY98" fmla="*/ 0 h 571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</a:cxnLst>
            <a:rect l="l" t="t" r="r" b="b"/>
            <a:pathLst>
              <a:path w="331927" h="571958">
                <a:moveTo>
                  <a:pt x="248945" y="377876"/>
                </a:moveTo>
                <a:lnTo>
                  <a:pt x="187909" y="391592"/>
                </a:lnTo>
                <a:cubicBezTo>
                  <a:pt x="175107" y="419939"/>
                  <a:pt x="168707" y="435826"/>
                  <a:pt x="168707" y="439255"/>
                </a:cubicBezTo>
                <a:cubicBezTo>
                  <a:pt x="168707" y="442684"/>
                  <a:pt x="172593" y="445770"/>
                  <a:pt x="180365" y="448514"/>
                </a:cubicBezTo>
                <a:cubicBezTo>
                  <a:pt x="194081" y="453543"/>
                  <a:pt x="205511" y="459029"/>
                  <a:pt x="214655" y="464973"/>
                </a:cubicBezTo>
                <a:cubicBezTo>
                  <a:pt x="229743" y="438912"/>
                  <a:pt x="241173" y="409880"/>
                  <a:pt x="248945" y="377876"/>
                </a:cubicBezTo>
                <a:close/>
                <a:moveTo>
                  <a:pt x="178994" y="307925"/>
                </a:moveTo>
                <a:cubicBezTo>
                  <a:pt x="183566" y="307925"/>
                  <a:pt x="190652" y="311125"/>
                  <a:pt x="200253" y="317526"/>
                </a:cubicBezTo>
                <a:cubicBezTo>
                  <a:pt x="209855" y="323927"/>
                  <a:pt x="214655" y="329642"/>
                  <a:pt x="214655" y="334671"/>
                </a:cubicBezTo>
                <a:cubicBezTo>
                  <a:pt x="214655" y="339700"/>
                  <a:pt x="213284" y="343815"/>
                  <a:pt x="210540" y="347015"/>
                </a:cubicBezTo>
                <a:cubicBezTo>
                  <a:pt x="207797" y="350216"/>
                  <a:pt x="203454" y="358445"/>
                  <a:pt x="197510" y="371704"/>
                </a:cubicBezTo>
                <a:lnTo>
                  <a:pt x="251688" y="362103"/>
                </a:lnTo>
                <a:cubicBezTo>
                  <a:pt x="253060" y="354788"/>
                  <a:pt x="253403" y="349415"/>
                  <a:pt x="252717" y="345986"/>
                </a:cubicBezTo>
                <a:cubicBezTo>
                  <a:pt x="252031" y="342557"/>
                  <a:pt x="251688" y="339929"/>
                  <a:pt x="251688" y="338100"/>
                </a:cubicBezTo>
                <a:cubicBezTo>
                  <a:pt x="251688" y="332613"/>
                  <a:pt x="253974" y="329870"/>
                  <a:pt x="258546" y="329870"/>
                </a:cubicBezTo>
                <a:cubicBezTo>
                  <a:pt x="263118" y="329870"/>
                  <a:pt x="270891" y="332728"/>
                  <a:pt x="281864" y="338443"/>
                </a:cubicBezTo>
                <a:cubicBezTo>
                  <a:pt x="292836" y="344158"/>
                  <a:pt x="298323" y="349073"/>
                  <a:pt x="298323" y="353187"/>
                </a:cubicBezTo>
                <a:cubicBezTo>
                  <a:pt x="298323" y="357302"/>
                  <a:pt x="296265" y="362789"/>
                  <a:pt x="292151" y="369647"/>
                </a:cubicBezTo>
                <a:cubicBezTo>
                  <a:pt x="288036" y="376505"/>
                  <a:pt x="282892" y="389192"/>
                  <a:pt x="276720" y="407708"/>
                </a:cubicBezTo>
                <a:cubicBezTo>
                  <a:pt x="270548" y="426225"/>
                  <a:pt x="258089" y="449885"/>
                  <a:pt x="239344" y="478689"/>
                </a:cubicBezTo>
                <a:cubicBezTo>
                  <a:pt x="258546" y="489662"/>
                  <a:pt x="271805" y="499606"/>
                  <a:pt x="279120" y="508521"/>
                </a:cubicBezTo>
                <a:cubicBezTo>
                  <a:pt x="286436" y="517436"/>
                  <a:pt x="290093" y="526923"/>
                  <a:pt x="290093" y="536982"/>
                </a:cubicBezTo>
                <a:cubicBezTo>
                  <a:pt x="290093" y="547497"/>
                  <a:pt x="287693" y="552755"/>
                  <a:pt x="282892" y="552755"/>
                </a:cubicBezTo>
                <a:cubicBezTo>
                  <a:pt x="278092" y="552755"/>
                  <a:pt x="273405" y="550241"/>
                  <a:pt x="268833" y="545211"/>
                </a:cubicBezTo>
                <a:cubicBezTo>
                  <a:pt x="250088" y="526009"/>
                  <a:pt x="235001" y="511150"/>
                  <a:pt x="223571" y="500634"/>
                </a:cubicBezTo>
                <a:cubicBezTo>
                  <a:pt x="203911" y="522580"/>
                  <a:pt x="178536" y="539954"/>
                  <a:pt x="147447" y="552755"/>
                </a:cubicBezTo>
                <a:cubicBezTo>
                  <a:pt x="116357" y="565557"/>
                  <a:pt x="88697" y="571958"/>
                  <a:pt x="64465" y="571958"/>
                </a:cubicBezTo>
                <a:cubicBezTo>
                  <a:pt x="58521" y="571958"/>
                  <a:pt x="55550" y="570472"/>
                  <a:pt x="55550" y="567500"/>
                </a:cubicBezTo>
                <a:cubicBezTo>
                  <a:pt x="55550" y="564528"/>
                  <a:pt x="58293" y="562356"/>
                  <a:pt x="63779" y="560985"/>
                </a:cubicBezTo>
                <a:cubicBezTo>
                  <a:pt x="129159" y="539039"/>
                  <a:pt x="175336" y="513207"/>
                  <a:pt x="202311" y="483489"/>
                </a:cubicBezTo>
                <a:cubicBezTo>
                  <a:pt x="182194" y="469773"/>
                  <a:pt x="167106" y="460858"/>
                  <a:pt x="157048" y="456743"/>
                </a:cubicBezTo>
                <a:cubicBezTo>
                  <a:pt x="146990" y="452628"/>
                  <a:pt x="141960" y="448056"/>
                  <a:pt x="141960" y="443027"/>
                </a:cubicBezTo>
                <a:cubicBezTo>
                  <a:pt x="141960" y="440741"/>
                  <a:pt x="143789" y="435712"/>
                  <a:pt x="147447" y="427940"/>
                </a:cubicBezTo>
                <a:cubicBezTo>
                  <a:pt x="151104" y="420167"/>
                  <a:pt x="154533" y="410566"/>
                  <a:pt x="157734" y="399136"/>
                </a:cubicBezTo>
                <a:cubicBezTo>
                  <a:pt x="124815" y="407366"/>
                  <a:pt x="93497" y="416510"/>
                  <a:pt x="63779" y="426568"/>
                </a:cubicBezTo>
                <a:cubicBezTo>
                  <a:pt x="50978" y="430683"/>
                  <a:pt x="41148" y="432740"/>
                  <a:pt x="34290" y="432740"/>
                </a:cubicBezTo>
                <a:cubicBezTo>
                  <a:pt x="27432" y="432740"/>
                  <a:pt x="20002" y="428854"/>
                  <a:pt x="12001" y="421082"/>
                </a:cubicBezTo>
                <a:cubicBezTo>
                  <a:pt x="4000" y="413309"/>
                  <a:pt x="0" y="407137"/>
                  <a:pt x="0" y="402565"/>
                </a:cubicBezTo>
                <a:cubicBezTo>
                  <a:pt x="0" y="397993"/>
                  <a:pt x="4343" y="395707"/>
                  <a:pt x="13030" y="395707"/>
                </a:cubicBezTo>
                <a:lnTo>
                  <a:pt x="32918" y="396393"/>
                </a:lnTo>
                <a:cubicBezTo>
                  <a:pt x="52121" y="396393"/>
                  <a:pt x="95555" y="390221"/>
                  <a:pt x="163220" y="377876"/>
                </a:cubicBezTo>
                <a:cubicBezTo>
                  <a:pt x="169164" y="358674"/>
                  <a:pt x="172136" y="339243"/>
                  <a:pt x="172136" y="319583"/>
                </a:cubicBezTo>
                <a:cubicBezTo>
                  <a:pt x="172136" y="311811"/>
                  <a:pt x="174422" y="307925"/>
                  <a:pt x="178994" y="307925"/>
                </a:cubicBezTo>
                <a:close/>
                <a:moveTo>
                  <a:pt x="239344" y="231801"/>
                </a:moveTo>
                <a:cubicBezTo>
                  <a:pt x="253060" y="231801"/>
                  <a:pt x="267462" y="235344"/>
                  <a:pt x="282549" y="242431"/>
                </a:cubicBezTo>
                <a:cubicBezTo>
                  <a:pt x="297637" y="249517"/>
                  <a:pt x="305181" y="260604"/>
                  <a:pt x="305181" y="275692"/>
                </a:cubicBezTo>
                <a:cubicBezTo>
                  <a:pt x="305181" y="284379"/>
                  <a:pt x="301980" y="288722"/>
                  <a:pt x="295580" y="288722"/>
                </a:cubicBezTo>
                <a:cubicBezTo>
                  <a:pt x="290093" y="288722"/>
                  <a:pt x="278092" y="280493"/>
                  <a:pt x="259575" y="264033"/>
                </a:cubicBezTo>
                <a:cubicBezTo>
                  <a:pt x="241058" y="247574"/>
                  <a:pt x="231800" y="238087"/>
                  <a:pt x="231800" y="235573"/>
                </a:cubicBezTo>
                <a:cubicBezTo>
                  <a:pt x="231800" y="233058"/>
                  <a:pt x="234315" y="231801"/>
                  <a:pt x="239344" y="231801"/>
                </a:cubicBezTo>
                <a:close/>
                <a:moveTo>
                  <a:pt x="116586" y="106985"/>
                </a:moveTo>
                <a:cubicBezTo>
                  <a:pt x="131216" y="106985"/>
                  <a:pt x="142646" y="110300"/>
                  <a:pt x="150876" y="116929"/>
                </a:cubicBezTo>
                <a:cubicBezTo>
                  <a:pt x="159105" y="123559"/>
                  <a:pt x="163220" y="132703"/>
                  <a:pt x="163220" y="144361"/>
                </a:cubicBezTo>
                <a:cubicBezTo>
                  <a:pt x="163220" y="156020"/>
                  <a:pt x="159677" y="161849"/>
                  <a:pt x="152590" y="161849"/>
                </a:cubicBezTo>
                <a:cubicBezTo>
                  <a:pt x="145504" y="161849"/>
                  <a:pt x="135788" y="154763"/>
                  <a:pt x="123444" y="140589"/>
                </a:cubicBezTo>
                <a:cubicBezTo>
                  <a:pt x="111099" y="126416"/>
                  <a:pt x="104927" y="117272"/>
                  <a:pt x="104927" y="113157"/>
                </a:cubicBezTo>
                <a:cubicBezTo>
                  <a:pt x="104927" y="109043"/>
                  <a:pt x="108813" y="106985"/>
                  <a:pt x="116586" y="106985"/>
                </a:cubicBezTo>
                <a:close/>
                <a:moveTo>
                  <a:pt x="291465" y="57608"/>
                </a:moveTo>
                <a:cubicBezTo>
                  <a:pt x="297408" y="57608"/>
                  <a:pt x="305638" y="61608"/>
                  <a:pt x="316154" y="69609"/>
                </a:cubicBezTo>
                <a:cubicBezTo>
                  <a:pt x="326669" y="77610"/>
                  <a:pt x="331927" y="83897"/>
                  <a:pt x="331927" y="88469"/>
                </a:cubicBezTo>
                <a:cubicBezTo>
                  <a:pt x="331927" y="92583"/>
                  <a:pt x="327926" y="96927"/>
                  <a:pt x="319925" y="101499"/>
                </a:cubicBezTo>
                <a:cubicBezTo>
                  <a:pt x="311924" y="106071"/>
                  <a:pt x="290779" y="120015"/>
                  <a:pt x="256489" y="143333"/>
                </a:cubicBezTo>
                <a:cubicBezTo>
                  <a:pt x="252831" y="146076"/>
                  <a:pt x="249974" y="147447"/>
                  <a:pt x="247916" y="147447"/>
                </a:cubicBezTo>
                <a:cubicBezTo>
                  <a:pt x="245859" y="147447"/>
                  <a:pt x="244830" y="146419"/>
                  <a:pt x="244830" y="144361"/>
                </a:cubicBezTo>
                <a:cubicBezTo>
                  <a:pt x="244830" y="142304"/>
                  <a:pt x="245745" y="140132"/>
                  <a:pt x="247574" y="137846"/>
                </a:cubicBezTo>
                <a:cubicBezTo>
                  <a:pt x="260375" y="120930"/>
                  <a:pt x="268948" y="108242"/>
                  <a:pt x="273291" y="99784"/>
                </a:cubicBezTo>
                <a:cubicBezTo>
                  <a:pt x="277634" y="91326"/>
                  <a:pt x="280263" y="82182"/>
                  <a:pt x="281178" y="72352"/>
                </a:cubicBezTo>
                <a:cubicBezTo>
                  <a:pt x="282092" y="62522"/>
                  <a:pt x="285521" y="57608"/>
                  <a:pt x="291465" y="57608"/>
                </a:cubicBezTo>
                <a:close/>
                <a:moveTo>
                  <a:pt x="188938" y="0"/>
                </a:moveTo>
                <a:cubicBezTo>
                  <a:pt x="195110" y="0"/>
                  <a:pt x="204825" y="2972"/>
                  <a:pt x="218084" y="8916"/>
                </a:cubicBezTo>
                <a:cubicBezTo>
                  <a:pt x="231343" y="14859"/>
                  <a:pt x="237972" y="21260"/>
                  <a:pt x="237972" y="28118"/>
                </a:cubicBezTo>
                <a:cubicBezTo>
                  <a:pt x="237972" y="31319"/>
                  <a:pt x="236829" y="35890"/>
                  <a:pt x="234543" y="41834"/>
                </a:cubicBezTo>
                <a:cubicBezTo>
                  <a:pt x="232257" y="47778"/>
                  <a:pt x="230314" y="58179"/>
                  <a:pt x="228714" y="73038"/>
                </a:cubicBezTo>
                <a:cubicBezTo>
                  <a:pt x="227114" y="87897"/>
                  <a:pt x="224942" y="125273"/>
                  <a:pt x="222199" y="185166"/>
                </a:cubicBezTo>
                <a:cubicBezTo>
                  <a:pt x="271577" y="173736"/>
                  <a:pt x="299580" y="168021"/>
                  <a:pt x="306209" y="168021"/>
                </a:cubicBezTo>
                <a:cubicBezTo>
                  <a:pt x="312839" y="168021"/>
                  <a:pt x="317411" y="169279"/>
                  <a:pt x="319925" y="171793"/>
                </a:cubicBezTo>
                <a:cubicBezTo>
                  <a:pt x="322440" y="174308"/>
                  <a:pt x="323697" y="176708"/>
                  <a:pt x="323697" y="178994"/>
                </a:cubicBezTo>
                <a:cubicBezTo>
                  <a:pt x="323697" y="185852"/>
                  <a:pt x="316154" y="191110"/>
                  <a:pt x="301066" y="194768"/>
                </a:cubicBezTo>
                <a:cubicBezTo>
                  <a:pt x="285978" y="198425"/>
                  <a:pt x="259461" y="203454"/>
                  <a:pt x="221513" y="209855"/>
                </a:cubicBezTo>
                <a:cubicBezTo>
                  <a:pt x="219684" y="249174"/>
                  <a:pt x="217970" y="274892"/>
                  <a:pt x="216370" y="287008"/>
                </a:cubicBezTo>
                <a:cubicBezTo>
                  <a:pt x="214769" y="299123"/>
                  <a:pt x="211912" y="305181"/>
                  <a:pt x="207797" y="305181"/>
                </a:cubicBezTo>
                <a:cubicBezTo>
                  <a:pt x="203682" y="305181"/>
                  <a:pt x="200025" y="301524"/>
                  <a:pt x="196824" y="294209"/>
                </a:cubicBezTo>
                <a:cubicBezTo>
                  <a:pt x="193624" y="286893"/>
                  <a:pt x="192024" y="275692"/>
                  <a:pt x="192024" y="260604"/>
                </a:cubicBezTo>
                <a:cubicBezTo>
                  <a:pt x="192024" y="245517"/>
                  <a:pt x="192481" y="230201"/>
                  <a:pt x="193395" y="214656"/>
                </a:cubicBezTo>
                <a:cubicBezTo>
                  <a:pt x="182423" y="237059"/>
                  <a:pt x="166535" y="258433"/>
                  <a:pt x="145732" y="278778"/>
                </a:cubicBezTo>
                <a:cubicBezTo>
                  <a:pt x="124930" y="299123"/>
                  <a:pt x="103441" y="315354"/>
                  <a:pt x="81267" y="327470"/>
                </a:cubicBezTo>
                <a:cubicBezTo>
                  <a:pt x="59093" y="339586"/>
                  <a:pt x="44577" y="345644"/>
                  <a:pt x="37719" y="345644"/>
                </a:cubicBezTo>
                <a:cubicBezTo>
                  <a:pt x="36347" y="345644"/>
                  <a:pt x="35661" y="344958"/>
                  <a:pt x="35661" y="343586"/>
                </a:cubicBezTo>
                <a:cubicBezTo>
                  <a:pt x="35661" y="342215"/>
                  <a:pt x="37490" y="340157"/>
                  <a:pt x="41148" y="337414"/>
                </a:cubicBezTo>
                <a:cubicBezTo>
                  <a:pt x="95555" y="297180"/>
                  <a:pt x="133731" y="258090"/>
                  <a:pt x="155676" y="220142"/>
                </a:cubicBezTo>
                <a:cubicBezTo>
                  <a:pt x="133274" y="222885"/>
                  <a:pt x="117043" y="224257"/>
                  <a:pt x="106985" y="224257"/>
                </a:cubicBezTo>
                <a:cubicBezTo>
                  <a:pt x="96926" y="224257"/>
                  <a:pt x="88697" y="223114"/>
                  <a:pt x="82296" y="220828"/>
                </a:cubicBezTo>
                <a:cubicBezTo>
                  <a:pt x="75895" y="218542"/>
                  <a:pt x="72695" y="216027"/>
                  <a:pt x="72695" y="213284"/>
                </a:cubicBezTo>
                <a:cubicBezTo>
                  <a:pt x="72695" y="210541"/>
                  <a:pt x="77038" y="208941"/>
                  <a:pt x="85725" y="208484"/>
                </a:cubicBezTo>
                <a:cubicBezTo>
                  <a:pt x="105842" y="207569"/>
                  <a:pt x="142189" y="201626"/>
                  <a:pt x="194767" y="190653"/>
                </a:cubicBezTo>
                <a:cubicBezTo>
                  <a:pt x="196139" y="167336"/>
                  <a:pt x="196824" y="144247"/>
                  <a:pt x="196824" y="121387"/>
                </a:cubicBezTo>
                <a:cubicBezTo>
                  <a:pt x="196824" y="65151"/>
                  <a:pt x="193395" y="32462"/>
                  <a:pt x="186537" y="23318"/>
                </a:cubicBezTo>
                <a:cubicBezTo>
                  <a:pt x="181965" y="16917"/>
                  <a:pt x="179679" y="11430"/>
                  <a:pt x="179679" y="6858"/>
                </a:cubicBezTo>
                <a:cubicBezTo>
                  <a:pt x="179679" y="2286"/>
                  <a:pt x="182765" y="0"/>
                  <a:pt x="188938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711615" y="2862563"/>
            <a:ext cx="264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l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" name="任意多边形: 形状 101"/>
          <p:cNvSpPr/>
          <p:nvPr/>
        </p:nvSpPr>
        <p:spPr>
          <a:xfrm>
            <a:off x="7175313" y="2716392"/>
            <a:ext cx="604190" cy="583616"/>
          </a:xfrm>
          <a:custGeom>
            <a:avLst/>
            <a:gdLst>
              <a:gd name="csX0" fmla="*/ 113500 w 604190"/>
              <a:gd name="csY0" fmla="*/ 281179 h 583616"/>
              <a:gd name="csX1" fmla="*/ 117272 w 604190"/>
              <a:gd name="csY1" fmla="*/ 285980 h 583616"/>
              <a:gd name="csX2" fmla="*/ 110414 w 604190"/>
              <a:gd name="csY2" fmla="*/ 310669 h 583616"/>
              <a:gd name="csX3" fmla="*/ 48006 w 604190"/>
              <a:gd name="csY3" fmla="*/ 471832 h 583616"/>
              <a:gd name="csX4" fmla="*/ 36690 w 604190"/>
              <a:gd name="csY4" fmla="*/ 487605 h 583616"/>
              <a:gd name="csX5" fmla="*/ 14059 w 604190"/>
              <a:gd name="csY5" fmla="*/ 461202 h 583616"/>
              <a:gd name="csX6" fmla="*/ 0 w 604190"/>
              <a:gd name="csY6" fmla="*/ 425197 h 583616"/>
              <a:gd name="csX7" fmla="*/ 11658 w 604190"/>
              <a:gd name="csY7" fmla="*/ 411138 h 583616"/>
              <a:gd name="csX8" fmla="*/ 40462 w 604190"/>
              <a:gd name="csY8" fmla="*/ 384392 h 583616"/>
              <a:gd name="csX9" fmla="*/ 99441 w 604190"/>
              <a:gd name="csY9" fmla="*/ 296267 h 583616"/>
              <a:gd name="csX10" fmla="*/ 113500 w 604190"/>
              <a:gd name="csY10" fmla="*/ 281179 h 583616"/>
              <a:gd name="csX11" fmla="*/ 222542 w 604190"/>
              <a:gd name="csY11" fmla="*/ 212599 h 583616"/>
              <a:gd name="csX12" fmla="*/ 250317 w 604190"/>
              <a:gd name="csY12" fmla="*/ 223915 h 583616"/>
              <a:gd name="csX13" fmla="*/ 269519 w 604190"/>
              <a:gd name="csY13" fmla="*/ 242774 h 583616"/>
              <a:gd name="csX14" fmla="*/ 264719 w 604190"/>
              <a:gd name="csY14" fmla="*/ 253061 h 583616"/>
              <a:gd name="csX15" fmla="*/ 235572 w 604190"/>
              <a:gd name="csY15" fmla="*/ 315469 h 583616"/>
              <a:gd name="csX16" fmla="*/ 186880 w 604190"/>
              <a:gd name="csY16" fmla="*/ 407023 h 583616"/>
              <a:gd name="csX17" fmla="*/ 123101 w 604190"/>
              <a:gd name="csY17" fmla="*/ 474575 h 583616"/>
              <a:gd name="csX18" fmla="*/ 81610 w 604190"/>
              <a:gd name="csY18" fmla="*/ 496520 h 583616"/>
              <a:gd name="csX19" fmla="*/ 77495 w 604190"/>
              <a:gd name="csY19" fmla="*/ 493434 h 583616"/>
              <a:gd name="csX20" fmla="*/ 82296 w 604190"/>
              <a:gd name="csY20" fmla="*/ 485548 h 583616"/>
              <a:gd name="csX21" fmla="*/ 160820 w 604190"/>
              <a:gd name="csY21" fmla="*/ 395708 h 583616"/>
              <a:gd name="csX22" fmla="*/ 200253 w 604190"/>
              <a:gd name="csY22" fmla="*/ 313069 h 583616"/>
              <a:gd name="csX23" fmla="*/ 216027 w 604190"/>
              <a:gd name="csY23" fmla="*/ 260262 h 583616"/>
              <a:gd name="csX24" fmla="*/ 212598 w 604190"/>
              <a:gd name="csY24" fmla="*/ 253061 h 583616"/>
              <a:gd name="csX25" fmla="*/ 204368 w 604190"/>
              <a:gd name="csY25" fmla="*/ 254433 h 583616"/>
              <a:gd name="csX26" fmla="*/ 157734 w 604190"/>
              <a:gd name="csY26" fmla="*/ 263348 h 583616"/>
              <a:gd name="csX27" fmla="*/ 133045 w 604190"/>
              <a:gd name="csY27" fmla="*/ 255119 h 583616"/>
              <a:gd name="csX28" fmla="*/ 144704 w 604190"/>
              <a:gd name="csY28" fmla="*/ 247918 h 583616"/>
              <a:gd name="csX29" fmla="*/ 176250 w 604190"/>
              <a:gd name="csY29" fmla="*/ 235916 h 583616"/>
              <a:gd name="csX30" fmla="*/ 205054 w 604190"/>
              <a:gd name="csY30" fmla="*/ 219457 h 583616"/>
              <a:gd name="csX31" fmla="*/ 222542 w 604190"/>
              <a:gd name="csY31" fmla="*/ 212599 h 583616"/>
              <a:gd name="csX32" fmla="*/ 39776 w 604190"/>
              <a:gd name="csY32" fmla="*/ 124132 h 583616"/>
              <a:gd name="csX33" fmla="*/ 87439 w 604190"/>
              <a:gd name="csY33" fmla="*/ 141963 h 583616"/>
              <a:gd name="csX34" fmla="*/ 121386 w 604190"/>
              <a:gd name="csY34" fmla="*/ 186540 h 583616"/>
              <a:gd name="csX35" fmla="*/ 117272 w 604190"/>
              <a:gd name="csY35" fmla="*/ 210886 h 583616"/>
              <a:gd name="csX36" fmla="*/ 104241 w 604190"/>
              <a:gd name="csY36" fmla="*/ 222887 h 583616"/>
              <a:gd name="csX37" fmla="*/ 60693 w 604190"/>
              <a:gd name="csY37" fmla="*/ 179682 h 583616"/>
              <a:gd name="csX38" fmla="*/ 34290 w 604190"/>
              <a:gd name="csY38" fmla="*/ 130304 h 583616"/>
              <a:gd name="csX39" fmla="*/ 39776 w 604190"/>
              <a:gd name="csY39" fmla="*/ 124132 h 583616"/>
              <a:gd name="csX40" fmla="*/ 277406 w 604190"/>
              <a:gd name="csY40" fmla="*/ 0 h 583616"/>
              <a:gd name="csX41" fmla="*/ 316154 w 604190"/>
              <a:gd name="csY41" fmla="*/ 10287 h 583616"/>
              <a:gd name="csX42" fmla="*/ 344957 w 604190"/>
              <a:gd name="csY42" fmla="*/ 33604 h 583616"/>
              <a:gd name="csX43" fmla="*/ 340157 w 604190"/>
              <a:gd name="csY43" fmla="*/ 52121 h 583616"/>
              <a:gd name="csX44" fmla="*/ 331927 w 604190"/>
              <a:gd name="csY44" fmla="*/ 103899 h 583616"/>
              <a:gd name="csX45" fmla="*/ 324383 w 604190"/>
              <a:gd name="csY45" fmla="*/ 244831 h 583616"/>
              <a:gd name="csX46" fmla="*/ 340842 w 604190"/>
              <a:gd name="csY46" fmla="*/ 263347 h 583616"/>
              <a:gd name="csX47" fmla="*/ 419024 w 604190"/>
              <a:gd name="csY47" fmla="*/ 139903 h 583616"/>
              <a:gd name="csX48" fmla="*/ 428625 w 604190"/>
              <a:gd name="csY48" fmla="*/ 126873 h 583616"/>
              <a:gd name="csX49" fmla="*/ 462229 w 604190"/>
              <a:gd name="csY49" fmla="*/ 139903 h 583616"/>
              <a:gd name="csX50" fmla="*/ 486232 w 604190"/>
              <a:gd name="csY50" fmla="*/ 165278 h 583616"/>
              <a:gd name="csX51" fmla="*/ 474573 w 604190"/>
              <a:gd name="csY51" fmla="*/ 179337 h 583616"/>
              <a:gd name="csX52" fmla="*/ 449885 w 604190"/>
              <a:gd name="csY52" fmla="*/ 194767 h 583616"/>
              <a:gd name="csX53" fmla="*/ 350444 w 604190"/>
              <a:gd name="csY53" fmla="*/ 274320 h 583616"/>
              <a:gd name="csX54" fmla="*/ 457086 w 604190"/>
              <a:gd name="csY54" fmla="*/ 363131 h 583616"/>
              <a:gd name="csX55" fmla="*/ 581558 w 604190"/>
              <a:gd name="csY55" fmla="*/ 409423 h 583616"/>
              <a:gd name="csX56" fmla="*/ 604190 w 604190"/>
              <a:gd name="csY56" fmla="*/ 420396 h 583616"/>
              <a:gd name="csX57" fmla="*/ 597332 w 604190"/>
              <a:gd name="csY57" fmla="*/ 426568 h 583616"/>
              <a:gd name="csX58" fmla="*/ 550354 w 604190"/>
              <a:gd name="csY58" fmla="*/ 433083 h 583616"/>
              <a:gd name="csX59" fmla="*/ 482803 w 604190"/>
              <a:gd name="csY59" fmla="*/ 436855 h 583616"/>
              <a:gd name="csX60" fmla="*/ 441998 w 604190"/>
              <a:gd name="csY60" fmla="*/ 425882 h 583616"/>
              <a:gd name="csX61" fmla="*/ 324383 w 604190"/>
              <a:gd name="csY61" fmla="*/ 270205 h 583616"/>
              <a:gd name="csX62" fmla="*/ 327469 w 604190"/>
              <a:gd name="csY62" fmla="*/ 385763 h 583616"/>
              <a:gd name="csX63" fmla="*/ 330555 w 604190"/>
              <a:gd name="csY63" fmla="*/ 488290 h 583616"/>
              <a:gd name="csX64" fmla="*/ 326784 w 604190"/>
              <a:gd name="csY64" fmla="*/ 525323 h 583616"/>
              <a:gd name="csX65" fmla="*/ 313753 w 604190"/>
              <a:gd name="csY65" fmla="*/ 557213 h 583616"/>
              <a:gd name="csX66" fmla="*/ 299352 w 604190"/>
              <a:gd name="csY66" fmla="*/ 578130 h 583616"/>
              <a:gd name="csX67" fmla="*/ 288379 w 604190"/>
              <a:gd name="csY67" fmla="*/ 583616 h 583616"/>
              <a:gd name="csX68" fmla="*/ 278435 w 604190"/>
              <a:gd name="csY68" fmla="*/ 573329 h 583616"/>
              <a:gd name="csX69" fmla="*/ 224256 w 604190"/>
              <a:gd name="csY69" fmla="*/ 493776 h 583616"/>
              <a:gd name="csX70" fmla="*/ 222199 w 604190"/>
              <a:gd name="csY70" fmla="*/ 487947 h 583616"/>
              <a:gd name="csX71" fmla="*/ 226314 w 604190"/>
              <a:gd name="csY71" fmla="*/ 484861 h 583616"/>
              <a:gd name="csX72" fmla="*/ 245173 w 604190"/>
              <a:gd name="csY72" fmla="*/ 490347 h 583616"/>
              <a:gd name="csX73" fmla="*/ 271920 w 604190"/>
              <a:gd name="csY73" fmla="*/ 495834 h 583616"/>
              <a:gd name="csX74" fmla="*/ 285293 w 604190"/>
              <a:gd name="csY74" fmla="*/ 483832 h 583616"/>
              <a:gd name="csX75" fmla="*/ 291465 w 604190"/>
              <a:gd name="csY75" fmla="*/ 422110 h 583616"/>
              <a:gd name="csX76" fmla="*/ 294208 w 604190"/>
              <a:gd name="csY76" fmla="*/ 246202 h 583616"/>
              <a:gd name="csX77" fmla="*/ 291122 w 604190"/>
              <a:gd name="csY77" fmla="*/ 82639 h 583616"/>
              <a:gd name="csX78" fmla="*/ 279806 w 604190"/>
              <a:gd name="csY78" fmla="*/ 32919 h 583616"/>
              <a:gd name="csX79" fmla="*/ 267462 w 604190"/>
              <a:gd name="csY79" fmla="*/ 7544 h 583616"/>
              <a:gd name="csX80" fmla="*/ 277406 w 604190"/>
              <a:gd name="csY80" fmla="*/ 0 h 583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</a:cxnLst>
            <a:rect l="l" t="t" r="r" b="b"/>
            <a:pathLst>
              <a:path w="604190" h="583616">
                <a:moveTo>
                  <a:pt x="113500" y="281179"/>
                </a:moveTo>
                <a:cubicBezTo>
                  <a:pt x="116014" y="281179"/>
                  <a:pt x="117272" y="282779"/>
                  <a:pt x="117272" y="285980"/>
                </a:cubicBezTo>
                <a:cubicBezTo>
                  <a:pt x="117272" y="291466"/>
                  <a:pt x="114986" y="299696"/>
                  <a:pt x="110414" y="310669"/>
                </a:cubicBezTo>
                <a:cubicBezTo>
                  <a:pt x="71552" y="403480"/>
                  <a:pt x="50749" y="457201"/>
                  <a:pt x="48006" y="471832"/>
                </a:cubicBezTo>
                <a:cubicBezTo>
                  <a:pt x="46177" y="482347"/>
                  <a:pt x="42405" y="487605"/>
                  <a:pt x="36690" y="487605"/>
                </a:cubicBezTo>
                <a:cubicBezTo>
                  <a:pt x="30975" y="487605"/>
                  <a:pt x="23431" y="478804"/>
                  <a:pt x="14059" y="461202"/>
                </a:cubicBezTo>
                <a:cubicBezTo>
                  <a:pt x="4686" y="443599"/>
                  <a:pt x="0" y="431598"/>
                  <a:pt x="0" y="425197"/>
                </a:cubicBezTo>
                <a:cubicBezTo>
                  <a:pt x="0" y="418796"/>
                  <a:pt x="3886" y="414110"/>
                  <a:pt x="11658" y="411138"/>
                </a:cubicBezTo>
                <a:cubicBezTo>
                  <a:pt x="19431" y="408166"/>
                  <a:pt x="29032" y="399251"/>
                  <a:pt x="40462" y="384392"/>
                </a:cubicBezTo>
                <a:cubicBezTo>
                  <a:pt x="51892" y="369533"/>
                  <a:pt x="71552" y="340158"/>
                  <a:pt x="99441" y="296267"/>
                </a:cubicBezTo>
                <a:cubicBezTo>
                  <a:pt x="106299" y="286208"/>
                  <a:pt x="110985" y="281179"/>
                  <a:pt x="113500" y="281179"/>
                </a:cubicBezTo>
                <a:close/>
                <a:moveTo>
                  <a:pt x="222542" y="212599"/>
                </a:moveTo>
                <a:cubicBezTo>
                  <a:pt x="228257" y="212599"/>
                  <a:pt x="237515" y="216371"/>
                  <a:pt x="250317" y="223915"/>
                </a:cubicBezTo>
                <a:cubicBezTo>
                  <a:pt x="263118" y="231459"/>
                  <a:pt x="269519" y="237745"/>
                  <a:pt x="269519" y="242774"/>
                </a:cubicBezTo>
                <a:cubicBezTo>
                  <a:pt x="269519" y="245518"/>
                  <a:pt x="267919" y="248947"/>
                  <a:pt x="264719" y="253061"/>
                </a:cubicBezTo>
                <a:cubicBezTo>
                  <a:pt x="255575" y="264034"/>
                  <a:pt x="245859" y="284837"/>
                  <a:pt x="235572" y="315469"/>
                </a:cubicBezTo>
                <a:cubicBezTo>
                  <a:pt x="225285" y="346102"/>
                  <a:pt x="209055" y="376620"/>
                  <a:pt x="186880" y="407023"/>
                </a:cubicBezTo>
                <a:cubicBezTo>
                  <a:pt x="164706" y="437427"/>
                  <a:pt x="143446" y="459944"/>
                  <a:pt x="123101" y="474575"/>
                </a:cubicBezTo>
                <a:cubicBezTo>
                  <a:pt x="102756" y="489205"/>
                  <a:pt x="88925" y="496520"/>
                  <a:pt x="81610" y="496520"/>
                </a:cubicBezTo>
                <a:cubicBezTo>
                  <a:pt x="78867" y="496520"/>
                  <a:pt x="77495" y="495492"/>
                  <a:pt x="77495" y="493434"/>
                </a:cubicBezTo>
                <a:cubicBezTo>
                  <a:pt x="77495" y="491377"/>
                  <a:pt x="79095" y="488748"/>
                  <a:pt x="82296" y="485548"/>
                </a:cubicBezTo>
                <a:cubicBezTo>
                  <a:pt x="118872" y="450343"/>
                  <a:pt x="145047" y="420397"/>
                  <a:pt x="160820" y="395708"/>
                </a:cubicBezTo>
                <a:cubicBezTo>
                  <a:pt x="176593" y="371019"/>
                  <a:pt x="189738" y="343473"/>
                  <a:pt x="200253" y="313069"/>
                </a:cubicBezTo>
                <a:cubicBezTo>
                  <a:pt x="210769" y="282665"/>
                  <a:pt x="216027" y="265063"/>
                  <a:pt x="216027" y="260262"/>
                </a:cubicBezTo>
                <a:cubicBezTo>
                  <a:pt x="216027" y="255462"/>
                  <a:pt x="214884" y="253061"/>
                  <a:pt x="212598" y="253061"/>
                </a:cubicBezTo>
                <a:cubicBezTo>
                  <a:pt x="210312" y="253061"/>
                  <a:pt x="207569" y="253519"/>
                  <a:pt x="204368" y="254433"/>
                </a:cubicBezTo>
                <a:cubicBezTo>
                  <a:pt x="185166" y="260377"/>
                  <a:pt x="169621" y="263348"/>
                  <a:pt x="157734" y="263348"/>
                </a:cubicBezTo>
                <a:cubicBezTo>
                  <a:pt x="141275" y="263348"/>
                  <a:pt x="133045" y="260605"/>
                  <a:pt x="133045" y="255119"/>
                </a:cubicBezTo>
                <a:cubicBezTo>
                  <a:pt x="133045" y="251918"/>
                  <a:pt x="136931" y="249518"/>
                  <a:pt x="144704" y="247918"/>
                </a:cubicBezTo>
                <a:cubicBezTo>
                  <a:pt x="152476" y="246318"/>
                  <a:pt x="162992" y="242317"/>
                  <a:pt x="176250" y="235916"/>
                </a:cubicBezTo>
                <a:cubicBezTo>
                  <a:pt x="189509" y="229516"/>
                  <a:pt x="199110" y="224029"/>
                  <a:pt x="205054" y="219457"/>
                </a:cubicBezTo>
                <a:cubicBezTo>
                  <a:pt x="210998" y="214885"/>
                  <a:pt x="216827" y="212599"/>
                  <a:pt x="222542" y="212599"/>
                </a:cubicBezTo>
                <a:close/>
                <a:moveTo>
                  <a:pt x="39776" y="124132"/>
                </a:moveTo>
                <a:cubicBezTo>
                  <a:pt x="48920" y="124132"/>
                  <a:pt x="64808" y="130076"/>
                  <a:pt x="87439" y="141963"/>
                </a:cubicBezTo>
                <a:cubicBezTo>
                  <a:pt x="110071" y="153850"/>
                  <a:pt x="121386" y="168709"/>
                  <a:pt x="121386" y="186540"/>
                </a:cubicBezTo>
                <a:cubicBezTo>
                  <a:pt x="121386" y="194769"/>
                  <a:pt x="120015" y="202885"/>
                  <a:pt x="117272" y="210886"/>
                </a:cubicBezTo>
                <a:cubicBezTo>
                  <a:pt x="114528" y="218887"/>
                  <a:pt x="110185" y="222887"/>
                  <a:pt x="104241" y="222887"/>
                </a:cubicBezTo>
                <a:cubicBezTo>
                  <a:pt x="92811" y="222887"/>
                  <a:pt x="78295" y="208485"/>
                  <a:pt x="60693" y="179682"/>
                </a:cubicBezTo>
                <a:cubicBezTo>
                  <a:pt x="43091" y="150878"/>
                  <a:pt x="34290" y="134419"/>
                  <a:pt x="34290" y="130304"/>
                </a:cubicBezTo>
                <a:cubicBezTo>
                  <a:pt x="34290" y="126189"/>
                  <a:pt x="36119" y="124132"/>
                  <a:pt x="39776" y="124132"/>
                </a:cubicBezTo>
                <a:close/>
                <a:moveTo>
                  <a:pt x="277406" y="0"/>
                </a:moveTo>
                <a:cubicBezTo>
                  <a:pt x="284035" y="0"/>
                  <a:pt x="296951" y="3429"/>
                  <a:pt x="316154" y="10287"/>
                </a:cubicBezTo>
                <a:cubicBezTo>
                  <a:pt x="335356" y="17145"/>
                  <a:pt x="344957" y="24918"/>
                  <a:pt x="344957" y="33604"/>
                </a:cubicBezTo>
                <a:cubicBezTo>
                  <a:pt x="344957" y="37262"/>
                  <a:pt x="343357" y="43434"/>
                  <a:pt x="340157" y="52121"/>
                </a:cubicBezTo>
                <a:cubicBezTo>
                  <a:pt x="336956" y="60808"/>
                  <a:pt x="334213" y="78067"/>
                  <a:pt x="331927" y="103899"/>
                </a:cubicBezTo>
                <a:cubicBezTo>
                  <a:pt x="329641" y="129731"/>
                  <a:pt x="327126" y="176708"/>
                  <a:pt x="324383" y="244831"/>
                </a:cubicBezTo>
                <a:lnTo>
                  <a:pt x="340842" y="263347"/>
                </a:lnTo>
                <a:cubicBezTo>
                  <a:pt x="392963" y="204369"/>
                  <a:pt x="419024" y="163221"/>
                  <a:pt x="419024" y="139903"/>
                </a:cubicBezTo>
                <a:cubicBezTo>
                  <a:pt x="419024" y="131217"/>
                  <a:pt x="422224" y="126873"/>
                  <a:pt x="428625" y="126873"/>
                </a:cubicBezTo>
                <a:cubicBezTo>
                  <a:pt x="435026" y="126873"/>
                  <a:pt x="446227" y="131217"/>
                  <a:pt x="462229" y="139903"/>
                </a:cubicBezTo>
                <a:cubicBezTo>
                  <a:pt x="478231" y="148590"/>
                  <a:pt x="486232" y="157048"/>
                  <a:pt x="486232" y="165278"/>
                </a:cubicBezTo>
                <a:cubicBezTo>
                  <a:pt x="486232" y="170764"/>
                  <a:pt x="482346" y="175451"/>
                  <a:pt x="474573" y="179337"/>
                </a:cubicBezTo>
                <a:cubicBezTo>
                  <a:pt x="466801" y="183223"/>
                  <a:pt x="458571" y="188367"/>
                  <a:pt x="449885" y="194767"/>
                </a:cubicBezTo>
                <a:lnTo>
                  <a:pt x="350444" y="274320"/>
                </a:lnTo>
                <a:cubicBezTo>
                  <a:pt x="386105" y="312268"/>
                  <a:pt x="421653" y="341871"/>
                  <a:pt x="457086" y="363131"/>
                </a:cubicBezTo>
                <a:cubicBezTo>
                  <a:pt x="492519" y="384391"/>
                  <a:pt x="534009" y="399822"/>
                  <a:pt x="581558" y="409423"/>
                </a:cubicBezTo>
                <a:cubicBezTo>
                  <a:pt x="596646" y="412623"/>
                  <a:pt x="604190" y="416281"/>
                  <a:pt x="604190" y="420396"/>
                </a:cubicBezTo>
                <a:cubicBezTo>
                  <a:pt x="604190" y="422682"/>
                  <a:pt x="601904" y="424739"/>
                  <a:pt x="597332" y="426568"/>
                </a:cubicBezTo>
                <a:cubicBezTo>
                  <a:pt x="592760" y="428397"/>
                  <a:pt x="577101" y="430568"/>
                  <a:pt x="550354" y="433083"/>
                </a:cubicBezTo>
                <a:cubicBezTo>
                  <a:pt x="523608" y="435597"/>
                  <a:pt x="501091" y="436855"/>
                  <a:pt x="482803" y="436855"/>
                </a:cubicBezTo>
                <a:cubicBezTo>
                  <a:pt x="464515" y="436855"/>
                  <a:pt x="450913" y="433197"/>
                  <a:pt x="441998" y="425882"/>
                </a:cubicBezTo>
                <a:cubicBezTo>
                  <a:pt x="433083" y="418567"/>
                  <a:pt x="393878" y="366675"/>
                  <a:pt x="324383" y="270205"/>
                </a:cubicBezTo>
                <a:cubicBezTo>
                  <a:pt x="324383" y="292608"/>
                  <a:pt x="325412" y="331127"/>
                  <a:pt x="327469" y="385763"/>
                </a:cubicBezTo>
                <a:cubicBezTo>
                  <a:pt x="329527" y="440398"/>
                  <a:pt x="330555" y="474574"/>
                  <a:pt x="330555" y="488290"/>
                </a:cubicBezTo>
                <a:cubicBezTo>
                  <a:pt x="330555" y="502006"/>
                  <a:pt x="329298" y="514350"/>
                  <a:pt x="326784" y="525323"/>
                </a:cubicBezTo>
                <a:cubicBezTo>
                  <a:pt x="324269" y="536296"/>
                  <a:pt x="319926" y="546926"/>
                  <a:pt x="313753" y="557213"/>
                </a:cubicBezTo>
                <a:cubicBezTo>
                  <a:pt x="307581" y="567500"/>
                  <a:pt x="302781" y="574472"/>
                  <a:pt x="299352" y="578130"/>
                </a:cubicBezTo>
                <a:cubicBezTo>
                  <a:pt x="295923" y="581787"/>
                  <a:pt x="292265" y="583616"/>
                  <a:pt x="288379" y="583616"/>
                </a:cubicBezTo>
                <a:cubicBezTo>
                  <a:pt x="284493" y="583616"/>
                  <a:pt x="281178" y="580187"/>
                  <a:pt x="278435" y="573329"/>
                </a:cubicBezTo>
                <a:cubicBezTo>
                  <a:pt x="267005" y="547269"/>
                  <a:pt x="248945" y="520751"/>
                  <a:pt x="224256" y="493776"/>
                </a:cubicBezTo>
                <a:cubicBezTo>
                  <a:pt x="222885" y="491947"/>
                  <a:pt x="222199" y="490004"/>
                  <a:pt x="222199" y="487947"/>
                </a:cubicBezTo>
                <a:cubicBezTo>
                  <a:pt x="222199" y="485889"/>
                  <a:pt x="223571" y="484861"/>
                  <a:pt x="226314" y="484861"/>
                </a:cubicBezTo>
                <a:cubicBezTo>
                  <a:pt x="227685" y="484861"/>
                  <a:pt x="233972" y="486690"/>
                  <a:pt x="245173" y="490347"/>
                </a:cubicBezTo>
                <a:cubicBezTo>
                  <a:pt x="256375" y="494005"/>
                  <a:pt x="265290" y="495834"/>
                  <a:pt x="271920" y="495834"/>
                </a:cubicBezTo>
                <a:cubicBezTo>
                  <a:pt x="278549" y="495834"/>
                  <a:pt x="283007" y="491833"/>
                  <a:pt x="285293" y="483832"/>
                </a:cubicBezTo>
                <a:cubicBezTo>
                  <a:pt x="287579" y="475831"/>
                  <a:pt x="289636" y="455257"/>
                  <a:pt x="291465" y="422110"/>
                </a:cubicBezTo>
                <a:cubicBezTo>
                  <a:pt x="293294" y="388963"/>
                  <a:pt x="294208" y="330327"/>
                  <a:pt x="294208" y="246202"/>
                </a:cubicBezTo>
                <a:cubicBezTo>
                  <a:pt x="294208" y="162078"/>
                  <a:pt x="293179" y="107556"/>
                  <a:pt x="291122" y="82639"/>
                </a:cubicBezTo>
                <a:cubicBezTo>
                  <a:pt x="289065" y="57722"/>
                  <a:pt x="285293" y="41148"/>
                  <a:pt x="279806" y="32919"/>
                </a:cubicBezTo>
                <a:cubicBezTo>
                  <a:pt x="271577" y="21031"/>
                  <a:pt x="267462" y="12573"/>
                  <a:pt x="267462" y="7544"/>
                </a:cubicBezTo>
                <a:cubicBezTo>
                  <a:pt x="267462" y="2515"/>
                  <a:pt x="270777" y="0"/>
                  <a:pt x="2774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>
            <a:off x="4430482" y="2674528"/>
            <a:ext cx="587044" cy="626822"/>
          </a:xfrm>
          <a:custGeom>
            <a:avLst/>
            <a:gdLst>
              <a:gd name="csX0" fmla="*/ 299009 w 587044"/>
              <a:gd name="csY0" fmla="*/ 492406 h 626822"/>
              <a:gd name="csX1" fmla="*/ 350787 w 587044"/>
              <a:gd name="csY1" fmla="*/ 511608 h 626822"/>
              <a:gd name="csX2" fmla="*/ 413195 w 587044"/>
              <a:gd name="csY2" fmla="*/ 550013 h 626822"/>
              <a:gd name="csX3" fmla="*/ 432740 w 587044"/>
              <a:gd name="csY3" fmla="*/ 596647 h 626822"/>
              <a:gd name="csX4" fmla="*/ 419710 w 587044"/>
              <a:gd name="csY4" fmla="*/ 623394 h 626822"/>
              <a:gd name="csX5" fmla="*/ 402565 w 587044"/>
              <a:gd name="csY5" fmla="*/ 613107 h 626822"/>
              <a:gd name="csX6" fmla="*/ 351130 w 587044"/>
              <a:gd name="csY6" fmla="*/ 559614 h 626822"/>
              <a:gd name="csX7" fmla="*/ 301753 w 587044"/>
              <a:gd name="csY7" fmla="*/ 508522 h 626822"/>
              <a:gd name="csX8" fmla="*/ 293523 w 587044"/>
              <a:gd name="csY8" fmla="*/ 496521 h 626822"/>
              <a:gd name="csX9" fmla="*/ 299009 w 587044"/>
              <a:gd name="csY9" fmla="*/ 492406 h 626822"/>
              <a:gd name="csX10" fmla="*/ 265061 w 587044"/>
              <a:gd name="csY10" fmla="*/ 337414 h 626822"/>
              <a:gd name="csX11" fmla="*/ 291122 w 587044"/>
              <a:gd name="csY11" fmla="*/ 345644 h 626822"/>
              <a:gd name="csX12" fmla="*/ 307924 w 587044"/>
              <a:gd name="csY12" fmla="*/ 363474 h 626822"/>
              <a:gd name="csX13" fmla="*/ 303809 w 587044"/>
              <a:gd name="csY13" fmla="*/ 376505 h 626822"/>
              <a:gd name="csX14" fmla="*/ 291122 w 587044"/>
              <a:gd name="csY14" fmla="*/ 436855 h 626822"/>
              <a:gd name="csX15" fmla="*/ 268147 w 587044"/>
              <a:gd name="csY15" fmla="*/ 510578 h 626822"/>
              <a:gd name="csX16" fmla="*/ 230086 w 587044"/>
              <a:gd name="csY16" fmla="*/ 557213 h 626822"/>
              <a:gd name="csX17" fmla="*/ 159448 w 587044"/>
              <a:gd name="csY17" fmla="*/ 603847 h 626822"/>
              <a:gd name="csX18" fmla="*/ 100812 w 587044"/>
              <a:gd name="csY18" fmla="*/ 626822 h 626822"/>
              <a:gd name="csX19" fmla="*/ 93954 w 587044"/>
              <a:gd name="csY19" fmla="*/ 622021 h 626822"/>
              <a:gd name="csX20" fmla="*/ 104927 w 587044"/>
              <a:gd name="csY20" fmla="*/ 609677 h 626822"/>
              <a:gd name="csX21" fmla="*/ 205740 w 587044"/>
              <a:gd name="csY21" fmla="*/ 536296 h 626822"/>
              <a:gd name="csX22" fmla="*/ 248602 w 587044"/>
              <a:gd name="csY22" fmla="*/ 460515 h 626822"/>
              <a:gd name="csX23" fmla="*/ 260604 w 587044"/>
              <a:gd name="csY23" fmla="*/ 388506 h 626822"/>
              <a:gd name="csX24" fmla="*/ 258203 w 587044"/>
              <a:gd name="csY24" fmla="*/ 354902 h 626822"/>
              <a:gd name="csX25" fmla="*/ 255803 w 587044"/>
              <a:gd name="csY25" fmla="*/ 345644 h 626822"/>
              <a:gd name="csX26" fmla="*/ 265061 w 587044"/>
              <a:gd name="csY26" fmla="*/ 337414 h 626822"/>
              <a:gd name="csX27" fmla="*/ 367588 w 587044"/>
              <a:gd name="csY27" fmla="*/ 275692 h 626822"/>
              <a:gd name="csX28" fmla="*/ 399821 w 587044"/>
              <a:gd name="csY28" fmla="*/ 290780 h 626822"/>
              <a:gd name="csX29" fmla="*/ 419023 w 587044"/>
              <a:gd name="csY29" fmla="*/ 312382 h 626822"/>
              <a:gd name="csX30" fmla="*/ 413880 w 587044"/>
              <a:gd name="csY30" fmla="*/ 325755 h 626822"/>
              <a:gd name="csX31" fmla="*/ 405993 w 587044"/>
              <a:gd name="csY31" fmla="*/ 360731 h 626822"/>
              <a:gd name="csX32" fmla="*/ 403936 w 587044"/>
              <a:gd name="csY32" fmla="*/ 411137 h 626822"/>
              <a:gd name="csX33" fmla="*/ 404622 w 587044"/>
              <a:gd name="csY33" fmla="*/ 449542 h 626822"/>
              <a:gd name="csX34" fmla="*/ 398792 w 587044"/>
              <a:gd name="csY34" fmla="*/ 480746 h 626822"/>
              <a:gd name="csX35" fmla="*/ 385762 w 587044"/>
              <a:gd name="csY35" fmla="*/ 495834 h 626822"/>
              <a:gd name="csX36" fmla="*/ 369989 w 587044"/>
              <a:gd name="csY36" fmla="*/ 486233 h 626822"/>
              <a:gd name="csX37" fmla="*/ 361416 w 587044"/>
              <a:gd name="csY37" fmla="*/ 467373 h 626822"/>
              <a:gd name="csX38" fmla="*/ 364159 w 587044"/>
              <a:gd name="csY38" fmla="*/ 442684 h 626822"/>
              <a:gd name="csX39" fmla="*/ 366903 w 587044"/>
              <a:gd name="csY39" fmla="*/ 399136 h 626822"/>
              <a:gd name="csX40" fmla="*/ 365874 w 587044"/>
              <a:gd name="csY40" fmla="*/ 348730 h 626822"/>
              <a:gd name="csX41" fmla="*/ 363131 w 587044"/>
              <a:gd name="csY41" fmla="*/ 318212 h 626822"/>
              <a:gd name="csX42" fmla="*/ 355587 w 587044"/>
              <a:gd name="csY42" fmla="*/ 306553 h 626822"/>
              <a:gd name="csX43" fmla="*/ 334670 w 587044"/>
              <a:gd name="csY43" fmla="*/ 303124 h 626822"/>
              <a:gd name="csX44" fmla="*/ 282206 w 587044"/>
              <a:gd name="csY44" fmla="*/ 308953 h 626822"/>
              <a:gd name="csX45" fmla="*/ 207111 w 587044"/>
              <a:gd name="csY45" fmla="*/ 316840 h 626822"/>
              <a:gd name="csX46" fmla="*/ 201625 w 587044"/>
              <a:gd name="csY46" fmla="*/ 421082 h 626822"/>
              <a:gd name="csX47" fmla="*/ 190995 w 587044"/>
              <a:gd name="csY47" fmla="*/ 486575 h 626822"/>
              <a:gd name="csX48" fmla="*/ 178651 w 587044"/>
              <a:gd name="csY48" fmla="*/ 500634 h 626822"/>
              <a:gd name="csX49" fmla="*/ 166306 w 587044"/>
              <a:gd name="csY49" fmla="*/ 490004 h 626822"/>
              <a:gd name="csX50" fmla="*/ 160477 w 587044"/>
              <a:gd name="csY50" fmla="*/ 464973 h 626822"/>
              <a:gd name="csX51" fmla="*/ 163906 w 587044"/>
              <a:gd name="csY51" fmla="*/ 434798 h 626822"/>
              <a:gd name="csX52" fmla="*/ 172821 w 587044"/>
              <a:gd name="csY52" fmla="*/ 359017 h 626822"/>
              <a:gd name="csX53" fmla="*/ 166649 w 587044"/>
              <a:gd name="csY53" fmla="*/ 307925 h 626822"/>
              <a:gd name="csX54" fmla="*/ 165277 w 587044"/>
              <a:gd name="csY54" fmla="*/ 301752 h 626822"/>
              <a:gd name="csX55" fmla="*/ 174193 w 587044"/>
              <a:gd name="csY55" fmla="*/ 294894 h 626822"/>
              <a:gd name="csX56" fmla="*/ 196138 w 587044"/>
              <a:gd name="csY56" fmla="*/ 298323 h 626822"/>
              <a:gd name="csX57" fmla="*/ 290093 w 587044"/>
              <a:gd name="csY57" fmla="*/ 289408 h 626822"/>
              <a:gd name="csX58" fmla="*/ 348729 w 587044"/>
              <a:gd name="csY58" fmla="*/ 279464 h 626822"/>
              <a:gd name="csX59" fmla="*/ 367588 w 587044"/>
              <a:gd name="csY59" fmla="*/ 275692 h 626822"/>
              <a:gd name="csX60" fmla="*/ 260947 w 587044"/>
              <a:gd name="csY60" fmla="*/ 0 h 626822"/>
              <a:gd name="csX61" fmla="*/ 296608 w 587044"/>
              <a:gd name="csY61" fmla="*/ 10287 h 626822"/>
              <a:gd name="csX62" fmla="*/ 320268 w 587044"/>
              <a:gd name="csY62" fmla="*/ 30176 h 626822"/>
              <a:gd name="csX63" fmla="*/ 317182 w 587044"/>
              <a:gd name="csY63" fmla="*/ 42863 h 626822"/>
              <a:gd name="csX64" fmla="*/ 312039 w 587044"/>
              <a:gd name="csY64" fmla="*/ 78182 h 626822"/>
              <a:gd name="csX65" fmla="*/ 361073 w 587044"/>
              <a:gd name="csY65" fmla="*/ 68923 h 626822"/>
              <a:gd name="csX66" fmla="*/ 387819 w 587044"/>
              <a:gd name="csY66" fmla="*/ 65837 h 626822"/>
              <a:gd name="csX67" fmla="*/ 415252 w 587044"/>
              <a:gd name="csY67" fmla="*/ 69952 h 626822"/>
              <a:gd name="csX68" fmla="*/ 426567 w 587044"/>
              <a:gd name="csY68" fmla="*/ 80925 h 626822"/>
              <a:gd name="csX69" fmla="*/ 415252 w 587044"/>
              <a:gd name="csY69" fmla="*/ 91898 h 626822"/>
              <a:gd name="csX70" fmla="*/ 310667 w 587044"/>
              <a:gd name="csY70" fmla="*/ 108357 h 626822"/>
              <a:gd name="csX71" fmla="*/ 308610 w 587044"/>
              <a:gd name="csY71" fmla="*/ 153620 h 626822"/>
              <a:gd name="csX72" fmla="*/ 347357 w 587044"/>
              <a:gd name="csY72" fmla="*/ 146419 h 626822"/>
              <a:gd name="csX73" fmla="*/ 374446 w 587044"/>
              <a:gd name="csY73" fmla="*/ 141961 h 626822"/>
              <a:gd name="csX74" fmla="*/ 407365 w 587044"/>
              <a:gd name="csY74" fmla="*/ 154991 h 626822"/>
              <a:gd name="csX75" fmla="*/ 403593 w 587044"/>
              <a:gd name="csY75" fmla="*/ 161506 h 626822"/>
              <a:gd name="csX76" fmla="*/ 366903 w 587044"/>
              <a:gd name="csY76" fmla="*/ 170079 h 626822"/>
              <a:gd name="csX77" fmla="*/ 307238 w 587044"/>
              <a:gd name="csY77" fmla="*/ 179680 h 626822"/>
              <a:gd name="csX78" fmla="*/ 305181 w 587044"/>
              <a:gd name="csY78" fmla="*/ 227686 h 626822"/>
              <a:gd name="csX79" fmla="*/ 481774 w 587044"/>
              <a:gd name="csY79" fmla="*/ 206769 h 626822"/>
              <a:gd name="csX80" fmla="*/ 518464 w 587044"/>
              <a:gd name="csY80" fmla="*/ 202997 h 626822"/>
              <a:gd name="csX81" fmla="*/ 569899 w 587044"/>
              <a:gd name="csY81" fmla="*/ 212598 h 626822"/>
              <a:gd name="csX82" fmla="*/ 587044 w 587044"/>
              <a:gd name="csY82" fmla="*/ 231801 h 626822"/>
              <a:gd name="csX83" fmla="*/ 547268 w 587044"/>
              <a:gd name="csY83" fmla="*/ 245517 h 626822"/>
              <a:gd name="csX84" fmla="*/ 508863 w 587044"/>
              <a:gd name="csY84" fmla="*/ 242774 h 626822"/>
              <a:gd name="csX85" fmla="*/ 428282 w 587044"/>
              <a:gd name="csY85" fmla="*/ 240030 h 626822"/>
              <a:gd name="csX86" fmla="*/ 259232 w 587044"/>
              <a:gd name="csY86" fmla="*/ 252032 h 626822"/>
              <a:gd name="csX87" fmla="*/ 80238 w 587044"/>
              <a:gd name="csY87" fmla="*/ 282550 h 626822"/>
              <a:gd name="csX88" fmla="*/ 43548 w 587044"/>
              <a:gd name="csY88" fmla="*/ 288722 h 626822"/>
              <a:gd name="csX89" fmla="*/ 14744 w 587044"/>
              <a:gd name="csY89" fmla="*/ 279464 h 626822"/>
              <a:gd name="csX90" fmla="*/ 0 w 587044"/>
              <a:gd name="csY90" fmla="*/ 264033 h 626822"/>
              <a:gd name="csX91" fmla="*/ 9601 w 587044"/>
              <a:gd name="csY91" fmla="*/ 257175 h 626822"/>
              <a:gd name="csX92" fmla="*/ 272262 w 587044"/>
              <a:gd name="csY92" fmla="*/ 230429 h 626822"/>
              <a:gd name="csX93" fmla="*/ 273634 w 587044"/>
              <a:gd name="csY93" fmla="*/ 183795 h 626822"/>
              <a:gd name="csX94" fmla="*/ 221513 w 587044"/>
              <a:gd name="csY94" fmla="*/ 186538 h 626822"/>
              <a:gd name="csX95" fmla="*/ 192709 w 587044"/>
              <a:gd name="csY95" fmla="*/ 181052 h 626822"/>
              <a:gd name="csX96" fmla="*/ 184480 w 587044"/>
              <a:gd name="csY96" fmla="*/ 172822 h 626822"/>
              <a:gd name="csX97" fmla="*/ 201625 w 587044"/>
              <a:gd name="csY97" fmla="*/ 168707 h 626822"/>
              <a:gd name="csX98" fmla="*/ 274320 w 587044"/>
              <a:gd name="csY98" fmla="*/ 159792 h 626822"/>
              <a:gd name="csX99" fmla="*/ 275691 w 587044"/>
              <a:gd name="csY99" fmla="*/ 113843 h 626822"/>
              <a:gd name="csX100" fmla="*/ 204025 w 587044"/>
              <a:gd name="csY100" fmla="*/ 119330 h 626822"/>
              <a:gd name="csX101" fmla="*/ 168364 w 587044"/>
              <a:gd name="csY101" fmla="*/ 114186 h 626822"/>
              <a:gd name="csX102" fmla="*/ 159105 w 587044"/>
              <a:gd name="csY102" fmla="*/ 104585 h 626822"/>
              <a:gd name="csX103" fmla="*/ 172135 w 587044"/>
              <a:gd name="csY103" fmla="*/ 98756 h 626822"/>
              <a:gd name="csX104" fmla="*/ 275005 w 587044"/>
              <a:gd name="csY104" fmla="*/ 85040 h 626822"/>
              <a:gd name="csX105" fmla="*/ 255803 w 587044"/>
              <a:gd name="csY105" fmla="*/ 25375 h 626822"/>
              <a:gd name="csX106" fmla="*/ 248945 w 587044"/>
              <a:gd name="csY106" fmla="*/ 10287 h 626822"/>
              <a:gd name="csX107" fmla="*/ 260947 w 587044"/>
              <a:gd name="csY107" fmla="*/ 0 h 6268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587044" h="626822">
                <a:moveTo>
                  <a:pt x="299009" y="492406"/>
                </a:moveTo>
                <a:cubicBezTo>
                  <a:pt x="304953" y="492406"/>
                  <a:pt x="322212" y="498807"/>
                  <a:pt x="350787" y="511608"/>
                </a:cubicBezTo>
                <a:cubicBezTo>
                  <a:pt x="379362" y="524410"/>
                  <a:pt x="400165" y="537211"/>
                  <a:pt x="413195" y="550013"/>
                </a:cubicBezTo>
                <a:cubicBezTo>
                  <a:pt x="426225" y="562815"/>
                  <a:pt x="432740" y="578359"/>
                  <a:pt x="432740" y="596647"/>
                </a:cubicBezTo>
                <a:cubicBezTo>
                  <a:pt x="432740" y="614478"/>
                  <a:pt x="428397" y="623394"/>
                  <a:pt x="419710" y="623394"/>
                </a:cubicBezTo>
                <a:cubicBezTo>
                  <a:pt x="414681" y="623394"/>
                  <a:pt x="408966" y="619965"/>
                  <a:pt x="402565" y="613107"/>
                </a:cubicBezTo>
                <a:lnTo>
                  <a:pt x="351130" y="559614"/>
                </a:lnTo>
                <a:cubicBezTo>
                  <a:pt x="323698" y="530811"/>
                  <a:pt x="307239" y="513780"/>
                  <a:pt x="301753" y="508522"/>
                </a:cubicBezTo>
                <a:cubicBezTo>
                  <a:pt x="296266" y="503264"/>
                  <a:pt x="293523" y="499264"/>
                  <a:pt x="293523" y="496521"/>
                </a:cubicBezTo>
                <a:cubicBezTo>
                  <a:pt x="293523" y="493777"/>
                  <a:pt x="295352" y="492406"/>
                  <a:pt x="299009" y="492406"/>
                </a:cubicBezTo>
                <a:close/>
                <a:moveTo>
                  <a:pt x="265061" y="337414"/>
                </a:moveTo>
                <a:cubicBezTo>
                  <a:pt x="271234" y="337414"/>
                  <a:pt x="279920" y="340157"/>
                  <a:pt x="291122" y="345644"/>
                </a:cubicBezTo>
                <a:cubicBezTo>
                  <a:pt x="302323" y="351130"/>
                  <a:pt x="307924" y="357074"/>
                  <a:pt x="307924" y="363474"/>
                </a:cubicBezTo>
                <a:cubicBezTo>
                  <a:pt x="307924" y="365760"/>
                  <a:pt x="306552" y="370104"/>
                  <a:pt x="303809" y="376505"/>
                </a:cubicBezTo>
                <a:cubicBezTo>
                  <a:pt x="301066" y="382905"/>
                  <a:pt x="296837" y="403022"/>
                  <a:pt x="291122" y="436855"/>
                </a:cubicBezTo>
                <a:cubicBezTo>
                  <a:pt x="285407" y="470688"/>
                  <a:pt x="277749" y="495262"/>
                  <a:pt x="268147" y="510578"/>
                </a:cubicBezTo>
                <a:cubicBezTo>
                  <a:pt x="258546" y="525895"/>
                  <a:pt x="245859" y="541439"/>
                  <a:pt x="230086" y="557213"/>
                </a:cubicBezTo>
                <a:cubicBezTo>
                  <a:pt x="214312" y="572986"/>
                  <a:pt x="190766" y="588531"/>
                  <a:pt x="159448" y="603847"/>
                </a:cubicBezTo>
                <a:cubicBezTo>
                  <a:pt x="128130" y="619163"/>
                  <a:pt x="108585" y="626822"/>
                  <a:pt x="100812" y="626822"/>
                </a:cubicBezTo>
                <a:cubicBezTo>
                  <a:pt x="96240" y="626822"/>
                  <a:pt x="93954" y="625221"/>
                  <a:pt x="93954" y="622021"/>
                </a:cubicBezTo>
                <a:cubicBezTo>
                  <a:pt x="93954" y="618821"/>
                  <a:pt x="97612" y="614706"/>
                  <a:pt x="104927" y="609677"/>
                </a:cubicBezTo>
                <a:cubicBezTo>
                  <a:pt x="151561" y="581787"/>
                  <a:pt x="185166" y="557327"/>
                  <a:pt x="205740" y="536296"/>
                </a:cubicBezTo>
                <a:cubicBezTo>
                  <a:pt x="226314" y="515265"/>
                  <a:pt x="240601" y="490004"/>
                  <a:pt x="248602" y="460515"/>
                </a:cubicBezTo>
                <a:cubicBezTo>
                  <a:pt x="256603" y="431026"/>
                  <a:pt x="260604" y="407023"/>
                  <a:pt x="260604" y="388506"/>
                </a:cubicBezTo>
                <a:cubicBezTo>
                  <a:pt x="260604" y="369989"/>
                  <a:pt x="259804" y="358788"/>
                  <a:pt x="258203" y="354902"/>
                </a:cubicBezTo>
                <a:cubicBezTo>
                  <a:pt x="256603" y="351016"/>
                  <a:pt x="255803" y="347930"/>
                  <a:pt x="255803" y="345644"/>
                </a:cubicBezTo>
                <a:cubicBezTo>
                  <a:pt x="255803" y="340157"/>
                  <a:pt x="258889" y="337414"/>
                  <a:pt x="265061" y="337414"/>
                </a:cubicBezTo>
                <a:close/>
                <a:moveTo>
                  <a:pt x="367588" y="275692"/>
                </a:moveTo>
                <a:cubicBezTo>
                  <a:pt x="376275" y="275692"/>
                  <a:pt x="387019" y="280721"/>
                  <a:pt x="399821" y="290780"/>
                </a:cubicBezTo>
                <a:cubicBezTo>
                  <a:pt x="412623" y="300838"/>
                  <a:pt x="419023" y="308039"/>
                  <a:pt x="419023" y="312382"/>
                </a:cubicBezTo>
                <a:cubicBezTo>
                  <a:pt x="419023" y="316726"/>
                  <a:pt x="417309" y="321183"/>
                  <a:pt x="413880" y="325755"/>
                </a:cubicBezTo>
                <a:cubicBezTo>
                  <a:pt x="410451" y="330327"/>
                  <a:pt x="407822" y="341986"/>
                  <a:pt x="405993" y="360731"/>
                </a:cubicBezTo>
                <a:cubicBezTo>
                  <a:pt x="404164" y="379476"/>
                  <a:pt x="403479" y="396278"/>
                  <a:pt x="403936" y="411137"/>
                </a:cubicBezTo>
                <a:cubicBezTo>
                  <a:pt x="404393" y="425996"/>
                  <a:pt x="404622" y="438798"/>
                  <a:pt x="404622" y="449542"/>
                </a:cubicBezTo>
                <a:cubicBezTo>
                  <a:pt x="404622" y="460286"/>
                  <a:pt x="402679" y="470688"/>
                  <a:pt x="398792" y="480746"/>
                </a:cubicBezTo>
                <a:cubicBezTo>
                  <a:pt x="394906" y="490805"/>
                  <a:pt x="390563" y="495834"/>
                  <a:pt x="385762" y="495834"/>
                </a:cubicBezTo>
                <a:cubicBezTo>
                  <a:pt x="380961" y="495834"/>
                  <a:pt x="375704" y="492633"/>
                  <a:pt x="369989" y="486233"/>
                </a:cubicBezTo>
                <a:cubicBezTo>
                  <a:pt x="364274" y="479832"/>
                  <a:pt x="361416" y="473545"/>
                  <a:pt x="361416" y="467373"/>
                </a:cubicBezTo>
                <a:cubicBezTo>
                  <a:pt x="361416" y="461201"/>
                  <a:pt x="362331" y="452971"/>
                  <a:pt x="364159" y="442684"/>
                </a:cubicBezTo>
                <a:cubicBezTo>
                  <a:pt x="365988" y="432397"/>
                  <a:pt x="366903" y="417881"/>
                  <a:pt x="366903" y="399136"/>
                </a:cubicBezTo>
                <a:cubicBezTo>
                  <a:pt x="366903" y="380391"/>
                  <a:pt x="366560" y="363589"/>
                  <a:pt x="365874" y="348730"/>
                </a:cubicBezTo>
                <a:cubicBezTo>
                  <a:pt x="365188" y="333871"/>
                  <a:pt x="364274" y="323698"/>
                  <a:pt x="363131" y="318212"/>
                </a:cubicBezTo>
                <a:cubicBezTo>
                  <a:pt x="361988" y="312725"/>
                  <a:pt x="359473" y="308839"/>
                  <a:pt x="355587" y="306553"/>
                </a:cubicBezTo>
                <a:cubicBezTo>
                  <a:pt x="351701" y="304267"/>
                  <a:pt x="344728" y="303124"/>
                  <a:pt x="334670" y="303124"/>
                </a:cubicBezTo>
                <a:cubicBezTo>
                  <a:pt x="324612" y="303124"/>
                  <a:pt x="307124" y="305067"/>
                  <a:pt x="282206" y="308953"/>
                </a:cubicBezTo>
                <a:cubicBezTo>
                  <a:pt x="257289" y="312839"/>
                  <a:pt x="232257" y="315468"/>
                  <a:pt x="207111" y="316840"/>
                </a:cubicBezTo>
                <a:cubicBezTo>
                  <a:pt x="206654" y="352044"/>
                  <a:pt x="204825" y="386792"/>
                  <a:pt x="201625" y="421082"/>
                </a:cubicBezTo>
                <a:cubicBezTo>
                  <a:pt x="198424" y="455372"/>
                  <a:pt x="194881" y="477203"/>
                  <a:pt x="190995" y="486575"/>
                </a:cubicBezTo>
                <a:cubicBezTo>
                  <a:pt x="187109" y="495948"/>
                  <a:pt x="182994" y="500634"/>
                  <a:pt x="178651" y="500634"/>
                </a:cubicBezTo>
                <a:cubicBezTo>
                  <a:pt x="174307" y="500634"/>
                  <a:pt x="170192" y="497091"/>
                  <a:pt x="166306" y="490004"/>
                </a:cubicBezTo>
                <a:cubicBezTo>
                  <a:pt x="162420" y="482918"/>
                  <a:pt x="160477" y="474574"/>
                  <a:pt x="160477" y="464973"/>
                </a:cubicBezTo>
                <a:cubicBezTo>
                  <a:pt x="160477" y="455372"/>
                  <a:pt x="161620" y="445313"/>
                  <a:pt x="163906" y="434798"/>
                </a:cubicBezTo>
                <a:cubicBezTo>
                  <a:pt x="169849" y="407823"/>
                  <a:pt x="172821" y="382562"/>
                  <a:pt x="172821" y="359017"/>
                </a:cubicBezTo>
                <a:cubicBezTo>
                  <a:pt x="172821" y="335471"/>
                  <a:pt x="170764" y="318440"/>
                  <a:pt x="166649" y="307925"/>
                </a:cubicBezTo>
                <a:cubicBezTo>
                  <a:pt x="165735" y="305181"/>
                  <a:pt x="165277" y="303124"/>
                  <a:pt x="165277" y="301752"/>
                </a:cubicBezTo>
                <a:cubicBezTo>
                  <a:pt x="165277" y="297180"/>
                  <a:pt x="168249" y="294894"/>
                  <a:pt x="174193" y="294894"/>
                </a:cubicBezTo>
                <a:cubicBezTo>
                  <a:pt x="180136" y="294894"/>
                  <a:pt x="187452" y="296037"/>
                  <a:pt x="196138" y="298323"/>
                </a:cubicBezTo>
                <a:cubicBezTo>
                  <a:pt x="228600" y="296495"/>
                  <a:pt x="259918" y="293523"/>
                  <a:pt x="290093" y="289408"/>
                </a:cubicBezTo>
                <a:cubicBezTo>
                  <a:pt x="320268" y="285293"/>
                  <a:pt x="339814" y="281978"/>
                  <a:pt x="348729" y="279464"/>
                </a:cubicBezTo>
                <a:cubicBezTo>
                  <a:pt x="357644" y="276949"/>
                  <a:pt x="363931" y="275692"/>
                  <a:pt x="367588" y="275692"/>
                </a:cubicBezTo>
                <a:close/>
                <a:moveTo>
                  <a:pt x="260947" y="0"/>
                </a:moveTo>
                <a:cubicBezTo>
                  <a:pt x="268948" y="0"/>
                  <a:pt x="280835" y="3429"/>
                  <a:pt x="296608" y="10287"/>
                </a:cubicBezTo>
                <a:cubicBezTo>
                  <a:pt x="312382" y="17145"/>
                  <a:pt x="320268" y="23775"/>
                  <a:pt x="320268" y="30176"/>
                </a:cubicBezTo>
                <a:cubicBezTo>
                  <a:pt x="320268" y="32919"/>
                  <a:pt x="319240" y="37148"/>
                  <a:pt x="317182" y="42863"/>
                </a:cubicBezTo>
                <a:cubicBezTo>
                  <a:pt x="315125" y="48578"/>
                  <a:pt x="313410" y="60351"/>
                  <a:pt x="312039" y="78182"/>
                </a:cubicBezTo>
                <a:cubicBezTo>
                  <a:pt x="337642" y="74067"/>
                  <a:pt x="353987" y="70981"/>
                  <a:pt x="361073" y="68923"/>
                </a:cubicBezTo>
                <a:cubicBezTo>
                  <a:pt x="368160" y="66866"/>
                  <a:pt x="377075" y="65837"/>
                  <a:pt x="387819" y="65837"/>
                </a:cubicBezTo>
                <a:cubicBezTo>
                  <a:pt x="398564" y="65837"/>
                  <a:pt x="407708" y="67209"/>
                  <a:pt x="415252" y="69952"/>
                </a:cubicBezTo>
                <a:cubicBezTo>
                  <a:pt x="422795" y="72695"/>
                  <a:pt x="426567" y="76353"/>
                  <a:pt x="426567" y="80925"/>
                </a:cubicBezTo>
                <a:cubicBezTo>
                  <a:pt x="426567" y="85497"/>
                  <a:pt x="422795" y="89154"/>
                  <a:pt x="415252" y="91898"/>
                </a:cubicBezTo>
                <a:cubicBezTo>
                  <a:pt x="407708" y="94641"/>
                  <a:pt x="372846" y="100127"/>
                  <a:pt x="310667" y="108357"/>
                </a:cubicBezTo>
                <a:lnTo>
                  <a:pt x="308610" y="153620"/>
                </a:lnTo>
                <a:cubicBezTo>
                  <a:pt x="324612" y="151791"/>
                  <a:pt x="337528" y="149390"/>
                  <a:pt x="347357" y="146419"/>
                </a:cubicBezTo>
                <a:cubicBezTo>
                  <a:pt x="357187" y="143447"/>
                  <a:pt x="366217" y="141961"/>
                  <a:pt x="374446" y="141961"/>
                </a:cubicBezTo>
                <a:cubicBezTo>
                  <a:pt x="396392" y="141961"/>
                  <a:pt x="407365" y="146304"/>
                  <a:pt x="407365" y="154991"/>
                </a:cubicBezTo>
                <a:cubicBezTo>
                  <a:pt x="407365" y="157734"/>
                  <a:pt x="406108" y="159906"/>
                  <a:pt x="403593" y="161506"/>
                </a:cubicBezTo>
                <a:cubicBezTo>
                  <a:pt x="401078" y="163106"/>
                  <a:pt x="388848" y="165964"/>
                  <a:pt x="366903" y="170079"/>
                </a:cubicBezTo>
                <a:cubicBezTo>
                  <a:pt x="344957" y="174194"/>
                  <a:pt x="325069" y="177394"/>
                  <a:pt x="307238" y="179680"/>
                </a:cubicBezTo>
                <a:lnTo>
                  <a:pt x="305181" y="227686"/>
                </a:lnTo>
                <a:cubicBezTo>
                  <a:pt x="410337" y="216256"/>
                  <a:pt x="469201" y="209284"/>
                  <a:pt x="481774" y="206769"/>
                </a:cubicBezTo>
                <a:cubicBezTo>
                  <a:pt x="494347" y="204254"/>
                  <a:pt x="506577" y="202997"/>
                  <a:pt x="518464" y="202997"/>
                </a:cubicBezTo>
                <a:cubicBezTo>
                  <a:pt x="541324" y="202997"/>
                  <a:pt x="558469" y="206198"/>
                  <a:pt x="569899" y="212598"/>
                </a:cubicBezTo>
                <a:cubicBezTo>
                  <a:pt x="581329" y="218999"/>
                  <a:pt x="587044" y="225400"/>
                  <a:pt x="587044" y="231801"/>
                </a:cubicBezTo>
                <a:cubicBezTo>
                  <a:pt x="587044" y="240945"/>
                  <a:pt x="573786" y="245517"/>
                  <a:pt x="547268" y="245517"/>
                </a:cubicBezTo>
                <a:cubicBezTo>
                  <a:pt x="535838" y="245517"/>
                  <a:pt x="523036" y="244602"/>
                  <a:pt x="508863" y="242774"/>
                </a:cubicBezTo>
                <a:cubicBezTo>
                  <a:pt x="494690" y="240945"/>
                  <a:pt x="467830" y="240030"/>
                  <a:pt x="428282" y="240030"/>
                </a:cubicBezTo>
                <a:cubicBezTo>
                  <a:pt x="388734" y="240030"/>
                  <a:pt x="332384" y="244031"/>
                  <a:pt x="259232" y="252032"/>
                </a:cubicBezTo>
                <a:cubicBezTo>
                  <a:pt x="186080" y="260033"/>
                  <a:pt x="126415" y="270206"/>
                  <a:pt x="80238" y="282550"/>
                </a:cubicBezTo>
                <a:cubicBezTo>
                  <a:pt x="65151" y="286665"/>
                  <a:pt x="52921" y="288722"/>
                  <a:pt x="43548" y="288722"/>
                </a:cubicBezTo>
                <a:cubicBezTo>
                  <a:pt x="34175" y="288722"/>
                  <a:pt x="24574" y="285636"/>
                  <a:pt x="14744" y="279464"/>
                </a:cubicBezTo>
                <a:cubicBezTo>
                  <a:pt x="4915" y="273292"/>
                  <a:pt x="0" y="268148"/>
                  <a:pt x="0" y="264033"/>
                </a:cubicBezTo>
                <a:cubicBezTo>
                  <a:pt x="0" y="259919"/>
                  <a:pt x="3200" y="257633"/>
                  <a:pt x="9601" y="257175"/>
                </a:cubicBezTo>
                <a:lnTo>
                  <a:pt x="272262" y="230429"/>
                </a:lnTo>
                <a:lnTo>
                  <a:pt x="273634" y="183795"/>
                </a:lnTo>
                <a:cubicBezTo>
                  <a:pt x="252603" y="185624"/>
                  <a:pt x="235229" y="186538"/>
                  <a:pt x="221513" y="186538"/>
                </a:cubicBezTo>
                <a:cubicBezTo>
                  <a:pt x="207797" y="186538"/>
                  <a:pt x="198196" y="184709"/>
                  <a:pt x="192709" y="181052"/>
                </a:cubicBezTo>
                <a:cubicBezTo>
                  <a:pt x="187223" y="177394"/>
                  <a:pt x="184480" y="174651"/>
                  <a:pt x="184480" y="172822"/>
                </a:cubicBezTo>
                <a:cubicBezTo>
                  <a:pt x="184480" y="170993"/>
                  <a:pt x="190195" y="169622"/>
                  <a:pt x="201625" y="168707"/>
                </a:cubicBezTo>
                <a:cubicBezTo>
                  <a:pt x="213055" y="167793"/>
                  <a:pt x="237286" y="164821"/>
                  <a:pt x="274320" y="159792"/>
                </a:cubicBezTo>
                <a:lnTo>
                  <a:pt x="275691" y="113843"/>
                </a:lnTo>
                <a:cubicBezTo>
                  <a:pt x="245516" y="117501"/>
                  <a:pt x="221627" y="119330"/>
                  <a:pt x="204025" y="119330"/>
                </a:cubicBezTo>
                <a:cubicBezTo>
                  <a:pt x="186423" y="119330"/>
                  <a:pt x="174536" y="117615"/>
                  <a:pt x="168364" y="114186"/>
                </a:cubicBezTo>
                <a:cubicBezTo>
                  <a:pt x="162191" y="110757"/>
                  <a:pt x="159105" y="107557"/>
                  <a:pt x="159105" y="104585"/>
                </a:cubicBezTo>
                <a:cubicBezTo>
                  <a:pt x="159105" y="101613"/>
                  <a:pt x="163449" y="99670"/>
                  <a:pt x="172135" y="98756"/>
                </a:cubicBezTo>
                <a:cubicBezTo>
                  <a:pt x="207340" y="95098"/>
                  <a:pt x="241630" y="90526"/>
                  <a:pt x="275005" y="85040"/>
                </a:cubicBezTo>
                <a:cubicBezTo>
                  <a:pt x="273177" y="58522"/>
                  <a:pt x="266776" y="38634"/>
                  <a:pt x="255803" y="25375"/>
                </a:cubicBezTo>
                <a:cubicBezTo>
                  <a:pt x="251231" y="19889"/>
                  <a:pt x="248945" y="14859"/>
                  <a:pt x="248945" y="10287"/>
                </a:cubicBezTo>
                <a:cubicBezTo>
                  <a:pt x="248945" y="3429"/>
                  <a:pt x="252946" y="0"/>
                  <a:pt x="2609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/>
        </p:nvSpPr>
        <p:spPr>
          <a:xfrm>
            <a:off x="4430482" y="2674528"/>
            <a:ext cx="587044" cy="288722"/>
          </a:xfrm>
          <a:custGeom>
            <a:avLst/>
            <a:gdLst/>
            <a:ahLst/>
            <a:cxnLst/>
            <a:rect l="l" t="t" r="r" b="b"/>
            <a:pathLst>
              <a:path w="587044" h="288722">
                <a:moveTo>
                  <a:pt x="260947" y="0"/>
                </a:moveTo>
                <a:cubicBezTo>
                  <a:pt x="268948" y="0"/>
                  <a:pt x="280835" y="3429"/>
                  <a:pt x="296608" y="10287"/>
                </a:cubicBezTo>
                <a:cubicBezTo>
                  <a:pt x="312382" y="17145"/>
                  <a:pt x="320268" y="23775"/>
                  <a:pt x="320268" y="30176"/>
                </a:cubicBezTo>
                <a:cubicBezTo>
                  <a:pt x="320268" y="32919"/>
                  <a:pt x="319240" y="37148"/>
                  <a:pt x="317182" y="42863"/>
                </a:cubicBezTo>
                <a:cubicBezTo>
                  <a:pt x="315125" y="48578"/>
                  <a:pt x="313410" y="60351"/>
                  <a:pt x="312039" y="78182"/>
                </a:cubicBezTo>
                <a:cubicBezTo>
                  <a:pt x="337642" y="74067"/>
                  <a:pt x="353987" y="70981"/>
                  <a:pt x="361073" y="68923"/>
                </a:cubicBezTo>
                <a:cubicBezTo>
                  <a:pt x="368160" y="66866"/>
                  <a:pt x="377075" y="65837"/>
                  <a:pt x="387819" y="65837"/>
                </a:cubicBezTo>
                <a:cubicBezTo>
                  <a:pt x="398564" y="65837"/>
                  <a:pt x="407708" y="67209"/>
                  <a:pt x="415252" y="69952"/>
                </a:cubicBezTo>
                <a:cubicBezTo>
                  <a:pt x="422795" y="72695"/>
                  <a:pt x="426567" y="76353"/>
                  <a:pt x="426567" y="80925"/>
                </a:cubicBezTo>
                <a:cubicBezTo>
                  <a:pt x="426567" y="85497"/>
                  <a:pt x="422795" y="89154"/>
                  <a:pt x="415252" y="91898"/>
                </a:cubicBezTo>
                <a:cubicBezTo>
                  <a:pt x="407708" y="94641"/>
                  <a:pt x="372846" y="100127"/>
                  <a:pt x="310667" y="108357"/>
                </a:cubicBezTo>
                <a:lnTo>
                  <a:pt x="308610" y="153620"/>
                </a:lnTo>
                <a:cubicBezTo>
                  <a:pt x="324612" y="151791"/>
                  <a:pt x="337528" y="149390"/>
                  <a:pt x="347357" y="146419"/>
                </a:cubicBezTo>
                <a:cubicBezTo>
                  <a:pt x="357187" y="143447"/>
                  <a:pt x="366217" y="141961"/>
                  <a:pt x="374446" y="141961"/>
                </a:cubicBezTo>
                <a:cubicBezTo>
                  <a:pt x="396392" y="141961"/>
                  <a:pt x="407365" y="146304"/>
                  <a:pt x="407365" y="154991"/>
                </a:cubicBezTo>
                <a:cubicBezTo>
                  <a:pt x="407365" y="157734"/>
                  <a:pt x="406108" y="159906"/>
                  <a:pt x="403593" y="161506"/>
                </a:cubicBezTo>
                <a:cubicBezTo>
                  <a:pt x="401078" y="163106"/>
                  <a:pt x="388848" y="165964"/>
                  <a:pt x="366903" y="170079"/>
                </a:cubicBezTo>
                <a:cubicBezTo>
                  <a:pt x="344957" y="174194"/>
                  <a:pt x="325069" y="177394"/>
                  <a:pt x="307238" y="179680"/>
                </a:cubicBezTo>
                <a:lnTo>
                  <a:pt x="305181" y="227686"/>
                </a:lnTo>
                <a:cubicBezTo>
                  <a:pt x="410337" y="216256"/>
                  <a:pt x="469201" y="209284"/>
                  <a:pt x="481774" y="206769"/>
                </a:cubicBezTo>
                <a:cubicBezTo>
                  <a:pt x="494347" y="204254"/>
                  <a:pt x="506577" y="202997"/>
                  <a:pt x="518464" y="202997"/>
                </a:cubicBezTo>
                <a:cubicBezTo>
                  <a:pt x="541324" y="202997"/>
                  <a:pt x="558469" y="206198"/>
                  <a:pt x="569899" y="212598"/>
                </a:cubicBezTo>
                <a:cubicBezTo>
                  <a:pt x="581329" y="218999"/>
                  <a:pt x="587044" y="225400"/>
                  <a:pt x="587044" y="231801"/>
                </a:cubicBezTo>
                <a:cubicBezTo>
                  <a:pt x="587044" y="240945"/>
                  <a:pt x="573786" y="245517"/>
                  <a:pt x="547268" y="245517"/>
                </a:cubicBezTo>
                <a:cubicBezTo>
                  <a:pt x="535838" y="245517"/>
                  <a:pt x="523036" y="244602"/>
                  <a:pt x="508863" y="242774"/>
                </a:cubicBezTo>
                <a:cubicBezTo>
                  <a:pt x="494690" y="240945"/>
                  <a:pt x="467830" y="240030"/>
                  <a:pt x="428282" y="240030"/>
                </a:cubicBezTo>
                <a:cubicBezTo>
                  <a:pt x="388734" y="240030"/>
                  <a:pt x="332384" y="244031"/>
                  <a:pt x="259232" y="252032"/>
                </a:cubicBezTo>
                <a:cubicBezTo>
                  <a:pt x="186080" y="260033"/>
                  <a:pt x="126415" y="270206"/>
                  <a:pt x="80238" y="282550"/>
                </a:cubicBezTo>
                <a:cubicBezTo>
                  <a:pt x="65151" y="286665"/>
                  <a:pt x="52921" y="288722"/>
                  <a:pt x="43548" y="288722"/>
                </a:cubicBezTo>
                <a:cubicBezTo>
                  <a:pt x="34175" y="288722"/>
                  <a:pt x="24574" y="285636"/>
                  <a:pt x="14744" y="279464"/>
                </a:cubicBezTo>
                <a:cubicBezTo>
                  <a:pt x="4915" y="273292"/>
                  <a:pt x="0" y="268148"/>
                  <a:pt x="0" y="264033"/>
                </a:cubicBezTo>
                <a:cubicBezTo>
                  <a:pt x="0" y="259919"/>
                  <a:pt x="3200" y="257633"/>
                  <a:pt x="9601" y="257175"/>
                </a:cubicBezTo>
                <a:lnTo>
                  <a:pt x="272262" y="230429"/>
                </a:lnTo>
                <a:lnTo>
                  <a:pt x="273634" y="183795"/>
                </a:lnTo>
                <a:cubicBezTo>
                  <a:pt x="252603" y="185624"/>
                  <a:pt x="235229" y="186538"/>
                  <a:pt x="221513" y="186538"/>
                </a:cubicBezTo>
                <a:cubicBezTo>
                  <a:pt x="207797" y="186538"/>
                  <a:pt x="198196" y="184709"/>
                  <a:pt x="192709" y="181052"/>
                </a:cubicBezTo>
                <a:cubicBezTo>
                  <a:pt x="187223" y="177394"/>
                  <a:pt x="184480" y="174651"/>
                  <a:pt x="184480" y="172822"/>
                </a:cubicBezTo>
                <a:cubicBezTo>
                  <a:pt x="184480" y="170993"/>
                  <a:pt x="190195" y="169622"/>
                  <a:pt x="201625" y="168707"/>
                </a:cubicBezTo>
                <a:cubicBezTo>
                  <a:pt x="213055" y="167793"/>
                  <a:pt x="237286" y="164821"/>
                  <a:pt x="274320" y="159792"/>
                </a:cubicBezTo>
                <a:lnTo>
                  <a:pt x="275691" y="113843"/>
                </a:lnTo>
                <a:cubicBezTo>
                  <a:pt x="245516" y="117501"/>
                  <a:pt x="221627" y="119330"/>
                  <a:pt x="204025" y="119330"/>
                </a:cubicBezTo>
                <a:cubicBezTo>
                  <a:pt x="186423" y="119330"/>
                  <a:pt x="174536" y="117615"/>
                  <a:pt x="168364" y="114186"/>
                </a:cubicBezTo>
                <a:cubicBezTo>
                  <a:pt x="162191" y="110757"/>
                  <a:pt x="159105" y="107557"/>
                  <a:pt x="159105" y="104585"/>
                </a:cubicBezTo>
                <a:cubicBezTo>
                  <a:pt x="159105" y="101613"/>
                  <a:pt x="163449" y="99670"/>
                  <a:pt x="172135" y="98756"/>
                </a:cubicBezTo>
                <a:cubicBezTo>
                  <a:pt x="207340" y="95098"/>
                  <a:pt x="241630" y="90526"/>
                  <a:pt x="275005" y="85040"/>
                </a:cubicBezTo>
                <a:cubicBezTo>
                  <a:pt x="273177" y="58522"/>
                  <a:pt x="266776" y="38634"/>
                  <a:pt x="255803" y="25375"/>
                </a:cubicBezTo>
                <a:cubicBezTo>
                  <a:pt x="251231" y="19889"/>
                  <a:pt x="248945" y="14859"/>
                  <a:pt x="248945" y="10287"/>
                </a:cubicBezTo>
                <a:cubicBezTo>
                  <a:pt x="248945" y="3429"/>
                  <a:pt x="252946" y="0"/>
                  <a:pt x="260947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5102506" y="2862563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1" name="任意多边形: 形状 90"/>
          <p:cNvSpPr/>
          <p:nvPr/>
        </p:nvSpPr>
        <p:spPr>
          <a:xfrm>
            <a:off x="5909423" y="2676616"/>
            <a:ext cx="615162" cy="619276"/>
          </a:xfrm>
          <a:custGeom>
            <a:avLst/>
            <a:gdLst>
              <a:gd name="csX0" fmla="*/ 286664 w 615162"/>
              <a:gd name="csY0" fmla="*/ 327138 h 619276"/>
              <a:gd name="csX1" fmla="*/ 286664 w 615162"/>
              <a:gd name="csY1" fmla="*/ 328497 h 619276"/>
              <a:gd name="csX2" fmla="*/ 437883 w 615162"/>
              <a:gd name="csY2" fmla="*/ 435482 h 619276"/>
              <a:gd name="csX3" fmla="*/ 595960 w 615162"/>
              <a:gd name="csY3" fmla="*/ 486231 h 619276"/>
              <a:gd name="csX4" fmla="*/ 615162 w 615162"/>
              <a:gd name="csY4" fmla="*/ 494117 h 619276"/>
              <a:gd name="csX5" fmla="*/ 608647 w 615162"/>
              <a:gd name="csY5" fmla="*/ 500290 h 619276"/>
              <a:gd name="csX6" fmla="*/ 554126 w 615162"/>
              <a:gd name="csY6" fmla="*/ 511605 h 619276"/>
              <a:gd name="csX7" fmla="*/ 486575 w 615162"/>
              <a:gd name="csY7" fmla="*/ 520521 h 619276"/>
              <a:gd name="csX8" fmla="*/ 455371 w 615162"/>
              <a:gd name="csY8" fmla="*/ 514006 h 619276"/>
              <a:gd name="csX9" fmla="*/ 384733 w 615162"/>
              <a:gd name="csY9" fmla="*/ 452969 h 619276"/>
              <a:gd name="csX10" fmla="*/ 286664 w 615162"/>
              <a:gd name="csY10" fmla="*/ 352500 h 619276"/>
              <a:gd name="csX11" fmla="*/ 292150 w 615162"/>
              <a:gd name="csY11" fmla="*/ 484173 h 619276"/>
              <a:gd name="csX12" fmla="*/ 294894 w 615162"/>
              <a:gd name="csY12" fmla="*/ 554811 h 619276"/>
              <a:gd name="csX13" fmla="*/ 288379 w 615162"/>
              <a:gd name="csY13" fmla="*/ 600416 h 619276"/>
              <a:gd name="csX14" fmla="*/ 275691 w 615162"/>
              <a:gd name="csY14" fmla="*/ 619276 h 619276"/>
              <a:gd name="csX15" fmla="*/ 258889 w 615162"/>
              <a:gd name="csY15" fmla="*/ 597330 h 619276"/>
              <a:gd name="csX16" fmla="*/ 248259 w 615162"/>
              <a:gd name="csY16" fmla="*/ 564069 h 619276"/>
              <a:gd name="csX17" fmla="*/ 251688 w 615162"/>
              <a:gd name="csY17" fmla="*/ 540409 h 619276"/>
              <a:gd name="csX18" fmla="*/ 264033 w 615162"/>
              <a:gd name="csY18" fmla="*/ 357300 h 619276"/>
              <a:gd name="csX19" fmla="*/ 171793 w 615162"/>
              <a:gd name="csY19" fmla="*/ 456741 h 619276"/>
              <a:gd name="csX20" fmla="*/ 72352 w 615162"/>
              <a:gd name="csY20" fmla="*/ 518806 h 619276"/>
              <a:gd name="csX21" fmla="*/ 6172 w 615162"/>
              <a:gd name="csY21" fmla="*/ 539037 h 619276"/>
              <a:gd name="csX22" fmla="*/ 0 w 615162"/>
              <a:gd name="csY22" fmla="*/ 535608 h 619276"/>
              <a:gd name="csX23" fmla="*/ 5486 w 615162"/>
              <a:gd name="csY23" fmla="*/ 529436 h 619276"/>
              <a:gd name="csX24" fmla="*/ 202739 w 615162"/>
              <a:gd name="csY24" fmla="*/ 384133 h 619276"/>
              <a:gd name="csX25" fmla="*/ 246024 w 615162"/>
              <a:gd name="csY25" fmla="*/ 332625 h 619276"/>
              <a:gd name="csX26" fmla="*/ 248692 w 615162"/>
              <a:gd name="csY26" fmla="*/ 330935 h 619276"/>
              <a:gd name="csX27" fmla="*/ 380106 w 615162"/>
              <a:gd name="csY27" fmla="*/ 217054 h 619276"/>
              <a:gd name="csX28" fmla="*/ 288209 w 615162"/>
              <a:gd name="csY28" fmla="*/ 229398 h 619276"/>
              <a:gd name="csX29" fmla="*/ 288120 w 615162"/>
              <a:gd name="csY29" fmla="*/ 234227 h 619276"/>
              <a:gd name="csX30" fmla="*/ 287439 w 615162"/>
              <a:gd name="csY30" fmla="*/ 234305 h 619276"/>
              <a:gd name="csX31" fmla="*/ 286294 w 615162"/>
              <a:gd name="csY31" fmla="*/ 296088 h 619276"/>
              <a:gd name="csX32" fmla="*/ 264221 w 615162"/>
              <a:gd name="csY32" fmla="*/ 298412 h 619276"/>
              <a:gd name="csX33" fmla="*/ 264221 w 615162"/>
              <a:gd name="csY33" fmla="*/ 236338 h 619276"/>
              <a:gd name="csX34" fmla="*/ 264891 w 615162"/>
              <a:gd name="csY34" fmla="*/ 236262 h 619276"/>
              <a:gd name="csX35" fmla="*/ 264891 w 615162"/>
              <a:gd name="csY35" fmla="*/ 233513 h 619276"/>
              <a:gd name="csX36" fmla="*/ 164079 w 615162"/>
              <a:gd name="csY36" fmla="*/ 250658 h 619276"/>
              <a:gd name="csX37" fmla="*/ 175737 w 615162"/>
              <a:gd name="csY37" fmla="*/ 317867 h 619276"/>
              <a:gd name="csX38" fmla="*/ 264891 w 615162"/>
              <a:gd name="csY38" fmla="*/ 306208 h 619276"/>
              <a:gd name="csX39" fmla="*/ 264891 w 615162"/>
              <a:gd name="csY39" fmla="*/ 298941 h 619276"/>
              <a:gd name="csX40" fmla="*/ 286964 w 615162"/>
              <a:gd name="csY40" fmla="*/ 296617 h 619276"/>
              <a:gd name="csX41" fmla="*/ 286837 w 615162"/>
              <a:gd name="csY41" fmla="*/ 303465 h 619276"/>
              <a:gd name="csX42" fmla="*/ 355760 w 615162"/>
              <a:gd name="csY42" fmla="*/ 291463 h 619276"/>
              <a:gd name="csX43" fmla="*/ 377706 w 615162"/>
              <a:gd name="csY43" fmla="*/ 279805 h 619276"/>
              <a:gd name="csX44" fmla="*/ 391764 w 615162"/>
              <a:gd name="csY44" fmla="*/ 252373 h 619276"/>
              <a:gd name="csX45" fmla="*/ 397937 w 615162"/>
              <a:gd name="csY45" fmla="*/ 227341 h 619276"/>
              <a:gd name="csX46" fmla="*/ 380106 w 615162"/>
              <a:gd name="csY46" fmla="*/ 217054 h 619276"/>
              <a:gd name="csX47" fmla="*/ 251003 w 615162"/>
              <a:gd name="csY47" fmla="*/ 0 h 619276"/>
              <a:gd name="csX48" fmla="*/ 285979 w 615162"/>
              <a:gd name="csY48" fmla="*/ 9944 h 619276"/>
              <a:gd name="csX49" fmla="*/ 308611 w 615162"/>
              <a:gd name="csY49" fmla="*/ 30861 h 619276"/>
              <a:gd name="csX50" fmla="*/ 305182 w 615162"/>
              <a:gd name="csY50" fmla="*/ 43205 h 619276"/>
              <a:gd name="csX51" fmla="*/ 293523 w 615162"/>
              <a:gd name="csY51" fmla="*/ 116586 h 619276"/>
              <a:gd name="csX52" fmla="*/ 347358 w 615162"/>
              <a:gd name="csY52" fmla="*/ 102184 h 619276"/>
              <a:gd name="csX53" fmla="*/ 386449 w 615162"/>
              <a:gd name="csY53" fmla="*/ 93954 h 619276"/>
              <a:gd name="csX54" fmla="*/ 404966 w 615162"/>
              <a:gd name="csY54" fmla="*/ 98412 h 619276"/>
              <a:gd name="csX55" fmla="*/ 413538 w 615162"/>
              <a:gd name="csY55" fmla="*/ 109042 h 619276"/>
              <a:gd name="csX56" fmla="*/ 396393 w 615162"/>
              <a:gd name="csY56" fmla="*/ 123101 h 619276"/>
              <a:gd name="csX57" fmla="*/ 292151 w 615162"/>
              <a:gd name="csY57" fmla="*/ 150190 h 619276"/>
              <a:gd name="csX58" fmla="*/ 288781 w 615162"/>
              <a:gd name="csY58" fmla="*/ 212897 h 619276"/>
              <a:gd name="csX59" fmla="*/ 288897 w 615162"/>
              <a:gd name="csY59" fmla="*/ 212897 h 619276"/>
              <a:gd name="csX60" fmla="*/ 288894 w 615162"/>
              <a:gd name="csY60" fmla="*/ 212939 h 619276"/>
              <a:gd name="csX61" fmla="*/ 289130 w 615162"/>
              <a:gd name="csY61" fmla="*/ 212897 h 619276"/>
              <a:gd name="csX62" fmla="*/ 289312 w 615162"/>
              <a:gd name="csY62" fmla="*/ 212897 h 619276"/>
              <a:gd name="csX63" fmla="*/ 289564 w 615162"/>
              <a:gd name="csY63" fmla="*/ 212820 h 619276"/>
              <a:gd name="csX64" fmla="*/ 326913 w 615162"/>
              <a:gd name="csY64" fmla="*/ 206167 h 619276"/>
              <a:gd name="csX65" fmla="*/ 386964 w 615162"/>
              <a:gd name="csY65" fmla="*/ 190994 h 619276"/>
              <a:gd name="csX66" fmla="*/ 411995 w 615162"/>
              <a:gd name="csY66" fmla="*/ 184821 h 619276"/>
              <a:gd name="csX67" fmla="*/ 448686 w 615162"/>
              <a:gd name="csY67" fmla="*/ 201281 h 619276"/>
              <a:gd name="csX68" fmla="*/ 472003 w 615162"/>
              <a:gd name="csY68" fmla="*/ 227341 h 619276"/>
              <a:gd name="csX69" fmla="*/ 463431 w 615162"/>
              <a:gd name="csY69" fmla="*/ 238314 h 619276"/>
              <a:gd name="csX70" fmla="*/ 439085 w 615162"/>
              <a:gd name="csY70" fmla="*/ 256830 h 619276"/>
              <a:gd name="csX71" fmla="*/ 419539 w 615162"/>
              <a:gd name="csY71" fmla="*/ 275690 h 619276"/>
              <a:gd name="csX72" fmla="*/ 415767 w 615162"/>
              <a:gd name="csY72" fmla="*/ 284948 h 619276"/>
              <a:gd name="csX73" fmla="*/ 418168 w 615162"/>
              <a:gd name="csY73" fmla="*/ 293521 h 619276"/>
              <a:gd name="csX74" fmla="*/ 420568 w 615162"/>
              <a:gd name="csY74" fmla="*/ 300036 h 619276"/>
              <a:gd name="csX75" fmla="*/ 403423 w 615162"/>
              <a:gd name="csY75" fmla="*/ 308265 h 619276"/>
              <a:gd name="csX76" fmla="*/ 286837 w 615162"/>
              <a:gd name="csY76" fmla="*/ 319924 h 619276"/>
              <a:gd name="csX77" fmla="*/ 286837 w 615162"/>
              <a:gd name="csY77" fmla="*/ 326109 h 619276"/>
              <a:gd name="csX78" fmla="*/ 248865 w 615162"/>
              <a:gd name="csY78" fmla="*/ 329906 h 619276"/>
              <a:gd name="csX79" fmla="*/ 246197 w 615162"/>
              <a:gd name="csY79" fmla="*/ 331596 h 619276"/>
              <a:gd name="csX80" fmla="*/ 252547 w 615162"/>
              <a:gd name="csY80" fmla="*/ 324039 h 619276"/>
              <a:gd name="csX81" fmla="*/ 175052 w 615162"/>
              <a:gd name="csY81" fmla="*/ 337755 h 619276"/>
              <a:gd name="csX82" fmla="*/ 164765 w 615162"/>
              <a:gd name="csY82" fmla="*/ 349413 h 619276"/>
              <a:gd name="csX83" fmla="*/ 150363 w 615162"/>
              <a:gd name="csY83" fmla="*/ 328839 h 619276"/>
              <a:gd name="csX84" fmla="*/ 111958 w 615162"/>
              <a:gd name="csY84" fmla="*/ 240371 h 619276"/>
              <a:gd name="csX85" fmla="*/ 105786 w 615162"/>
              <a:gd name="csY85" fmla="*/ 228713 h 619276"/>
              <a:gd name="csX86" fmla="*/ 117102 w 615162"/>
              <a:gd name="csY86" fmla="*/ 223912 h 619276"/>
              <a:gd name="csX87" fmla="*/ 151734 w 615162"/>
              <a:gd name="csY87" fmla="*/ 230770 h 619276"/>
              <a:gd name="csX88" fmla="*/ 264891 w 615162"/>
              <a:gd name="csY88" fmla="*/ 217054 h 619276"/>
              <a:gd name="csX89" fmla="*/ 264824 w 615162"/>
              <a:gd name="csY89" fmla="*/ 213927 h 619276"/>
              <a:gd name="csX90" fmla="*/ 264629 w 615162"/>
              <a:gd name="csY90" fmla="*/ 213927 h 619276"/>
              <a:gd name="csX91" fmla="*/ 263348 w 615162"/>
              <a:gd name="csY91" fmla="*/ 154990 h 619276"/>
              <a:gd name="csX92" fmla="*/ 207798 w 615162"/>
              <a:gd name="csY92" fmla="*/ 160477 h 619276"/>
              <a:gd name="csX93" fmla="*/ 174880 w 615162"/>
              <a:gd name="csY93" fmla="*/ 156362 h 619276"/>
              <a:gd name="csX94" fmla="*/ 163221 w 615162"/>
              <a:gd name="csY94" fmla="*/ 146418 h 619276"/>
              <a:gd name="csX95" fmla="*/ 183109 w 615162"/>
              <a:gd name="csY95" fmla="*/ 138531 h 619276"/>
              <a:gd name="csX96" fmla="*/ 262662 w 615162"/>
              <a:gd name="csY96" fmla="*/ 122758 h 619276"/>
              <a:gd name="csX97" fmla="*/ 257519 w 615162"/>
              <a:gd name="csY97" fmla="*/ 60350 h 619276"/>
              <a:gd name="csX98" fmla="*/ 246203 w 615162"/>
              <a:gd name="csY98" fmla="*/ 24688 h 619276"/>
              <a:gd name="csX99" fmla="*/ 238659 w 615162"/>
              <a:gd name="csY99" fmla="*/ 9601 h 619276"/>
              <a:gd name="csX100" fmla="*/ 251003 w 615162"/>
              <a:gd name="csY100" fmla="*/ 0 h 6192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</a:cxnLst>
            <a:rect l="l" t="t" r="r" b="b"/>
            <a:pathLst>
              <a:path w="615162" h="619276">
                <a:moveTo>
                  <a:pt x="286664" y="327138"/>
                </a:moveTo>
                <a:lnTo>
                  <a:pt x="286664" y="328497"/>
                </a:lnTo>
                <a:cubicBezTo>
                  <a:pt x="347929" y="379703"/>
                  <a:pt x="398335" y="415365"/>
                  <a:pt x="437883" y="435482"/>
                </a:cubicBezTo>
                <a:cubicBezTo>
                  <a:pt x="477431" y="455598"/>
                  <a:pt x="530123" y="472515"/>
                  <a:pt x="595960" y="486231"/>
                </a:cubicBezTo>
                <a:cubicBezTo>
                  <a:pt x="608761" y="488974"/>
                  <a:pt x="615162" y="491603"/>
                  <a:pt x="615162" y="494117"/>
                </a:cubicBezTo>
                <a:cubicBezTo>
                  <a:pt x="615162" y="496632"/>
                  <a:pt x="612991" y="498689"/>
                  <a:pt x="608647" y="500290"/>
                </a:cubicBezTo>
                <a:cubicBezTo>
                  <a:pt x="604304" y="501890"/>
                  <a:pt x="586130" y="505662"/>
                  <a:pt x="554126" y="511605"/>
                </a:cubicBezTo>
                <a:cubicBezTo>
                  <a:pt x="522122" y="517549"/>
                  <a:pt x="499605" y="520521"/>
                  <a:pt x="486575" y="520521"/>
                </a:cubicBezTo>
                <a:cubicBezTo>
                  <a:pt x="473545" y="520521"/>
                  <a:pt x="463143" y="518349"/>
                  <a:pt x="455371" y="514006"/>
                </a:cubicBezTo>
                <a:cubicBezTo>
                  <a:pt x="447598" y="509662"/>
                  <a:pt x="424053" y="489317"/>
                  <a:pt x="384733" y="452969"/>
                </a:cubicBezTo>
                <a:cubicBezTo>
                  <a:pt x="345414" y="416622"/>
                  <a:pt x="312724" y="383132"/>
                  <a:pt x="286664" y="352500"/>
                </a:cubicBezTo>
                <a:cubicBezTo>
                  <a:pt x="288493" y="411021"/>
                  <a:pt x="290322" y="454913"/>
                  <a:pt x="292150" y="484173"/>
                </a:cubicBezTo>
                <a:cubicBezTo>
                  <a:pt x="293979" y="513434"/>
                  <a:pt x="294894" y="536980"/>
                  <a:pt x="294894" y="554811"/>
                </a:cubicBezTo>
                <a:cubicBezTo>
                  <a:pt x="294894" y="572642"/>
                  <a:pt x="292722" y="587843"/>
                  <a:pt x="288379" y="600416"/>
                </a:cubicBezTo>
                <a:cubicBezTo>
                  <a:pt x="284035" y="612989"/>
                  <a:pt x="279806" y="619276"/>
                  <a:pt x="275691" y="619276"/>
                </a:cubicBezTo>
                <a:cubicBezTo>
                  <a:pt x="271576" y="619276"/>
                  <a:pt x="265976" y="611961"/>
                  <a:pt x="258889" y="597330"/>
                </a:cubicBezTo>
                <a:cubicBezTo>
                  <a:pt x="251803" y="582700"/>
                  <a:pt x="248259" y="571613"/>
                  <a:pt x="248259" y="564069"/>
                </a:cubicBezTo>
                <a:cubicBezTo>
                  <a:pt x="248259" y="556525"/>
                  <a:pt x="249402" y="548639"/>
                  <a:pt x="251688" y="540409"/>
                </a:cubicBezTo>
                <a:cubicBezTo>
                  <a:pt x="258546" y="517549"/>
                  <a:pt x="262661" y="456513"/>
                  <a:pt x="264033" y="357300"/>
                </a:cubicBezTo>
                <a:cubicBezTo>
                  <a:pt x="237058" y="395705"/>
                  <a:pt x="206311" y="428852"/>
                  <a:pt x="171793" y="456741"/>
                </a:cubicBezTo>
                <a:cubicBezTo>
                  <a:pt x="137274" y="484631"/>
                  <a:pt x="104127" y="505319"/>
                  <a:pt x="72352" y="518806"/>
                </a:cubicBezTo>
                <a:cubicBezTo>
                  <a:pt x="40576" y="532294"/>
                  <a:pt x="18516" y="539037"/>
                  <a:pt x="6172" y="539037"/>
                </a:cubicBezTo>
                <a:cubicBezTo>
                  <a:pt x="2057" y="539037"/>
                  <a:pt x="0" y="537894"/>
                  <a:pt x="0" y="535608"/>
                </a:cubicBezTo>
                <a:cubicBezTo>
                  <a:pt x="0" y="533322"/>
                  <a:pt x="1828" y="531265"/>
                  <a:pt x="5486" y="529436"/>
                </a:cubicBezTo>
                <a:cubicBezTo>
                  <a:pt x="83324" y="488974"/>
                  <a:pt x="149075" y="440540"/>
                  <a:pt x="202739" y="384133"/>
                </a:cubicBezTo>
                <a:lnTo>
                  <a:pt x="246024" y="332625"/>
                </a:lnTo>
                <a:lnTo>
                  <a:pt x="248692" y="330935"/>
                </a:lnTo>
                <a:close/>
                <a:moveTo>
                  <a:pt x="380106" y="217054"/>
                </a:moveTo>
                <a:cubicBezTo>
                  <a:pt x="374162" y="217054"/>
                  <a:pt x="343530" y="221169"/>
                  <a:pt x="288209" y="229398"/>
                </a:cubicBezTo>
                <a:lnTo>
                  <a:pt x="288120" y="234227"/>
                </a:lnTo>
                <a:lnTo>
                  <a:pt x="287439" y="234305"/>
                </a:lnTo>
                <a:lnTo>
                  <a:pt x="286294" y="296088"/>
                </a:lnTo>
                <a:lnTo>
                  <a:pt x="264221" y="298412"/>
                </a:lnTo>
                <a:lnTo>
                  <a:pt x="264221" y="236338"/>
                </a:lnTo>
                <a:lnTo>
                  <a:pt x="264891" y="236262"/>
                </a:lnTo>
                <a:lnTo>
                  <a:pt x="264891" y="233513"/>
                </a:lnTo>
                <a:lnTo>
                  <a:pt x="164079" y="250658"/>
                </a:lnTo>
                <a:cubicBezTo>
                  <a:pt x="169108" y="275804"/>
                  <a:pt x="172994" y="298207"/>
                  <a:pt x="175737" y="317867"/>
                </a:cubicBezTo>
                <a:cubicBezTo>
                  <a:pt x="217800" y="312837"/>
                  <a:pt x="247518" y="308951"/>
                  <a:pt x="264891" y="306208"/>
                </a:cubicBezTo>
                <a:lnTo>
                  <a:pt x="264891" y="298941"/>
                </a:lnTo>
                <a:lnTo>
                  <a:pt x="286964" y="296617"/>
                </a:lnTo>
                <a:lnTo>
                  <a:pt x="286837" y="303465"/>
                </a:lnTo>
                <a:cubicBezTo>
                  <a:pt x="323413" y="297978"/>
                  <a:pt x="346387" y="293978"/>
                  <a:pt x="355760" y="291463"/>
                </a:cubicBezTo>
                <a:cubicBezTo>
                  <a:pt x="365133" y="288949"/>
                  <a:pt x="372448" y="285062"/>
                  <a:pt x="377706" y="279805"/>
                </a:cubicBezTo>
                <a:cubicBezTo>
                  <a:pt x="382963" y="274547"/>
                  <a:pt x="387650" y="265403"/>
                  <a:pt x="391764" y="252373"/>
                </a:cubicBezTo>
                <a:cubicBezTo>
                  <a:pt x="395879" y="239342"/>
                  <a:pt x="397937" y="230999"/>
                  <a:pt x="397937" y="227341"/>
                </a:cubicBezTo>
                <a:cubicBezTo>
                  <a:pt x="397937" y="220483"/>
                  <a:pt x="391993" y="217054"/>
                  <a:pt x="380106" y="217054"/>
                </a:cubicBezTo>
                <a:close/>
                <a:moveTo>
                  <a:pt x="251003" y="0"/>
                </a:moveTo>
                <a:cubicBezTo>
                  <a:pt x="259233" y="0"/>
                  <a:pt x="270892" y="3314"/>
                  <a:pt x="285979" y="9944"/>
                </a:cubicBezTo>
                <a:cubicBezTo>
                  <a:pt x="301067" y="16573"/>
                  <a:pt x="308611" y="23545"/>
                  <a:pt x="308611" y="30861"/>
                </a:cubicBezTo>
                <a:cubicBezTo>
                  <a:pt x="308611" y="34061"/>
                  <a:pt x="307468" y="38176"/>
                  <a:pt x="305182" y="43205"/>
                </a:cubicBezTo>
                <a:cubicBezTo>
                  <a:pt x="300610" y="53263"/>
                  <a:pt x="296723" y="77724"/>
                  <a:pt x="293523" y="116586"/>
                </a:cubicBezTo>
                <a:cubicBezTo>
                  <a:pt x="309982" y="112471"/>
                  <a:pt x="327927" y="107670"/>
                  <a:pt x="347358" y="102184"/>
                </a:cubicBezTo>
                <a:cubicBezTo>
                  <a:pt x="366789" y="96697"/>
                  <a:pt x="379819" y="93954"/>
                  <a:pt x="386449" y="93954"/>
                </a:cubicBezTo>
                <a:cubicBezTo>
                  <a:pt x="393078" y="93954"/>
                  <a:pt x="399251" y="95440"/>
                  <a:pt x="404966" y="98412"/>
                </a:cubicBezTo>
                <a:cubicBezTo>
                  <a:pt x="410681" y="101384"/>
                  <a:pt x="413538" y="104927"/>
                  <a:pt x="413538" y="109042"/>
                </a:cubicBezTo>
                <a:cubicBezTo>
                  <a:pt x="413538" y="113157"/>
                  <a:pt x="407823" y="117843"/>
                  <a:pt x="396393" y="123101"/>
                </a:cubicBezTo>
                <a:cubicBezTo>
                  <a:pt x="384963" y="128358"/>
                  <a:pt x="350216" y="137388"/>
                  <a:pt x="292151" y="150190"/>
                </a:cubicBezTo>
                <a:lnTo>
                  <a:pt x="288781" y="212897"/>
                </a:lnTo>
                <a:lnTo>
                  <a:pt x="288897" y="212897"/>
                </a:lnTo>
                <a:lnTo>
                  <a:pt x="288894" y="212939"/>
                </a:lnTo>
                <a:lnTo>
                  <a:pt x="289130" y="212897"/>
                </a:lnTo>
                <a:lnTo>
                  <a:pt x="289312" y="212897"/>
                </a:lnTo>
                <a:lnTo>
                  <a:pt x="289564" y="212820"/>
                </a:lnTo>
                <a:lnTo>
                  <a:pt x="326913" y="206167"/>
                </a:lnTo>
                <a:cubicBezTo>
                  <a:pt x="360432" y="199824"/>
                  <a:pt x="380449" y="194766"/>
                  <a:pt x="386964" y="190994"/>
                </a:cubicBezTo>
                <a:cubicBezTo>
                  <a:pt x="394736" y="186879"/>
                  <a:pt x="403080" y="184821"/>
                  <a:pt x="411995" y="184821"/>
                </a:cubicBezTo>
                <a:cubicBezTo>
                  <a:pt x="420911" y="184821"/>
                  <a:pt x="433141" y="190308"/>
                  <a:pt x="448686" y="201281"/>
                </a:cubicBezTo>
                <a:cubicBezTo>
                  <a:pt x="464231" y="212253"/>
                  <a:pt x="472003" y="220940"/>
                  <a:pt x="472003" y="227341"/>
                </a:cubicBezTo>
                <a:cubicBezTo>
                  <a:pt x="472003" y="231456"/>
                  <a:pt x="469145" y="235113"/>
                  <a:pt x="463431" y="238314"/>
                </a:cubicBezTo>
                <a:cubicBezTo>
                  <a:pt x="457716" y="241514"/>
                  <a:pt x="449600" y="247686"/>
                  <a:pt x="439085" y="256830"/>
                </a:cubicBezTo>
                <a:cubicBezTo>
                  <a:pt x="428569" y="265974"/>
                  <a:pt x="422054" y="272261"/>
                  <a:pt x="419539" y="275690"/>
                </a:cubicBezTo>
                <a:cubicBezTo>
                  <a:pt x="417025" y="279119"/>
                  <a:pt x="415767" y="282205"/>
                  <a:pt x="415767" y="284948"/>
                </a:cubicBezTo>
                <a:cubicBezTo>
                  <a:pt x="415767" y="287691"/>
                  <a:pt x="416568" y="290549"/>
                  <a:pt x="418168" y="293521"/>
                </a:cubicBezTo>
                <a:cubicBezTo>
                  <a:pt x="419768" y="296492"/>
                  <a:pt x="420568" y="298664"/>
                  <a:pt x="420568" y="300036"/>
                </a:cubicBezTo>
                <a:cubicBezTo>
                  <a:pt x="420568" y="305065"/>
                  <a:pt x="414853" y="307808"/>
                  <a:pt x="403423" y="308265"/>
                </a:cubicBezTo>
                <a:cubicBezTo>
                  <a:pt x="391993" y="308723"/>
                  <a:pt x="353131" y="312609"/>
                  <a:pt x="286837" y="319924"/>
                </a:cubicBezTo>
                <a:lnTo>
                  <a:pt x="286837" y="326109"/>
                </a:lnTo>
                <a:lnTo>
                  <a:pt x="248865" y="329906"/>
                </a:lnTo>
                <a:lnTo>
                  <a:pt x="246197" y="331596"/>
                </a:lnTo>
                <a:lnTo>
                  <a:pt x="252547" y="324039"/>
                </a:lnTo>
                <a:cubicBezTo>
                  <a:pt x="217343" y="328611"/>
                  <a:pt x="191511" y="333183"/>
                  <a:pt x="175052" y="337755"/>
                </a:cubicBezTo>
                <a:cubicBezTo>
                  <a:pt x="172308" y="345527"/>
                  <a:pt x="168879" y="349413"/>
                  <a:pt x="164765" y="349413"/>
                </a:cubicBezTo>
                <a:cubicBezTo>
                  <a:pt x="158364" y="349413"/>
                  <a:pt x="153563" y="342555"/>
                  <a:pt x="150363" y="328839"/>
                </a:cubicBezTo>
                <a:cubicBezTo>
                  <a:pt x="138933" y="284034"/>
                  <a:pt x="126131" y="254544"/>
                  <a:pt x="111958" y="240371"/>
                </a:cubicBezTo>
                <a:cubicBezTo>
                  <a:pt x="107843" y="235799"/>
                  <a:pt x="105786" y="231913"/>
                  <a:pt x="105786" y="228713"/>
                </a:cubicBezTo>
                <a:cubicBezTo>
                  <a:pt x="105786" y="225512"/>
                  <a:pt x="109558" y="223912"/>
                  <a:pt x="117102" y="223912"/>
                </a:cubicBezTo>
                <a:cubicBezTo>
                  <a:pt x="124645" y="223912"/>
                  <a:pt x="136190" y="226198"/>
                  <a:pt x="151734" y="230770"/>
                </a:cubicBezTo>
                <a:cubicBezTo>
                  <a:pt x="172308" y="230313"/>
                  <a:pt x="210027" y="225741"/>
                  <a:pt x="264891" y="217054"/>
                </a:cubicBezTo>
                <a:lnTo>
                  <a:pt x="264824" y="213927"/>
                </a:lnTo>
                <a:lnTo>
                  <a:pt x="264629" y="213927"/>
                </a:lnTo>
                <a:lnTo>
                  <a:pt x="263348" y="154990"/>
                </a:lnTo>
                <a:cubicBezTo>
                  <a:pt x="240488" y="158648"/>
                  <a:pt x="221971" y="160477"/>
                  <a:pt x="207798" y="160477"/>
                </a:cubicBezTo>
                <a:cubicBezTo>
                  <a:pt x="193625" y="160477"/>
                  <a:pt x="182652" y="159105"/>
                  <a:pt x="174880" y="156362"/>
                </a:cubicBezTo>
                <a:cubicBezTo>
                  <a:pt x="167107" y="153619"/>
                  <a:pt x="163221" y="150304"/>
                  <a:pt x="163221" y="146418"/>
                </a:cubicBezTo>
                <a:cubicBezTo>
                  <a:pt x="163221" y="142532"/>
                  <a:pt x="169850" y="139903"/>
                  <a:pt x="183109" y="138531"/>
                </a:cubicBezTo>
                <a:cubicBezTo>
                  <a:pt x="196368" y="137160"/>
                  <a:pt x="222886" y="131902"/>
                  <a:pt x="262662" y="122758"/>
                </a:cubicBezTo>
                <a:cubicBezTo>
                  <a:pt x="261748" y="98983"/>
                  <a:pt x="260033" y="78181"/>
                  <a:pt x="257519" y="60350"/>
                </a:cubicBezTo>
                <a:cubicBezTo>
                  <a:pt x="255004" y="42519"/>
                  <a:pt x="251232" y="30632"/>
                  <a:pt x="246203" y="24688"/>
                </a:cubicBezTo>
                <a:cubicBezTo>
                  <a:pt x="241174" y="18745"/>
                  <a:pt x="238659" y="13716"/>
                  <a:pt x="238659" y="9601"/>
                </a:cubicBezTo>
                <a:cubicBezTo>
                  <a:pt x="238659" y="3200"/>
                  <a:pt x="242774" y="0"/>
                  <a:pt x="25100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0" name="任意多边形: 形状 89"/>
          <p:cNvSpPr/>
          <p:nvPr/>
        </p:nvSpPr>
        <p:spPr>
          <a:xfrm>
            <a:off x="6015932" y="2862563"/>
            <a:ext cx="366217" cy="164592"/>
          </a:xfrm>
          <a:custGeom>
            <a:avLst/>
            <a:gdLst>
              <a:gd name="csX0" fmla="*/ 306209 w 366217"/>
              <a:gd name="csY0" fmla="*/ 0 h 164592"/>
              <a:gd name="csX1" fmla="*/ 342900 w 366217"/>
              <a:gd name="csY1" fmla="*/ 16460 h 164592"/>
              <a:gd name="csX2" fmla="*/ 366217 w 366217"/>
              <a:gd name="csY2" fmla="*/ 42520 h 164592"/>
              <a:gd name="csX3" fmla="*/ 357645 w 366217"/>
              <a:gd name="csY3" fmla="*/ 53493 h 164592"/>
              <a:gd name="csX4" fmla="*/ 333299 w 366217"/>
              <a:gd name="csY4" fmla="*/ 72009 h 164592"/>
              <a:gd name="csX5" fmla="*/ 313753 w 366217"/>
              <a:gd name="csY5" fmla="*/ 90869 h 164592"/>
              <a:gd name="csX6" fmla="*/ 309981 w 366217"/>
              <a:gd name="csY6" fmla="*/ 100127 h 164592"/>
              <a:gd name="csX7" fmla="*/ 312382 w 366217"/>
              <a:gd name="csY7" fmla="*/ 108700 h 164592"/>
              <a:gd name="csX8" fmla="*/ 314782 w 366217"/>
              <a:gd name="csY8" fmla="*/ 115215 h 164592"/>
              <a:gd name="csX9" fmla="*/ 297637 w 366217"/>
              <a:gd name="csY9" fmla="*/ 123444 h 164592"/>
              <a:gd name="csX10" fmla="*/ 181051 w 366217"/>
              <a:gd name="csY10" fmla="*/ 135103 h 164592"/>
              <a:gd name="csX11" fmla="*/ 181051 w 366217"/>
              <a:gd name="csY11" fmla="*/ 141288 h 164592"/>
              <a:gd name="csX12" fmla="*/ 143079 w 366217"/>
              <a:gd name="csY12" fmla="*/ 145085 h 164592"/>
              <a:gd name="csX13" fmla="*/ 140411 w 366217"/>
              <a:gd name="csY13" fmla="*/ 146775 h 164592"/>
              <a:gd name="csX14" fmla="*/ 146761 w 366217"/>
              <a:gd name="csY14" fmla="*/ 139218 h 164592"/>
              <a:gd name="csX15" fmla="*/ 69266 w 366217"/>
              <a:gd name="csY15" fmla="*/ 152934 h 164592"/>
              <a:gd name="csX16" fmla="*/ 58979 w 366217"/>
              <a:gd name="csY16" fmla="*/ 164592 h 164592"/>
              <a:gd name="csX17" fmla="*/ 44577 w 366217"/>
              <a:gd name="csY17" fmla="*/ 144018 h 164592"/>
              <a:gd name="csX18" fmla="*/ 6172 w 366217"/>
              <a:gd name="csY18" fmla="*/ 55550 h 164592"/>
              <a:gd name="csX19" fmla="*/ 0 w 366217"/>
              <a:gd name="csY19" fmla="*/ 43892 h 164592"/>
              <a:gd name="csX20" fmla="*/ 11316 w 366217"/>
              <a:gd name="csY20" fmla="*/ 39091 h 164592"/>
              <a:gd name="csX21" fmla="*/ 45948 w 366217"/>
              <a:gd name="csY21" fmla="*/ 45949 h 164592"/>
              <a:gd name="csX22" fmla="*/ 159105 w 366217"/>
              <a:gd name="csY22" fmla="*/ 32233 h 164592"/>
              <a:gd name="csX23" fmla="*/ 159015 w 366217"/>
              <a:gd name="csY23" fmla="*/ 28076 h 164592"/>
              <a:gd name="csX24" fmla="*/ 183111 w 366217"/>
              <a:gd name="csY24" fmla="*/ 28076 h 164592"/>
              <a:gd name="csX25" fmla="*/ 183108 w 366217"/>
              <a:gd name="csY25" fmla="*/ 28118 h 164592"/>
              <a:gd name="csX26" fmla="*/ 183344 w 366217"/>
              <a:gd name="csY26" fmla="*/ 28076 h 164592"/>
              <a:gd name="csX27" fmla="*/ 183526 w 366217"/>
              <a:gd name="csY27" fmla="*/ 28076 h 164592"/>
              <a:gd name="csX28" fmla="*/ 183778 w 366217"/>
              <a:gd name="csY28" fmla="*/ 27999 h 164592"/>
              <a:gd name="csX29" fmla="*/ 221127 w 366217"/>
              <a:gd name="csY29" fmla="*/ 21346 h 164592"/>
              <a:gd name="csX30" fmla="*/ 281178 w 366217"/>
              <a:gd name="csY30" fmla="*/ 6173 h 164592"/>
              <a:gd name="csX31" fmla="*/ 306209 w 366217"/>
              <a:gd name="csY31" fmla="*/ 0 h 164592"/>
              <a:gd name="csX32" fmla="*/ 274320 w 366217"/>
              <a:gd name="csY32" fmla="*/ 32233 h 164592"/>
              <a:gd name="csX33" fmla="*/ 182423 w 366217"/>
              <a:gd name="csY33" fmla="*/ 44577 h 164592"/>
              <a:gd name="csX34" fmla="*/ 182334 w 366217"/>
              <a:gd name="csY34" fmla="*/ 49406 h 164592"/>
              <a:gd name="csX35" fmla="*/ 159105 w 366217"/>
              <a:gd name="csY35" fmla="*/ 52046 h 164592"/>
              <a:gd name="csX36" fmla="*/ 159105 w 366217"/>
              <a:gd name="csY36" fmla="*/ 48692 h 164592"/>
              <a:gd name="csX37" fmla="*/ 58293 w 366217"/>
              <a:gd name="csY37" fmla="*/ 65837 h 164592"/>
              <a:gd name="csX38" fmla="*/ 69951 w 366217"/>
              <a:gd name="csY38" fmla="*/ 133046 h 164592"/>
              <a:gd name="csX39" fmla="*/ 159105 w 366217"/>
              <a:gd name="csY39" fmla="*/ 121387 h 164592"/>
              <a:gd name="csX40" fmla="*/ 159105 w 366217"/>
              <a:gd name="csY40" fmla="*/ 114120 h 164592"/>
              <a:gd name="csX41" fmla="*/ 181178 w 366217"/>
              <a:gd name="csY41" fmla="*/ 111796 h 164592"/>
              <a:gd name="csX42" fmla="*/ 181051 w 366217"/>
              <a:gd name="csY42" fmla="*/ 118644 h 164592"/>
              <a:gd name="csX43" fmla="*/ 249974 w 366217"/>
              <a:gd name="csY43" fmla="*/ 106642 h 164592"/>
              <a:gd name="csX44" fmla="*/ 271920 w 366217"/>
              <a:gd name="csY44" fmla="*/ 94984 h 164592"/>
              <a:gd name="csX45" fmla="*/ 285978 w 366217"/>
              <a:gd name="csY45" fmla="*/ 67552 h 164592"/>
              <a:gd name="csX46" fmla="*/ 292151 w 366217"/>
              <a:gd name="csY46" fmla="*/ 42520 h 164592"/>
              <a:gd name="csX47" fmla="*/ 274320 w 366217"/>
              <a:gd name="csY47" fmla="*/ 32233 h 164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</a:cxnLst>
            <a:rect l="l" t="t" r="r" b="b"/>
            <a:pathLst>
              <a:path w="366217" h="164592">
                <a:moveTo>
                  <a:pt x="306209" y="0"/>
                </a:moveTo>
                <a:cubicBezTo>
                  <a:pt x="315125" y="0"/>
                  <a:pt x="327355" y="5487"/>
                  <a:pt x="342900" y="16460"/>
                </a:cubicBezTo>
                <a:cubicBezTo>
                  <a:pt x="358445" y="27432"/>
                  <a:pt x="366217" y="36119"/>
                  <a:pt x="366217" y="42520"/>
                </a:cubicBezTo>
                <a:cubicBezTo>
                  <a:pt x="366217" y="46635"/>
                  <a:pt x="363359" y="50292"/>
                  <a:pt x="357645" y="53493"/>
                </a:cubicBezTo>
                <a:cubicBezTo>
                  <a:pt x="351930" y="56693"/>
                  <a:pt x="343814" y="62865"/>
                  <a:pt x="333299" y="72009"/>
                </a:cubicBezTo>
                <a:cubicBezTo>
                  <a:pt x="322783" y="81153"/>
                  <a:pt x="316268" y="87440"/>
                  <a:pt x="313753" y="90869"/>
                </a:cubicBezTo>
                <a:cubicBezTo>
                  <a:pt x="311239" y="94298"/>
                  <a:pt x="309981" y="97384"/>
                  <a:pt x="309981" y="100127"/>
                </a:cubicBezTo>
                <a:cubicBezTo>
                  <a:pt x="309981" y="102870"/>
                  <a:pt x="310782" y="105728"/>
                  <a:pt x="312382" y="108700"/>
                </a:cubicBezTo>
                <a:cubicBezTo>
                  <a:pt x="313982" y="111671"/>
                  <a:pt x="314782" y="113843"/>
                  <a:pt x="314782" y="115215"/>
                </a:cubicBezTo>
                <a:cubicBezTo>
                  <a:pt x="314782" y="120244"/>
                  <a:pt x="309067" y="122987"/>
                  <a:pt x="297637" y="123444"/>
                </a:cubicBezTo>
                <a:cubicBezTo>
                  <a:pt x="286207" y="123902"/>
                  <a:pt x="247345" y="127788"/>
                  <a:pt x="181051" y="135103"/>
                </a:cubicBezTo>
                <a:lnTo>
                  <a:pt x="181051" y="141288"/>
                </a:lnTo>
                <a:lnTo>
                  <a:pt x="143079" y="145085"/>
                </a:lnTo>
                <a:lnTo>
                  <a:pt x="140411" y="146775"/>
                </a:lnTo>
                <a:lnTo>
                  <a:pt x="146761" y="139218"/>
                </a:lnTo>
                <a:cubicBezTo>
                  <a:pt x="111557" y="143790"/>
                  <a:pt x="85725" y="148362"/>
                  <a:pt x="69266" y="152934"/>
                </a:cubicBezTo>
                <a:cubicBezTo>
                  <a:pt x="66522" y="160706"/>
                  <a:pt x="63093" y="164592"/>
                  <a:pt x="58979" y="164592"/>
                </a:cubicBezTo>
                <a:cubicBezTo>
                  <a:pt x="52578" y="164592"/>
                  <a:pt x="47777" y="157734"/>
                  <a:pt x="44577" y="144018"/>
                </a:cubicBezTo>
                <a:cubicBezTo>
                  <a:pt x="33147" y="99213"/>
                  <a:pt x="20345" y="69723"/>
                  <a:pt x="6172" y="55550"/>
                </a:cubicBezTo>
                <a:cubicBezTo>
                  <a:pt x="2057" y="50978"/>
                  <a:pt x="0" y="47092"/>
                  <a:pt x="0" y="43892"/>
                </a:cubicBezTo>
                <a:cubicBezTo>
                  <a:pt x="0" y="40691"/>
                  <a:pt x="3772" y="39091"/>
                  <a:pt x="11316" y="39091"/>
                </a:cubicBezTo>
                <a:cubicBezTo>
                  <a:pt x="18859" y="39091"/>
                  <a:pt x="30404" y="41377"/>
                  <a:pt x="45948" y="45949"/>
                </a:cubicBezTo>
                <a:cubicBezTo>
                  <a:pt x="66522" y="45492"/>
                  <a:pt x="104241" y="40920"/>
                  <a:pt x="159105" y="32233"/>
                </a:cubicBezTo>
                <a:lnTo>
                  <a:pt x="159015" y="28076"/>
                </a:lnTo>
                <a:lnTo>
                  <a:pt x="183111" y="28076"/>
                </a:lnTo>
                <a:lnTo>
                  <a:pt x="183108" y="28118"/>
                </a:lnTo>
                <a:lnTo>
                  <a:pt x="183344" y="28076"/>
                </a:lnTo>
                <a:lnTo>
                  <a:pt x="183526" y="28076"/>
                </a:lnTo>
                <a:lnTo>
                  <a:pt x="183778" y="27999"/>
                </a:lnTo>
                <a:lnTo>
                  <a:pt x="221127" y="21346"/>
                </a:lnTo>
                <a:cubicBezTo>
                  <a:pt x="254646" y="15003"/>
                  <a:pt x="274663" y="9945"/>
                  <a:pt x="281178" y="6173"/>
                </a:cubicBezTo>
                <a:cubicBezTo>
                  <a:pt x="288950" y="2058"/>
                  <a:pt x="297294" y="0"/>
                  <a:pt x="306209" y="0"/>
                </a:cubicBezTo>
                <a:close/>
                <a:moveTo>
                  <a:pt x="274320" y="32233"/>
                </a:moveTo>
                <a:cubicBezTo>
                  <a:pt x="268376" y="32233"/>
                  <a:pt x="237744" y="36348"/>
                  <a:pt x="182423" y="44577"/>
                </a:cubicBezTo>
                <a:lnTo>
                  <a:pt x="182334" y="49406"/>
                </a:lnTo>
                <a:lnTo>
                  <a:pt x="159105" y="52046"/>
                </a:lnTo>
                <a:lnTo>
                  <a:pt x="159105" y="48692"/>
                </a:lnTo>
                <a:lnTo>
                  <a:pt x="58293" y="65837"/>
                </a:lnTo>
                <a:cubicBezTo>
                  <a:pt x="63322" y="90983"/>
                  <a:pt x="67208" y="113386"/>
                  <a:pt x="69951" y="133046"/>
                </a:cubicBezTo>
                <a:cubicBezTo>
                  <a:pt x="112014" y="128016"/>
                  <a:pt x="141732" y="124130"/>
                  <a:pt x="159105" y="121387"/>
                </a:cubicBezTo>
                <a:lnTo>
                  <a:pt x="159105" y="114120"/>
                </a:lnTo>
                <a:lnTo>
                  <a:pt x="181178" y="111796"/>
                </a:lnTo>
                <a:lnTo>
                  <a:pt x="181051" y="118644"/>
                </a:lnTo>
                <a:cubicBezTo>
                  <a:pt x="217627" y="113157"/>
                  <a:pt x="240601" y="109157"/>
                  <a:pt x="249974" y="106642"/>
                </a:cubicBezTo>
                <a:cubicBezTo>
                  <a:pt x="259347" y="104128"/>
                  <a:pt x="266662" y="100241"/>
                  <a:pt x="271920" y="94984"/>
                </a:cubicBezTo>
                <a:cubicBezTo>
                  <a:pt x="277177" y="89726"/>
                  <a:pt x="281864" y="80582"/>
                  <a:pt x="285978" y="67552"/>
                </a:cubicBezTo>
                <a:cubicBezTo>
                  <a:pt x="290093" y="54521"/>
                  <a:pt x="292151" y="46178"/>
                  <a:pt x="292151" y="42520"/>
                </a:cubicBezTo>
                <a:cubicBezTo>
                  <a:pt x="292151" y="35662"/>
                  <a:pt x="286207" y="32233"/>
                  <a:pt x="274320" y="32233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6587975" y="289803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任意多边形: 形状 99"/>
          <p:cNvSpPr/>
          <p:nvPr/>
        </p:nvSpPr>
        <p:spPr>
          <a:xfrm>
            <a:off x="7252636" y="2715380"/>
            <a:ext cx="526695" cy="583616"/>
          </a:xfrm>
          <a:custGeom>
            <a:avLst/>
            <a:gdLst>
              <a:gd name="csX0" fmla="*/ 145047 w 526695"/>
              <a:gd name="csY0" fmla="*/ 212599 h 583616"/>
              <a:gd name="csX1" fmla="*/ 172822 w 526695"/>
              <a:gd name="csY1" fmla="*/ 223915 h 583616"/>
              <a:gd name="csX2" fmla="*/ 192024 w 526695"/>
              <a:gd name="csY2" fmla="*/ 242774 h 583616"/>
              <a:gd name="csX3" fmla="*/ 187224 w 526695"/>
              <a:gd name="csY3" fmla="*/ 253061 h 583616"/>
              <a:gd name="csX4" fmla="*/ 158077 w 526695"/>
              <a:gd name="csY4" fmla="*/ 315469 h 583616"/>
              <a:gd name="csX5" fmla="*/ 109385 w 526695"/>
              <a:gd name="csY5" fmla="*/ 407023 h 583616"/>
              <a:gd name="csX6" fmla="*/ 45606 w 526695"/>
              <a:gd name="csY6" fmla="*/ 474575 h 583616"/>
              <a:gd name="csX7" fmla="*/ 4115 w 526695"/>
              <a:gd name="csY7" fmla="*/ 496520 h 583616"/>
              <a:gd name="csX8" fmla="*/ 0 w 526695"/>
              <a:gd name="csY8" fmla="*/ 493434 h 583616"/>
              <a:gd name="csX9" fmla="*/ 4801 w 526695"/>
              <a:gd name="csY9" fmla="*/ 485548 h 583616"/>
              <a:gd name="csX10" fmla="*/ 83325 w 526695"/>
              <a:gd name="csY10" fmla="*/ 395708 h 583616"/>
              <a:gd name="csX11" fmla="*/ 122758 w 526695"/>
              <a:gd name="csY11" fmla="*/ 313069 h 583616"/>
              <a:gd name="csX12" fmla="*/ 138532 w 526695"/>
              <a:gd name="csY12" fmla="*/ 260262 h 583616"/>
              <a:gd name="csX13" fmla="*/ 135103 w 526695"/>
              <a:gd name="csY13" fmla="*/ 253061 h 583616"/>
              <a:gd name="csX14" fmla="*/ 126873 w 526695"/>
              <a:gd name="csY14" fmla="*/ 254433 h 583616"/>
              <a:gd name="csX15" fmla="*/ 80239 w 526695"/>
              <a:gd name="csY15" fmla="*/ 263348 h 583616"/>
              <a:gd name="csX16" fmla="*/ 55550 w 526695"/>
              <a:gd name="csY16" fmla="*/ 255119 h 583616"/>
              <a:gd name="csX17" fmla="*/ 67209 w 526695"/>
              <a:gd name="csY17" fmla="*/ 247918 h 583616"/>
              <a:gd name="csX18" fmla="*/ 98755 w 526695"/>
              <a:gd name="csY18" fmla="*/ 235916 h 583616"/>
              <a:gd name="csX19" fmla="*/ 127559 w 526695"/>
              <a:gd name="csY19" fmla="*/ 219457 h 583616"/>
              <a:gd name="csX20" fmla="*/ 145047 w 526695"/>
              <a:gd name="csY20" fmla="*/ 212599 h 583616"/>
              <a:gd name="csX21" fmla="*/ 199911 w 526695"/>
              <a:gd name="csY21" fmla="*/ 0 h 583616"/>
              <a:gd name="csX22" fmla="*/ 238659 w 526695"/>
              <a:gd name="csY22" fmla="*/ 10287 h 583616"/>
              <a:gd name="csX23" fmla="*/ 267462 w 526695"/>
              <a:gd name="csY23" fmla="*/ 33604 h 583616"/>
              <a:gd name="csX24" fmla="*/ 262662 w 526695"/>
              <a:gd name="csY24" fmla="*/ 52121 h 583616"/>
              <a:gd name="csX25" fmla="*/ 254432 w 526695"/>
              <a:gd name="csY25" fmla="*/ 103899 h 583616"/>
              <a:gd name="csX26" fmla="*/ 246888 w 526695"/>
              <a:gd name="csY26" fmla="*/ 244831 h 583616"/>
              <a:gd name="csX27" fmla="*/ 263347 w 526695"/>
              <a:gd name="csY27" fmla="*/ 263347 h 583616"/>
              <a:gd name="csX28" fmla="*/ 341529 w 526695"/>
              <a:gd name="csY28" fmla="*/ 139903 h 583616"/>
              <a:gd name="csX29" fmla="*/ 351130 w 526695"/>
              <a:gd name="csY29" fmla="*/ 126873 h 583616"/>
              <a:gd name="csX30" fmla="*/ 384734 w 526695"/>
              <a:gd name="csY30" fmla="*/ 139903 h 583616"/>
              <a:gd name="csX31" fmla="*/ 408737 w 526695"/>
              <a:gd name="csY31" fmla="*/ 165278 h 583616"/>
              <a:gd name="csX32" fmla="*/ 397078 w 526695"/>
              <a:gd name="csY32" fmla="*/ 179337 h 583616"/>
              <a:gd name="csX33" fmla="*/ 372390 w 526695"/>
              <a:gd name="csY33" fmla="*/ 194767 h 583616"/>
              <a:gd name="csX34" fmla="*/ 272949 w 526695"/>
              <a:gd name="csY34" fmla="*/ 274320 h 583616"/>
              <a:gd name="csX35" fmla="*/ 379591 w 526695"/>
              <a:gd name="csY35" fmla="*/ 363131 h 583616"/>
              <a:gd name="csX36" fmla="*/ 504063 w 526695"/>
              <a:gd name="csY36" fmla="*/ 409423 h 583616"/>
              <a:gd name="csX37" fmla="*/ 526695 w 526695"/>
              <a:gd name="csY37" fmla="*/ 420396 h 583616"/>
              <a:gd name="csX38" fmla="*/ 519837 w 526695"/>
              <a:gd name="csY38" fmla="*/ 426568 h 583616"/>
              <a:gd name="csX39" fmla="*/ 472859 w 526695"/>
              <a:gd name="csY39" fmla="*/ 433083 h 583616"/>
              <a:gd name="csX40" fmla="*/ 405308 w 526695"/>
              <a:gd name="csY40" fmla="*/ 436855 h 583616"/>
              <a:gd name="csX41" fmla="*/ 364503 w 526695"/>
              <a:gd name="csY41" fmla="*/ 425882 h 583616"/>
              <a:gd name="csX42" fmla="*/ 246888 w 526695"/>
              <a:gd name="csY42" fmla="*/ 270205 h 583616"/>
              <a:gd name="csX43" fmla="*/ 249974 w 526695"/>
              <a:gd name="csY43" fmla="*/ 385763 h 583616"/>
              <a:gd name="csX44" fmla="*/ 253060 w 526695"/>
              <a:gd name="csY44" fmla="*/ 488290 h 583616"/>
              <a:gd name="csX45" fmla="*/ 249289 w 526695"/>
              <a:gd name="csY45" fmla="*/ 525323 h 583616"/>
              <a:gd name="csX46" fmla="*/ 236258 w 526695"/>
              <a:gd name="csY46" fmla="*/ 557213 h 583616"/>
              <a:gd name="csX47" fmla="*/ 221857 w 526695"/>
              <a:gd name="csY47" fmla="*/ 578130 h 583616"/>
              <a:gd name="csX48" fmla="*/ 210884 w 526695"/>
              <a:gd name="csY48" fmla="*/ 583616 h 583616"/>
              <a:gd name="csX49" fmla="*/ 200940 w 526695"/>
              <a:gd name="csY49" fmla="*/ 573329 h 583616"/>
              <a:gd name="csX50" fmla="*/ 146761 w 526695"/>
              <a:gd name="csY50" fmla="*/ 493776 h 583616"/>
              <a:gd name="csX51" fmla="*/ 144704 w 526695"/>
              <a:gd name="csY51" fmla="*/ 487947 h 583616"/>
              <a:gd name="csX52" fmla="*/ 148819 w 526695"/>
              <a:gd name="csY52" fmla="*/ 484861 h 583616"/>
              <a:gd name="csX53" fmla="*/ 167678 w 526695"/>
              <a:gd name="csY53" fmla="*/ 490347 h 583616"/>
              <a:gd name="csX54" fmla="*/ 194425 w 526695"/>
              <a:gd name="csY54" fmla="*/ 495834 h 583616"/>
              <a:gd name="csX55" fmla="*/ 207798 w 526695"/>
              <a:gd name="csY55" fmla="*/ 483832 h 583616"/>
              <a:gd name="csX56" fmla="*/ 213970 w 526695"/>
              <a:gd name="csY56" fmla="*/ 422110 h 583616"/>
              <a:gd name="csX57" fmla="*/ 216713 w 526695"/>
              <a:gd name="csY57" fmla="*/ 246202 h 583616"/>
              <a:gd name="csX58" fmla="*/ 213627 w 526695"/>
              <a:gd name="csY58" fmla="*/ 82639 h 583616"/>
              <a:gd name="csX59" fmla="*/ 202311 w 526695"/>
              <a:gd name="csY59" fmla="*/ 32919 h 583616"/>
              <a:gd name="csX60" fmla="*/ 189967 w 526695"/>
              <a:gd name="csY60" fmla="*/ 7544 h 583616"/>
              <a:gd name="csX61" fmla="*/ 199911 w 526695"/>
              <a:gd name="csY61" fmla="*/ 0 h 583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526695" h="583616">
                <a:moveTo>
                  <a:pt x="145047" y="212599"/>
                </a:moveTo>
                <a:cubicBezTo>
                  <a:pt x="150762" y="212599"/>
                  <a:pt x="160020" y="216371"/>
                  <a:pt x="172822" y="223915"/>
                </a:cubicBezTo>
                <a:cubicBezTo>
                  <a:pt x="185623" y="231459"/>
                  <a:pt x="192024" y="237745"/>
                  <a:pt x="192024" y="242774"/>
                </a:cubicBezTo>
                <a:cubicBezTo>
                  <a:pt x="192024" y="245518"/>
                  <a:pt x="190424" y="248947"/>
                  <a:pt x="187224" y="253061"/>
                </a:cubicBezTo>
                <a:cubicBezTo>
                  <a:pt x="178080" y="264034"/>
                  <a:pt x="168364" y="284837"/>
                  <a:pt x="158077" y="315469"/>
                </a:cubicBezTo>
                <a:cubicBezTo>
                  <a:pt x="147790" y="346102"/>
                  <a:pt x="131560" y="376620"/>
                  <a:pt x="109385" y="407023"/>
                </a:cubicBezTo>
                <a:cubicBezTo>
                  <a:pt x="87211" y="437427"/>
                  <a:pt x="65951" y="459944"/>
                  <a:pt x="45606" y="474575"/>
                </a:cubicBezTo>
                <a:cubicBezTo>
                  <a:pt x="25261" y="489205"/>
                  <a:pt x="11430" y="496520"/>
                  <a:pt x="4115" y="496520"/>
                </a:cubicBezTo>
                <a:cubicBezTo>
                  <a:pt x="1372" y="496520"/>
                  <a:pt x="0" y="495492"/>
                  <a:pt x="0" y="493434"/>
                </a:cubicBezTo>
                <a:cubicBezTo>
                  <a:pt x="0" y="491377"/>
                  <a:pt x="1600" y="488748"/>
                  <a:pt x="4801" y="485548"/>
                </a:cubicBezTo>
                <a:cubicBezTo>
                  <a:pt x="41377" y="450343"/>
                  <a:pt x="67552" y="420397"/>
                  <a:pt x="83325" y="395708"/>
                </a:cubicBezTo>
                <a:cubicBezTo>
                  <a:pt x="99098" y="371019"/>
                  <a:pt x="112243" y="343473"/>
                  <a:pt x="122758" y="313069"/>
                </a:cubicBezTo>
                <a:cubicBezTo>
                  <a:pt x="133274" y="282665"/>
                  <a:pt x="138532" y="265063"/>
                  <a:pt x="138532" y="260262"/>
                </a:cubicBezTo>
                <a:cubicBezTo>
                  <a:pt x="138532" y="255462"/>
                  <a:pt x="137389" y="253061"/>
                  <a:pt x="135103" y="253061"/>
                </a:cubicBezTo>
                <a:cubicBezTo>
                  <a:pt x="132817" y="253061"/>
                  <a:pt x="130074" y="253519"/>
                  <a:pt x="126873" y="254433"/>
                </a:cubicBezTo>
                <a:cubicBezTo>
                  <a:pt x="107671" y="260377"/>
                  <a:pt x="92126" y="263348"/>
                  <a:pt x="80239" y="263348"/>
                </a:cubicBezTo>
                <a:cubicBezTo>
                  <a:pt x="63780" y="263348"/>
                  <a:pt x="55550" y="260605"/>
                  <a:pt x="55550" y="255119"/>
                </a:cubicBezTo>
                <a:cubicBezTo>
                  <a:pt x="55550" y="251918"/>
                  <a:pt x="59436" y="249518"/>
                  <a:pt x="67209" y="247918"/>
                </a:cubicBezTo>
                <a:cubicBezTo>
                  <a:pt x="74981" y="246318"/>
                  <a:pt x="85497" y="242317"/>
                  <a:pt x="98755" y="235916"/>
                </a:cubicBezTo>
                <a:cubicBezTo>
                  <a:pt x="112014" y="229516"/>
                  <a:pt x="121615" y="224029"/>
                  <a:pt x="127559" y="219457"/>
                </a:cubicBezTo>
                <a:cubicBezTo>
                  <a:pt x="133503" y="214885"/>
                  <a:pt x="139332" y="212599"/>
                  <a:pt x="145047" y="212599"/>
                </a:cubicBezTo>
                <a:close/>
                <a:moveTo>
                  <a:pt x="199911" y="0"/>
                </a:moveTo>
                <a:cubicBezTo>
                  <a:pt x="206540" y="0"/>
                  <a:pt x="219456" y="3429"/>
                  <a:pt x="238659" y="10287"/>
                </a:cubicBezTo>
                <a:cubicBezTo>
                  <a:pt x="257861" y="17145"/>
                  <a:pt x="267462" y="24918"/>
                  <a:pt x="267462" y="33604"/>
                </a:cubicBezTo>
                <a:cubicBezTo>
                  <a:pt x="267462" y="37262"/>
                  <a:pt x="265862" y="43434"/>
                  <a:pt x="262662" y="52121"/>
                </a:cubicBezTo>
                <a:cubicBezTo>
                  <a:pt x="259461" y="60808"/>
                  <a:pt x="256718" y="78067"/>
                  <a:pt x="254432" y="103899"/>
                </a:cubicBezTo>
                <a:cubicBezTo>
                  <a:pt x="252146" y="129731"/>
                  <a:pt x="249631" y="176708"/>
                  <a:pt x="246888" y="244831"/>
                </a:cubicBezTo>
                <a:lnTo>
                  <a:pt x="263347" y="263347"/>
                </a:lnTo>
                <a:cubicBezTo>
                  <a:pt x="315468" y="204369"/>
                  <a:pt x="341529" y="163221"/>
                  <a:pt x="341529" y="139903"/>
                </a:cubicBezTo>
                <a:cubicBezTo>
                  <a:pt x="341529" y="131217"/>
                  <a:pt x="344729" y="126873"/>
                  <a:pt x="351130" y="126873"/>
                </a:cubicBezTo>
                <a:cubicBezTo>
                  <a:pt x="357531" y="126873"/>
                  <a:pt x="368732" y="131217"/>
                  <a:pt x="384734" y="139903"/>
                </a:cubicBezTo>
                <a:cubicBezTo>
                  <a:pt x="400736" y="148590"/>
                  <a:pt x="408737" y="157048"/>
                  <a:pt x="408737" y="165278"/>
                </a:cubicBezTo>
                <a:cubicBezTo>
                  <a:pt x="408737" y="170764"/>
                  <a:pt x="404851" y="175451"/>
                  <a:pt x="397078" y="179337"/>
                </a:cubicBezTo>
                <a:cubicBezTo>
                  <a:pt x="389306" y="183223"/>
                  <a:pt x="381076" y="188367"/>
                  <a:pt x="372390" y="194767"/>
                </a:cubicBezTo>
                <a:lnTo>
                  <a:pt x="272949" y="274320"/>
                </a:lnTo>
                <a:cubicBezTo>
                  <a:pt x="308610" y="312268"/>
                  <a:pt x="344158" y="341871"/>
                  <a:pt x="379591" y="363131"/>
                </a:cubicBezTo>
                <a:cubicBezTo>
                  <a:pt x="415024" y="384391"/>
                  <a:pt x="456514" y="399822"/>
                  <a:pt x="504063" y="409423"/>
                </a:cubicBezTo>
                <a:cubicBezTo>
                  <a:pt x="519151" y="412623"/>
                  <a:pt x="526695" y="416281"/>
                  <a:pt x="526695" y="420396"/>
                </a:cubicBezTo>
                <a:cubicBezTo>
                  <a:pt x="526695" y="422682"/>
                  <a:pt x="524409" y="424739"/>
                  <a:pt x="519837" y="426568"/>
                </a:cubicBezTo>
                <a:cubicBezTo>
                  <a:pt x="515265" y="428397"/>
                  <a:pt x="499606" y="430568"/>
                  <a:pt x="472859" y="433083"/>
                </a:cubicBezTo>
                <a:cubicBezTo>
                  <a:pt x="446113" y="435597"/>
                  <a:pt x="423596" y="436855"/>
                  <a:pt x="405308" y="436855"/>
                </a:cubicBezTo>
                <a:cubicBezTo>
                  <a:pt x="387020" y="436855"/>
                  <a:pt x="373418" y="433197"/>
                  <a:pt x="364503" y="425882"/>
                </a:cubicBezTo>
                <a:cubicBezTo>
                  <a:pt x="355588" y="418567"/>
                  <a:pt x="316383" y="366675"/>
                  <a:pt x="246888" y="270205"/>
                </a:cubicBezTo>
                <a:cubicBezTo>
                  <a:pt x="246888" y="292608"/>
                  <a:pt x="247917" y="331127"/>
                  <a:pt x="249974" y="385763"/>
                </a:cubicBezTo>
                <a:cubicBezTo>
                  <a:pt x="252032" y="440398"/>
                  <a:pt x="253060" y="474574"/>
                  <a:pt x="253060" y="488290"/>
                </a:cubicBezTo>
                <a:cubicBezTo>
                  <a:pt x="253060" y="502006"/>
                  <a:pt x="251803" y="514350"/>
                  <a:pt x="249289" y="525323"/>
                </a:cubicBezTo>
                <a:cubicBezTo>
                  <a:pt x="246774" y="536296"/>
                  <a:pt x="242431" y="546926"/>
                  <a:pt x="236258" y="557213"/>
                </a:cubicBezTo>
                <a:cubicBezTo>
                  <a:pt x="230086" y="567500"/>
                  <a:pt x="225286" y="574472"/>
                  <a:pt x="221857" y="578130"/>
                </a:cubicBezTo>
                <a:cubicBezTo>
                  <a:pt x="218428" y="581787"/>
                  <a:pt x="214770" y="583616"/>
                  <a:pt x="210884" y="583616"/>
                </a:cubicBezTo>
                <a:cubicBezTo>
                  <a:pt x="206998" y="583616"/>
                  <a:pt x="203683" y="580187"/>
                  <a:pt x="200940" y="573329"/>
                </a:cubicBezTo>
                <a:cubicBezTo>
                  <a:pt x="189510" y="547269"/>
                  <a:pt x="171450" y="520751"/>
                  <a:pt x="146761" y="493776"/>
                </a:cubicBezTo>
                <a:cubicBezTo>
                  <a:pt x="145390" y="491947"/>
                  <a:pt x="144704" y="490004"/>
                  <a:pt x="144704" y="487947"/>
                </a:cubicBezTo>
                <a:cubicBezTo>
                  <a:pt x="144704" y="485889"/>
                  <a:pt x="146076" y="484861"/>
                  <a:pt x="148819" y="484861"/>
                </a:cubicBezTo>
                <a:cubicBezTo>
                  <a:pt x="150190" y="484861"/>
                  <a:pt x="156477" y="486690"/>
                  <a:pt x="167678" y="490347"/>
                </a:cubicBezTo>
                <a:cubicBezTo>
                  <a:pt x="178880" y="494005"/>
                  <a:pt x="187795" y="495834"/>
                  <a:pt x="194425" y="495834"/>
                </a:cubicBezTo>
                <a:cubicBezTo>
                  <a:pt x="201054" y="495834"/>
                  <a:pt x="205512" y="491833"/>
                  <a:pt x="207798" y="483832"/>
                </a:cubicBezTo>
                <a:cubicBezTo>
                  <a:pt x="210084" y="475831"/>
                  <a:pt x="212141" y="455257"/>
                  <a:pt x="213970" y="422110"/>
                </a:cubicBezTo>
                <a:cubicBezTo>
                  <a:pt x="215799" y="388963"/>
                  <a:pt x="216713" y="330327"/>
                  <a:pt x="216713" y="246202"/>
                </a:cubicBezTo>
                <a:cubicBezTo>
                  <a:pt x="216713" y="162078"/>
                  <a:pt x="215684" y="107556"/>
                  <a:pt x="213627" y="82639"/>
                </a:cubicBezTo>
                <a:cubicBezTo>
                  <a:pt x="211570" y="57722"/>
                  <a:pt x="207798" y="41148"/>
                  <a:pt x="202311" y="32919"/>
                </a:cubicBezTo>
                <a:cubicBezTo>
                  <a:pt x="194082" y="21031"/>
                  <a:pt x="189967" y="12573"/>
                  <a:pt x="189967" y="7544"/>
                </a:cubicBezTo>
                <a:cubicBezTo>
                  <a:pt x="189967" y="2515"/>
                  <a:pt x="193282" y="0"/>
                  <a:pt x="19991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7804152" y="2862156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832827" y="3708919"/>
            <a:ext cx="10822193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dirty="0"/>
              <a:t>见</a:t>
            </a:r>
            <a:r>
              <a:rPr lang="en-US" altLang="zh-CN" sz="2800" dirty="0"/>
              <a:t>m </a:t>
            </a:r>
            <a:r>
              <a:rPr lang="zh-CN" altLang="zh-CN" sz="2800" dirty="0"/>
              <a:t>贝</a:t>
            </a:r>
            <a:r>
              <a:rPr lang="en-US" altLang="zh-CN" sz="2800" dirty="0"/>
              <a:t>m </a:t>
            </a:r>
            <a:r>
              <a:rPr lang="zh-CN" altLang="zh-CN" sz="2800" dirty="0"/>
              <a:t>乔</a:t>
            </a:r>
            <a:r>
              <a:rPr lang="en-US" altLang="zh-CN" sz="2800" dirty="0"/>
              <a:t>k </a:t>
            </a:r>
            <a:r>
              <a:rPr lang="zh-CN" altLang="zh-CN" sz="2800" dirty="0"/>
              <a:t>买</a:t>
            </a:r>
            <a:r>
              <a:rPr lang="en-US" altLang="zh-CN" sz="2800" dirty="0"/>
              <a:t>w </a:t>
            </a:r>
            <a:r>
              <a:rPr lang="zh-CN" altLang="zh-CN" sz="2800" dirty="0"/>
              <a:t>尽</a:t>
            </a:r>
            <a:r>
              <a:rPr lang="en-US" altLang="zh-CN" sz="2800" dirty="0"/>
              <a:t>m </a:t>
            </a:r>
            <a:r>
              <a:rPr lang="zh-CN" altLang="zh-CN" sz="2800" dirty="0"/>
              <a:t>临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</a:t>
            </a:r>
            <a:r>
              <a:rPr lang="zh-CN" altLang="zh-CN" sz="2800" dirty="0"/>
              <a:t>畅</a:t>
            </a:r>
            <a:r>
              <a:rPr lang="en-US" altLang="zh-CN" sz="2800" dirty="0"/>
              <a:t>t </a:t>
            </a:r>
            <a:r>
              <a:rPr lang="zh-CN" altLang="zh-CN" sz="2800" dirty="0"/>
              <a:t>养</a:t>
            </a:r>
            <a:r>
              <a:rPr lang="en-US" altLang="zh-CN" sz="2800" dirty="0"/>
              <a:t>d </a:t>
            </a:r>
            <a:r>
              <a:rPr lang="zh-CN" altLang="zh-CN" sz="2800" dirty="0"/>
              <a:t>利</a:t>
            </a:r>
            <a:r>
              <a:rPr lang="en-US" altLang="zh-CN" sz="2800" dirty="0"/>
              <a:t>h </a:t>
            </a:r>
            <a:r>
              <a:rPr lang="zh-CN" altLang="zh-CN" sz="2800" dirty="0"/>
              <a:t>事</a:t>
            </a:r>
            <a:r>
              <a:rPr lang="en-US" altLang="zh-CN" sz="2800" dirty="0"/>
              <a:t>k </a:t>
            </a:r>
            <a:r>
              <a:rPr lang="zh-CN" altLang="zh-CN" sz="2800" dirty="0"/>
              <a:t>巨</a:t>
            </a:r>
            <a:r>
              <a:rPr lang="en-US" altLang="zh-CN" sz="2800" dirty="0"/>
              <a:t>5 </a:t>
            </a:r>
            <a:r>
              <a:rPr lang="zh-CN" altLang="zh-CN" sz="2800" dirty="0"/>
              <a:t>音</a:t>
            </a:r>
            <a:r>
              <a:rPr lang="en-US" altLang="zh-CN" sz="2800" dirty="0"/>
              <a:t>r </a:t>
            </a:r>
            <a:r>
              <a:rPr lang="zh-CN" altLang="zh-CN" sz="2800" dirty="0"/>
              <a:t>就</a:t>
            </a:r>
            <a:r>
              <a:rPr lang="en-US" altLang="zh-CN" sz="2800" dirty="0"/>
              <a:t>d </a:t>
            </a:r>
            <a:r>
              <a:rPr lang="zh-CN" altLang="zh-CN" sz="2800" dirty="0"/>
              <a:t>平</a:t>
            </a:r>
            <a:r>
              <a:rPr lang="en-US" altLang="zh-CN" sz="2800" dirty="0"/>
              <a:t>5 </a:t>
            </a:r>
            <a:r>
              <a:rPr lang="zh-CN" altLang="zh-CN" sz="2800" dirty="0"/>
              <a:t>所</a:t>
            </a:r>
            <a:r>
              <a:rPr lang="en-US" altLang="zh-CN" sz="2800" dirty="0"/>
              <a:t>j </a:t>
            </a:r>
            <a:r>
              <a:rPr lang="zh-CN" altLang="zh-CN" sz="2800" dirty="0"/>
              <a:t>有</a:t>
            </a:r>
            <a:r>
              <a:rPr lang="en-US" altLang="zh-CN" sz="2800" dirty="0"/>
              <a:t>r </a:t>
            </a:r>
            <a:r>
              <a:rPr lang="zh-CN" altLang="zh-CN" sz="2800" dirty="0"/>
              <a:t>去</a:t>
            </a:r>
            <a:r>
              <a:rPr lang="en-US" altLang="zh-CN" sz="2800" dirty="0"/>
              <a:t>t</a:t>
            </a:r>
          </a:p>
          <a:p>
            <a:r>
              <a:rPr lang="zh-CN" altLang="en-US" sz="2800" dirty="0"/>
              <a:t>目     目    口   网   皿    臣  田   丷   禾   口  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衬   </a:t>
            </a:r>
            <a:r>
              <a:rPr lang="zh-CN" altLang="en-US" sz="2800" dirty="0"/>
              <a:t>日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zh-CN" altLang="en-US" sz="2800" dirty="0"/>
              <a:t>亠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衬   </a:t>
            </a:r>
            <a:r>
              <a:rPr lang="zh-CN" altLang="en-US" sz="2800" dirty="0"/>
              <a:t>斤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zh-CN" altLang="en-US" sz="2800" dirty="0"/>
              <a:t>肉  土</a:t>
            </a:r>
            <a:endParaRPr lang="zh-CN" altLang="zh-CN" sz="2800" dirty="0"/>
          </a:p>
          <a:p>
            <a:endParaRPr lang="zh-CN" altLang="en-US" dirty="0"/>
          </a:p>
        </p:txBody>
      </p:sp>
      <p:sp>
        <p:nvSpPr>
          <p:cNvPr id="105" name="内容占位符 2"/>
          <p:cNvSpPr txBox="1"/>
          <p:nvPr/>
        </p:nvSpPr>
        <p:spPr>
          <a:xfrm>
            <a:off x="1416404" y="4797573"/>
            <a:ext cx="9601200" cy="175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175" indent="-384175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4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主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码编码总结</a:t>
            </a:r>
          </a:p>
          <a:p>
            <a:pPr marL="0" lvl="0" indent="0">
              <a:buNone/>
            </a:pPr>
            <a:r>
              <a:rPr lang="zh-CN" altLang="zh-CN" b="1" dirty="0">
                <a:solidFill>
                  <a:srgbClr val="FF0000"/>
                </a:solidFill>
              </a:rPr>
              <a:t>独</a:t>
            </a:r>
            <a:r>
              <a:rPr lang="zh-CN" altLang="zh-CN" b="1" dirty="0"/>
              <a:t>体字</a:t>
            </a:r>
            <a:r>
              <a:rPr lang="zh-CN" altLang="zh-CN" dirty="0"/>
              <a:t>：主码为数字（</a:t>
            </a:r>
            <a:r>
              <a:rPr lang="en-US" altLang="zh-CN" dirty="0"/>
              <a:t>0-9</a:t>
            </a:r>
            <a:r>
              <a:rPr lang="zh-CN" altLang="zh-CN" dirty="0"/>
              <a:t>），根据字形特征按优先级选取。</a:t>
            </a:r>
          </a:p>
          <a:p>
            <a:pPr marL="0" lvl="0" indent="0"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合</a:t>
            </a:r>
            <a:r>
              <a:rPr lang="zh-CN" altLang="zh-CN" b="1" dirty="0"/>
              <a:t>体字</a:t>
            </a:r>
            <a:r>
              <a:rPr lang="zh-CN" altLang="zh-CN" dirty="0"/>
              <a:t>：主码为字母（</a:t>
            </a:r>
            <a:r>
              <a:rPr lang="en-US" altLang="zh-CN" dirty="0"/>
              <a:t>b-z</a:t>
            </a:r>
            <a:r>
              <a:rPr lang="zh-CN" altLang="zh-CN" dirty="0"/>
              <a:t>，不含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/>
              <a:t>e</a:t>
            </a:r>
            <a:r>
              <a:rPr lang="zh-CN" altLang="zh-CN" dirty="0"/>
              <a:t>、</a:t>
            </a:r>
            <a:r>
              <a:rPr lang="en-US" altLang="zh-CN" dirty="0"/>
              <a:t>;</a:t>
            </a:r>
            <a:r>
              <a:rPr lang="zh-CN" altLang="zh-CN" dirty="0"/>
              <a:t>），对应部首表中的部首。</a:t>
            </a:r>
          </a:p>
          <a:p>
            <a:pPr marL="0" lvl="0" indent="0">
              <a:buNone/>
            </a:pPr>
            <a:r>
              <a:rPr lang="zh-CN" altLang="zh-CN" b="1" dirty="0"/>
              <a:t>禁用字母</a:t>
            </a:r>
            <a:r>
              <a:rPr lang="zh-CN" altLang="zh-CN" dirty="0"/>
              <a:t>：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/>
              <a:t>e</a:t>
            </a:r>
            <a:r>
              <a:rPr lang="zh-CN" altLang="zh-CN" dirty="0"/>
              <a:t>、</a:t>
            </a:r>
            <a:r>
              <a:rPr lang="en-US" altLang="zh-CN" dirty="0"/>
              <a:t>; </a:t>
            </a:r>
            <a:r>
              <a:rPr lang="zh-CN" altLang="zh-CN" dirty="0"/>
              <a:t>不用于主码。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9" grpId="0" animBg="1"/>
      <p:bldP spid="14" grpId="0" animBg="1"/>
      <p:bldP spid="16" grpId="0"/>
      <p:bldP spid="31" grpId="0" animBg="1"/>
      <p:bldP spid="33" grpId="0"/>
      <p:bldP spid="102" grpId="0" animBg="1"/>
      <p:bldP spid="43" grpId="0" animBg="1"/>
      <p:bldP spid="41" grpId="0" animBg="1"/>
      <p:bldP spid="44" grpId="0"/>
      <p:bldP spid="91" grpId="0" animBg="1"/>
      <p:bldP spid="90" grpId="0" animBg="1"/>
      <p:bldP spid="92" grpId="0"/>
      <p:bldP spid="100" grpId="0" animBg="1"/>
      <p:bldP spid="103" grpId="0"/>
      <p:bldP spid="104" grpId="0"/>
      <p:bldP spid="10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四、副码编码规则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295400" y="1330036"/>
            <a:ext cx="9601200" cy="5101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副</a:t>
            </a:r>
            <a:r>
              <a:rPr lang="zh-CN" altLang="zh-CN" dirty="0"/>
              <a:t>码是编码中的第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五</a:t>
            </a:r>
            <a:r>
              <a:rPr lang="zh-CN" altLang="zh-CN" dirty="0"/>
              <a:t>位，为</a:t>
            </a:r>
            <a:r>
              <a:rPr lang="zh-CN" altLang="zh-CN" b="1" dirty="0"/>
              <a:t>可选扩展码</a:t>
            </a:r>
            <a:r>
              <a:rPr lang="zh-CN" altLang="zh-CN" dirty="0"/>
              <a:t>。其主要作用是在</a:t>
            </a:r>
            <a:r>
              <a:rPr lang="zh-CN" altLang="en-US" dirty="0"/>
              <a:t>前四</a:t>
            </a:r>
            <a:r>
              <a:rPr lang="zh-CN" altLang="zh-CN" dirty="0"/>
              <a:t>码</a:t>
            </a:r>
            <a:r>
              <a:rPr lang="zh-CN" altLang="zh-CN" dirty="0">
                <a:solidFill>
                  <a:srgbClr val="FF0000"/>
                </a:solidFill>
              </a:rPr>
              <a:t>相同</a:t>
            </a:r>
            <a:r>
              <a:rPr lang="zh-CN" altLang="zh-CN" dirty="0"/>
              <a:t>的一组字内实现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零重码</a:t>
            </a:r>
            <a:r>
              <a:rPr lang="zh-CN" altLang="zh-CN" dirty="0"/>
              <a:t>。</a:t>
            </a:r>
            <a:r>
              <a:rPr lang="zh-CN" altLang="en-US" dirty="0"/>
              <a:t>副</a:t>
            </a:r>
            <a:r>
              <a:rPr lang="zh-CN" altLang="zh-CN" dirty="0"/>
              <a:t>码的设计体现了</a:t>
            </a:r>
            <a:r>
              <a:rPr lang="en-US" altLang="zh-CN" dirty="0"/>
              <a:t>"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余部集合、部首传递</a:t>
            </a:r>
            <a:r>
              <a:rPr lang="en-US" altLang="zh-CN" dirty="0"/>
              <a:t>"</a:t>
            </a:r>
            <a:r>
              <a:rPr lang="zh-CN" altLang="zh-CN" dirty="0"/>
              <a:t>的核心思想。</a:t>
            </a: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r>
              <a:rPr lang="zh-CN" altLang="en-US" b="1" dirty="0"/>
              <a:t>副</a:t>
            </a:r>
            <a:r>
              <a:rPr lang="zh-CN" altLang="zh-CN" b="1" dirty="0"/>
              <a:t>码的存在规则</a:t>
            </a:r>
            <a:endParaRPr lang="zh-CN" altLang="zh-CN" dirty="0"/>
          </a:p>
          <a:p>
            <a:r>
              <a:rPr lang="zh-CN" altLang="en-US" b="1" dirty="0"/>
              <a:t>副</a:t>
            </a:r>
            <a:r>
              <a:rPr lang="zh-CN" altLang="zh-CN" b="1" dirty="0"/>
              <a:t>码省略原则</a:t>
            </a:r>
            <a:r>
              <a:rPr lang="zh-CN" altLang="zh-CN" dirty="0"/>
              <a:t>：为缩短码长，最常用字</a:t>
            </a:r>
            <a:r>
              <a:rPr lang="zh-CN" altLang="zh-CN" b="1" dirty="0"/>
              <a:t>没有</a:t>
            </a:r>
            <a:r>
              <a:rPr lang="zh-CN" altLang="en-US" b="1" dirty="0"/>
              <a:t>副</a:t>
            </a:r>
            <a:r>
              <a:rPr lang="zh-CN" altLang="zh-CN" b="1" dirty="0"/>
              <a:t>码</a:t>
            </a:r>
            <a:r>
              <a:rPr lang="zh-CN" altLang="zh-CN" dirty="0"/>
              <a:t>（即空</a:t>
            </a:r>
            <a:r>
              <a:rPr lang="zh-CN" altLang="en-US" dirty="0"/>
              <a:t>副</a:t>
            </a:r>
            <a:r>
              <a:rPr lang="zh-CN" altLang="zh-CN" dirty="0"/>
              <a:t>码）。为统一码长，需要占位时使用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zh-CN" dirty="0"/>
              <a:t>作为占空码，在码表中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省略不写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zh-CN" b="1" dirty="0"/>
              <a:t>独体字规则</a:t>
            </a:r>
            <a:r>
              <a:rPr lang="zh-CN" altLang="zh-CN" dirty="0"/>
              <a:t>：独体字的</a:t>
            </a:r>
            <a:r>
              <a:rPr lang="zh-CN" altLang="en-US" dirty="0"/>
              <a:t>副</a:t>
            </a:r>
            <a:r>
              <a:rPr lang="zh-CN" altLang="zh-CN" dirty="0"/>
              <a:t>码一律为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空</a:t>
            </a:r>
            <a:r>
              <a:rPr lang="zh-CN" altLang="zh-CN" dirty="0"/>
              <a:t>，依靠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码数字</a:t>
            </a:r>
            <a:r>
              <a:rPr lang="zh-CN" altLang="zh-CN" dirty="0"/>
              <a:t>区分实现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零重码</a:t>
            </a:r>
            <a:r>
              <a:rPr lang="zh-CN" altLang="zh-CN" dirty="0"/>
              <a:t>。</a:t>
            </a:r>
          </a:p>
          <a:p>
            <a:r>
              <a:rPr lang="zh-CN" altLang="zh-CN" b="1" dirty="0"/>
              <a:t>常用度排序</a:t>
            </a:r>
            <a:r>
              <a:rPr lang="zh-CN" altLang="zh-CN" dirty="0"/>
              <a:t>：在同一</a:t>
            </a:r>
            <a:r>
              <a:rPr lang="zh-CN" altLang="en-US" dirty="0"/>
              <a:t>前四码</a:t>
            </a:r>
            <a:r>
              <a:rPr lang="zh-CN" altLang="zh-CN" dirty="0"/>
              <a:t>组内，汉字按常用度排序：</a:t>
            </a:r>
          </a:p>
          <a:p>
            <a:pPr marL="0" indent="0">
              <a:buNone/>
            </a:pP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</a:t>
            </a:r>
            <a:r>
              <a:rPr lang="zh-CN" altLang="zh-CN" dirty="0"/>
              <a:t>常用字：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空</a:t>
            </a:r>
            <a:r>
              <a:rPr lang="zh-CN" altLang="en-US" dirty="0"/>
              <a:t>副</a:t>
            </a:r>
            <a:r>
              <a:rPr lang="zh-CN" altLang="zh-CN" dirty="0"/>
              <a:t>码</a:t>
            </a:r>
          </a:p>
          <a:p>
            <a:pPr marL="0" indent="0">
              <a:buNone/>
            </a:pP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次</a:t>
            </a:r>
            <a:r>
              <a:rPr lang="zh-CN" altLang="zh-CN" dirty="0"/>
              <a:t>常用字：优先占用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</a:t>
            </a:r>
            <a:r>
              <a:rPr lang="zh-CN" altLang="zh-CN" dirty="0"/>
              <a:t>优先级字母</a:t>
            </a:r>
          </a:p>
          <a:p>
            <a:pPr marL="0" indent="0">
              <a:buNone/>
            </a:pP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后续</a:t>
            </a:r>
            <a:r>
              <a:rPr lang="zh-CN" altLang="zh-CN" dirty="0"/>
              <a:t>字：若首选字母已被占用，则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顺延</a:t>
            </a:r>
            <a:r>
              <a:rPr lang="zh-CN" altLang="zh-CN" dirty="0"/>
              <a:t>至下一个可用字母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93845" y="1144719"/>
            <a:ext cx="704103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2686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常用度判定标准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当两个汉字常用度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差别不大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时，按以下优先级判定：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可读性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&gt;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含义丰富度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&gt;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形声字声旁匹配度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&gt;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笔画数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&gt;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起笔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术语定义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b="1" dirty="0">
              <a:latin typeface="+mn-ea"/>
              <a:cs typeface="Times New Roman" panose="02020603050405020304" pitchFamily="18" charset="0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dirty="0"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dirty="0"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dirty="0"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0" defTabSz="914400"/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注意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：音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似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音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异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判断以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今音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为主，参考古音。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lvl="0" defTabSz="914400"/>
            <a:r>
              <a:rPr lang="zh-CN" altLang="en-US" sz="2000" dirty="0">
                <a:latin typeface="+mn-ea"/>
              </a:rPr>
              <a:t>          “宽音码”指的是音码去掉调码后的初韵码组合。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8649740"/>
              </p:ext>
            </p:extLst>
          </p:nvPr>
        </p:nvGraphicFramePr>
        <p:xfrm>
          <a:off x="1766454" y="2583179"/>
          <a:ext cx="8577696" cy="32067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8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8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术语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定义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solidFill>
                            <a:schemeClr val="bg1"/>
                          </a:solidFill>
                          <a:effectLst/>
                        </a:rPr>
                        <a:t>余</a:t>
                      </a:r>
                      <a:r>
                        <a:rPr lang="zh-CN" altLang="en-US" sz="2000" kern="100" dirty="0">
                          <a:solidFill>
                            <a:srgbClr val="FFFF00"/>
                          </a:solidFill>
                          <a:effectLst/>
                        </a:rPr>
                        <a:t>集合</a:t>
                      </a:r>
                      <a:endParaRPr lang="en-US" altLang="zh-CN" sz="2000" kern="100" dirty="0">
                        <a:solidFill>
                          <a:srgbClr val="FFFF00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2000" kern="100" dirty="0">
                          <a:solidFill>
                            <a:srgbClr val="FFFF00"/>
                          </a:solidFill>
                          <a:effectLst/>
                        </a:rPr>
                        <a:t>/</a:t>
                      </a:r>
                      <a:r>
                        <a:rPr lang="zh-CN" altLang="en-US" sz="2000" kern="100" dirty="0">
                          <a:solidFill>
                            <a:schemeClr val="bg1"/>
                          </a:solidFill>
                          <a:effectLst/>
                        </a:rPr>
                        <a:t>余</a:t>
                      </a:r>
                      <a:r>
                        <a:rPr lang="zh-CN" sz="2000" kern="100" dirty="0">
                          <a:solidFill>
                            <a:srgbClr val="FFFF00"/>
                          </a:solidFill>
                          <a:effectLst/>
                        </a:rPr>
                        <a:t>字</a:t>
                      </a:r>
                      <a:endParaRPr lang="zh-CN" sz="2000" kern="100" dirty="0">
                        <a:solidFill>
                          <a:srgbClr val="FFFF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汉字去除</a:t>
                      </a:r>
                      <a:r>
                        <a:rPr lang="zh-CN" altLang="en-US" sz="2000" kern="100" dirty="0">
                          <a:effectLst/>
                        </a:rPr>
                        <a:t>主</a:t>
                      </a:r>
                      <a:r>
                        <a:rPr lang="zh-CN" sz="2000" kern="100" dirty="0">
                          <a:effectLst/>
                        </a:rPr>
                        <a:t>码部首后</a:t>
                      </a:r>
                      <a:r>
                        <a:rPr lang="zh-CN" sz="20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剩余的</a:t>
                      </a:r>
                      <a:r>
                        <a:rPr lang="zh-CN" sz="2000" kern="100" dirty="0">
                          <a:effectLst/>
                        </a:rPr>
                        <a:t>部分</a:t>
                      </a:r>
                      <a:r>
                        <a:rPr lang="zh-CN" altLang="en-US" sz="2000" kern="100" dirty="0">
                          <a:effectLst/>
                        </a:rPr>
                        <a:t>，</a:t>
                      </a:r>
                      <a:endParaRPr lang="en-US" altLang="zh-CN" sz="20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zh-CN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如果“余集合”成字，则称“余字”</a:t>
                      </a:r>
                      <a:r>
                        <a:rPr lang="zh-CN" alt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solidFill>
                            <a:srgbClr val="FFFF00"/>
                          </a:solidFill>
                          <a:effectLst/>
                        </a:rPr>
                        <a:t>音</a:t>
                      </a:r>
                      <a:endParaRPr lang="zh-CN" sz="2000" kern="100" dirty="0">
                        <a:solidFill>
                          <a:srgbClr val="FFFF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effectLst/>
                        </a:rPr>
                        <a:t>字的</a:t>
                      </a:r>
                      <a:r>
                        <a:rPr lang="zh-CN" altLang="en-US" sz="2000" kern="100" dirty="0">
                          <a:effectLst/>
                        </a:rPr>
                        <a:t>初</a:t>
                      </a:r>
                      <a:r>
                        <a:rPr lang="zh-CN" sz="2000" kern="100" dirty="0">
                          <a:effectLst/>
                        </a:rPr>
                        <a:t>码（双拼声母）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solidFill>
                            <a:srgbClr val="FFFF00"/>
                          </a:solidFill>
                          <a:effectLst/>
                        </a:rPr>
                        <a:t>部</a:t>
                      </a:r>
                      <a:endParaRPr lang="zh-CN" sz="2000" kern="100" dirty="0">
                        <a:solidFill>
                          <a:srgbClr val="FFFF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余集合</a:t>
                      </a:r>
                      <a:r>
                        <a:rPr lang="zh-CN" sz="2000" kern="100" dirty="0">
                          <a:effectLst/>
                        </a:rPr>
                        <a:t>按</a:t>
                      </a:r>
                      <a:r>
                        <a:rPr lang="en-US" sz="2000" kern="100" dirty="0">
                          <a:effectLst/>
                        </a:rPr>
                        <a:t>“</a:t>
                      </a:r>
                      <a:r>
                        <a:rPr lang="zh-CN" altLang="en-US" sz="2000" kern="100" dirty="0">
                          <a:effectLst/>
                        </a:rPr>
                        <a:t>解书拆分</a:t>
                      </a:r>
                      <a:r>
                        <a:rPr lang="en-US" sz="2000" kern="100" dirty="0">
                          <a:effectLst/>
                        </a:rPr>
                        <a:t>"</a:t>
                      </a:r>
                      <a:r>
                        <a:rPr lang="zh-CN" sz="2000" kern="100" dirty="0">
                          <a:effectLst/>
                        </a:rPr>
                        <a:t>法进一步拆分的</a:t>
                      </a:r>
                      <a:r>
                        <a:rPr lang="zh-CN" sz="20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部件</a:t>
                      </a:r>
                      <a:endParaRPr lang="zh-CN" sz="20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07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音</a:t>
                      </a:r>
                      <a:r>
                        <a:rPr lang="zh-CN" altLang="en-US" sz="2000" kern="100" dirty="0">
                          <a:solidFill>
                            <a:srgbClr val="FFFF00"/>
                          </a:solidFill>
                          <a:effectLst/>
                        </a:rPr>
                        <a:t>似</a:t>
                      </a:r>
                      <a:r>
                        <a:rPr lang="en-US" sz="2000" kern="100" dirty="0">
                          <a:effectLst/>
                        </a:rPr>
                        <a:t>/</a:t>
                      </a:r>
                      <a:r>
                        <a:rPr lang="zh-CN" sz="2000" kern="100" dirty="0">
                          <a:effectLst/>
                        </a:rPr>
                        <a:t>音</a:t>
                      </a:r>
                      <a:r>
                        <a:rPr lang="zh-CN" altLang="en-US" sz="2000" kern="100" dirty="0">
                          <a:solidFill>
                            <a:srgbClr val="FFFF00"/>
                          </a:solidFill>
                          <a:effectLst/>
                        </a:rPr>
                        <a:t>异</a:t>
                      </a:r>
                      <a:endParaRPr lang="zh-CN" sz="2000" kern="100" dirty="0">
                        <a:solidFill>
                          <a:srgbClr val="FFFF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effectLst/>
                        </a:rPr>
                        <a:t>字与</a:t>
                      </a:r>
                      <a:r>
                        <a:rPr lang="zh-CN" altLang="en-US" sz="2000" kern="100" dirty="0">
                          <a:effectLst/>
                        </a:rPr>
                        <a:t>整</a:t>
                      </a:r>
                      <a:r>
                        <a:rPr lang="zh-CN" sz="2000" kern="100" dirty="0">
                          <a:effectLst/>
                        </a:rPr>
                        <a:t>字</a:t>
                      </a:r>
                      <a:r>
                        <a:rPr lang="zh-CN" altLang="en-US" sz="2000" kern="100" dirty="0">
                          <a:effectLst/>
                        </a:rPr>
                        <a:t>音</a:t>
                      </a:r>
                      <a:r>
                        <a:rPr lang="zh-CN" sz="2000" kern="100" dirty="0">
                          <a:effectLst/>
                        </a:rPr>
                        <a:t>码相似度：</a:t>
                      </a:r>
                      <a:endParaRPr lang="en-US" altLang="zh-CN" sz="20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宽音</a:t>
                      </a:r>
                      <a:r>
                        <a:rPr lang="zh-CN" sz="2000" kern="100" dirty="0">
                          <a:effectLst/>
                        </a:rPr>
                        <a:t>码高度相似（</a:t>
                      </a:r>
                      <a:r>
                        <a:rPr lang="zh-CN" altLang="en-US" sz="2000" kern="100" dirty="0">
                          <a:effectLst/>
                        </a:rPr>
                        <a:t>初</a:t>
                      </a:r>
                      <a:r>
                        <a:rPr lang="zh-CN" sz="2000" kern="100" dirty="0">
                          <a:effectLst/>
                        </a:rPr>
                        <a:t>码主导）为</a:t>
                      </a:r>
                      <a:r>
                        <a:rPr lang="en-US" altLang="zh-CN" sz="2000" kern="100" dirty="0">
                          <a:effectLst/>
                        </a:rPr>
                        <a:t>”</a:t>
                      </a:r>
                      <a:r>
                        <a:rPr lang="zh-CN" sz="2000" kern="100" dirty="0">
                          <a:effectLst/>
                        </a:rPr>
                        <a:t>音</a:t>
                      </a:r>
                      <a:r>
                        <a:rPr lang="zh-CN" altLang="en-US" sz="2000" kern="100" dirty="0">
                          <a:effectLst/>
                        </a:rPr>
                        <a:t>似</a:t>
                      </a:r>
                      <a:r>
                        <a:rPr lang="en-US" altLang="zh-CN" sz="2000" kern="100" dirty="0">
                          <a:effectLst/>
                        </a:rPr>
                        <a:t>”</a:t>
                      </a:r>
                      <a:r>
                        <a:rPr lang="zh-CN" altLang="en-US" sz="2000" kern="100" dirty="0">
                          <a:effectLst/>
                        </a:rPr>
                        <a:t>，</a:t>
                      </a:r>
                      <a:r>
                        <a:rPr lang="zh-CN" sz="2000" kern="100" dirty="0">
                          <a:effectLst/>
                        </a:rPr>
                        <a:t>否则为</a:t>
                      </a:r>
                      <a:r>
                        <a:rPr lang="en-US" altLang="zh-CN" sz="2000" kern="100" dirty="0">
                          <a:effectLst/>
                        </a:rPr>
                        <a:t>”</a:t>
                      </a:r>
                      <a:r>
                        <a:rPr lang="zh-CN" altLang="en-US" sz="2000" kern="100" dirty="0">
                          <a:effectLst/>
                        </a:rPr>
                        <a:t>音异</a:t>
                      </a:r>
                      <a:r>
                        <a:rPr lang="en-US" altLang="zh-CN" sz="2000" kern="100" dirty="0">
                          <a:effectLst/>
                        </a:rPr>
                        <a:t>”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8208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四、副码编码规则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55964" y="1231686"/>
            <a:ext cx="994374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indent="0" defTabSz="914400"/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副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码选择优先级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lvl="0" indent="0" defTabSz="914400"/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副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码的选择遵循严格的优先级顺序：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0" defTabSz="914400"/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空</a:t>
            </a:r>
            <a:r>
              <a:rPr lang="zh-CN" altLang="en-US" sz="2400" b="1" dirty="0">
                <a:solidFill>
                  <a:srgbClr val="EE0000"/>
                </a:solidFill>
                <a:latin typeface="+mn-ea"/>
                <a:cs typeface="Times New Roman" panose="02020603050405020304" pitchFamily="18" charset="0"/>
              </a:rPr>
              <a:t>副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码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&gt;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部</a:t>
            </a:r>
            <a:r>
              <a:rPr lang="zh-CN" altLang="en-US" sz="2400" b="1" dirty="0">
                <a:solidFill>
                  <a:srgbClr val="EE0000"/>
                </a:solidFill>
                <a:latin typeface="+mn-ea"/>
                <a:cs typeface="Times New Roman" panose="02020603050405020304" pitchFamily="18" charset="0"/>
              </a:rPr>
              <a:t>首别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码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solidFill>
                  <a:srgbClr val="EE0000"/>
                </a:solidFill>
                <a:latin typeface="+mn-ea"/>
                <a:cs typeface="Times New Roman" panose="02020603050405020304" pitchFamily="18" charset="0"/>
              </a:rPr>
              <a:t>余字解析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码（</a:t>
            </a:r>
            <a:r>
              <a:rPr lang="zh-CN" altLang="en-US" sz="2400" b="1" dirty="0">
                <a:solidFill>
                  <a:srgbClr val="EE0000"/>
                </a:solidFill>
                <a:latin typeface="+mn-ea"/>
                <a:cs typeface="Times New Roman" panose="02020603050405020304" pitchFamily="18" charset="0"/>
              </a:rPr>
              <a:t>余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音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solidFill>
                  <a:srgbClr val="EE0000"/>
                </a:solidFill>
                <a:latin typeface="+mn-ea"/>
                <a:cs typeface="Times New Roman" panose="02020603050405020304" pitchFamily="18" charset="0"/>
              </a:rPr>
              <a:t>余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部）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&gt; e &gt; ; &gt;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其余字母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1 </a:t>
            </a:r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部首别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码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0" defTabSz="914400"/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条件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：余集合本身是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《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部首表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》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中的独立部首，且其部首码与其初码（余音）不同。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lvl="0" defTabSz="914400"/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            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则其部首码亦称为部首别码。反之若部首码与初码相同，则称为无部首别码。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lvl="0" defTabSz="914400"/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            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对于有部首别码的部首，称为“别码部首”，需要着重记忆。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lvl="0" defTabSz="914400"/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例外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：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          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1.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非部首字（如夫→矢）不在部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首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表中，无部首别码。</a:t>
            </a: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         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2.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部首变体（如龶→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青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）视作有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部首别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码。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2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余字解析码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   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当无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部首别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码时，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按以下逻辑选择：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062350"/>
              </p:ext>
            </p:extLst>
          </p:nvPr>
        </p:nvGraphicFramePr>
        <p:xfrm>
          <a:off x="3403023" y="4525936"/>
          <a:ext cx="7143750" cy="2200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3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0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情况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处理方式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7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余集合</a:t>
                      </a:r>
                      <a:r>
                        <a:rPr lang="zh-CN" sz="2000" kern="100" dirty="0">
                          <a:effectLst/>
                        </a:rPr>
                        <a:t>音</a:t>
                      </a:r>
                      <a:r>
                        <a:rPr lang="zh-CN" altLang="en-US" sz="2000" kern="100" dirty="0">
                          <a:effectLst/>
                        </a:rPr>
                        <a:t>似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或</a:t>
                      </a:r>
                      <a:r>
                        <a:rPr lang="zh-CN" sz="2000" kern="100" dirty="0">
                          <a:effectLst/>
                        </a:rPr>
                        <a:t>难读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优先取</a:t>
                      </a: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solidFill>
                            <a:srgbClr val="00B050"/>
                          </a:solidFill>
                          <a:effectLst/>
                        </a:rPr>
                        <a:t>部</a:t>
                      </a:r>
                      <a:r>
                        <a:rPr lang="zh-CN" alt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，可采用余部首传递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7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effectLst/>
                        </a:rPr>
                        <a:t>字音</a:t>
                      </a:r>
                      <a:r>
                        <a:rPr lang="zh-CN" altLang="zh-CN" sz="2000" kern="100" dirty="0">
                          <a:effectLst/>
                        </a:rPr>
                        <a:t>异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且</a:t>
                      </a:r>
                      <a:r>
                        <a:rPr lang="zh-CN" sz="2000" kern="100" dirty="0">
                          <a:effectLst/>
                        </a:rPr>
                        <a:t>易读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优先取</a:t>
                      </a: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solidFill>
                            <a:srgbClr val="00B050"/>
                          </a:solidFill>
                          <a:effectLst/>
                        </a:rPr>
                        <a:t>音</a:t>
                      </a:r>
                      <a:endParaRPr lang="zh-CN" sz="2000" kern="100" dirty="0">
                        <a:solidFill>
                          <a:srgbClr val="00B05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独</a:t>
                      </a:r>
                      <a:r>
                        <a:rPr lang="zh-CN" sz="2000" kern="100" dirty="0">
                          <a:effectLst/>
                        </a:rPr>
                        <a:t>体字作</a:t>
                      </a: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effectLst/>
                        </a:rPr>
                        <a:t>字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若无</a:t>
                      </a:r>
                      <a:r>
                        <a:rPr lang="en-US" sz="2000" kern="100" dirty="0">
                          <a:effectLst/>
                        </a:rPr>
                        <a:t>“</a:t>
                      </a:r>
                      <a:r>
                        <a:rPr lang="zh-CN" sz="2000" kern="100" dirty="0">
                          <a:effectLst/>
                        </a:rPr>
                        <a:t>亠丷</a:t>
                      </a:r>
                      <a:r>
                        <a:rPr lang="en-US" sz="2000" kern="100" dirty="0">
                          <a:effectLst/>
                        </a:rPr>
                        <a:t>“</a:t>
                      </a:r>
                      <a:r>
                        <a:rPr lang="zh-CN" altLang="en-US" sz="2000" kern="100" dirty="0">
                          <a:effectLst/>
                        </a:rPr>
                        <a:t>等</a:t>
                      </a:r>
                      <a:r>
                        <a:rPr lang="zh-CN" sz="2000" kern="100" dirty="0">
                          <a:effectLst/>
                        </a:rPr>
                        <a:t>部件，则视作</a:t>
                      </a:r>
                      <a:r>
                        <a:rPr lang="zh-CN" sz="2000" kern="100" dirty="0">
                          <a:solidFill>
                            <a:srgbClr val="00B050"/>
                          </a:solidFill>
                          <a:effectLst/>
                        </a:rPr>
                        <a:t>仅有</a:t>
                      </a:r>
                      <a:r>
                        <a:rPr lang="zh-CN" alt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余</a:t>
                      </a:r>
                      <a:r>
                        <a:rPr lang="zh-CN" sz="2000" kern="100" dirty="0">
                          <a:solidFill>
                            <a:schemeClr val="tx1"/>
                          </a:solidFill>
                          <a:effectLst/>
                        </a:rPr>
                        <a:t>音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四、副码编码规则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四、副码编码规则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14763" y="1191208"/>
            <a:ext cx="813556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递归嵌套规则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br>
              <a:rPr lang="en-US" altLang="zh-CN" sz="2000" dirty="0"/>
            </a:br>
            <a:r>
              <a:rPr lang="zh-CN" altLang="zh-CN" sz="2000" dirty="0"/>
              <a:t>当</a:t>
            </a:r>
            <a:r>
              <a:rPr lang="zh-CN" altLang="en-US" sz="2000" dirty="0"/>
              <a:t>余集合</a:t>
            </a:r>
            <a:r>
              <a:rPr lang="zh-CN" altLang="zh-CN" sz="2000" dirty="0"/>
              <a:t>内部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仍可拆分</a:t>
            </a:r>
            <a:r>
              <a:rPr lang="zh-CN" altLang="zh-CN" sz="2000" dirty="0"/>
              <a:t>时，允许递归嵌套：</a:t>
            </a:r>
          </a:p>
          <a:p>
            <a:pPr lvl="0"/>
            <a:r>
              <a:rPr lang="en-US" altLang="zh-CN" sz="2000" dirty="0"/>
              <a:t>“</a:t>
            </a:r>
            <a:r>
              <a:rPr lang="zh-CN" altLang="zh-CN" sz="2000" dirty="0"/>
              <a:t>音</a:t>
            </a:r>
            <a:r>
              <a:rPr lang="en-US" altLang="zh-CN" sz="2000" dirty="0"/>
              <a:t>”</a:t>
            </a:r>
            <a:r>
              <a:rPr lang="zh-CN" altLang="zh-CN" sz="2000" dirty="0"/>
              <a:t>作为</a:t>
            </a:r>
            <a:r>
              <a:rPr lang="zh-CN" altLang="en-US" sz="2000" dirty="0"/>
              <a:t>余</a:t>
            </a:r>
            <a:r>
              <a:rPr lang="zh-CN" altLang="zh-CN" sz="2000" dirty="0"/>
              <a:t>字</a:t>
            </a:r>
            <a:r>
              <a:rPr lang="en-US" altLang="zh-CN" sz="2000" dirty="0"/>
              <a:t> → </a:t>
            </a:r>
            <a:r>
              <a:rPr lang="zh-CN" altLang="en-US" sz="2000" dirty="0"/>
              <a:t>余</a:t>
            </a:r>
            <a:r>
              <a:rPr lang="zh-CN" altLang="zh-CN" sz="2000" dirty="0"/>
              <a:t>部</a:t>
            </a:r>
            <a:r>
              <a:rPr lang="en-US" altLang="zh-CN" sz="2000" dirty="0"/>
              <a:t>“</a:t>
            </a:r>
            <a:r>
              <a:rPr lang="zh-CN" altLang="zh-CN" sz="2000" dirty="0"/>
              <a:t>立</a:t>
            </a:r>
            <a:r>
              <a:rPr lang="en-US" altLang="zh-CN" sz="2000" dirty="0"/>
              <a:t>” → “</a:t>
            </a:r>
            <a:r>
              <a:rPr lang="zh-CN" altLang="zh-CN" sz="2000" dirty="0"/>
              <a:t>立</a:t>
            </a:r>
            <a:r>
              <a:rPr lang="en-US" altLang="zh-CN" sz="2000" dirty="0"/>
              <a:t>”</a:t>
            </a:r>
            <a:r>
              <a:rPr lang="zh-CN" altLang="zh-CN" sz="2000" dirty="0"/>
              <a:t>作为新</a:t>
            </a:r>
            <a:r>
              <a:rPr lang="zh-CN" altLang="en-US" sz="2000" dirty="0"/>
              <a:t>余</a:t>
            </a:r>
            <a:r>
              <a:rPr lang="zh-CN" altLang="zh-CN" sz="2000" dirty="0"/>
              <a:t>字</a:t>
            </a:r>
            <a:r>
              <a:rPr lang="en-US" altLang="zh-CN" sz="2000" dirty="0"/>
              <a:t> → </a:t>
            </a:r>
            <a:r>
              <a:rPr lang="zh-CN" altLang="en-US" sz="2000" dirty="0"/>
              <a:t>余</a:t>
            </a:r>
            <a:r>
              <a:rPr lang="zh-CN" altLang="zh-CN" sz="2000" dirty="0"/>
              <a:t>部</a:t>
            </a:r>
            <a:r>
              <a:rPr lang="en-US" altLang="zh-CN" sz="2000" dirty="0"/>
              <a:t>“</a:t>
            </a:r>
            <a:r>
              <a:rPr lang="zh-CN" altLang="zh-CN" sz="2000" dirty="0"/>
              <a:t>亠</a:t>
            </a:r>
            <a:r>
              <a:rPr lang="en-US" altLang="zh-CN" sz="2000" dirty="0"/>
              <a:t>”</a:t>
            </a:r>
            <a:r>
              <a:rPr lang="zh-CN" altLang="zh-CN" sz="2000" dirty="0"/>
              <a:t>，</a:t>
            </a:r>
            <a:r>
              <a:rPr lang="zh-CN" altLang="en-US" sz="2000" dirty="0"/>
              <a:t>余</a:t>
            </a:r>
            <a:r>
              <a:rPr lang="zh-CN" altLang="zh-CN" sz="2000" dirty="0"/>
              <a:t>音</a:t>
            </a:r>
            <a:r>
              <a:rPr lang="en-US" altLang="zh-CN" sz="2000" dirty="0"/>
              <a:t>l</a:t>
            </a:r>
            <a:endParaRPr lang="zh-CN" altLang="zh-CN" sz="2000" dirty="0"/>
          </a:p>
          <a:p>
            <a:pPr lvl="0"/>
            <a:r>
              <a:rPr lang="en-US" altLang="zh-CN" sz="2000" dirty="0"/>
              <a:t>“</a:t>
            </a:r>
            <a:r>
              <a:rPr lang="zh-CN" altLang="zh-CN" sz="2000" dirty="0"/>
              <a:t>多</a:t>
            </a:r>
            <a:r>
              <a:rPr lang="en-US" altLang="zh-CN" sz="2000" dirty="0"/>
              <a:t>”</a:t>
            </a:r>
            <a:r>
              <a:rPr lang="zh-CN" altLang="zh-CN" sz="2000" dirty="0"/>
              <a:t>作为</a:t>
            </a:r>
            <a:r>
              <a:rPr lang="zh-CN" altLang="en-US" sz="2000" dirty="0"/>
              <a:t>余</a:t>
            </a:r>
            <a:r>
              <a:rPr lang="zh-CN" altLang="zh-CN" sz="2000" dirty="0"/>
              <a:t>字</a:t>
            </a:r>
            <a:r>
              <a:rPr lang="en-US" altLang="zh-CN" sz="2000" dirty="0"/>
              <a:t> → </a:t>
            </a:r>
            <a:r>
              <a:rPr lang="zh-CN" altLang="en-US" sz="2000" dirty="0"/>
              <a:t>余</a:t>
            </a:r>
            <a:r>
              <a:rPr lang="zh-CN" altLang="zh-CN" sz="2000" dirty="0"/>
              <a:t>部</a:t>
            </a:r>
            <a:r>
              <a:rPr lang="en-US" altLang="zh-CN" sz="2000" dirty="0"/>
              <a:t>“</a:t>
            </a:r>
            <a:r>
              <a:rPr lang="zh-CN" altLang="zh-CN" sz="2000" dirty="0"/>
              <a:t>夕</a:t>
            </a:r>
            <a:r>
              <a:rPr lang="en-US" altLang="zh-CN" sz="2000" dirty="0"/>
              <a:t>” → “</a:t>
            </a:r>
            <a:r>
              <a:rPr lang="zh-CN" altLang="zh-CN" sz="2000" dirty="0"/>
              <a:t>夕</a:t>
            </a:r>
            <a:r>
              <a:rPr lang="en-US" altLang="zh-CN" sz="2000" dirty="0"/>
              <a:t>”</a:t>
            </a:r>
            <a:r>
              <a:rPr lang="zh-CN" altLang="zh-CN" sz="2000" dirty="0"/>
              <a:t>作为新</a:t>
            </a:r>
            <a:r>
              <a:rPr lang="zh-CN" altLang="en-US" sz="2000" dirty="0"/>
              <a:t>余</a:t>
            </a:r>
            <a:r>
              <a:rPr lang="zh-CN" altLang="zh-CN" sz="2000" dirty="0"/>
              <a:t>字</a:t>
            </a:r>
            <a:r>
              <a:rPr lang="en-US" altLang="zh-CN" sz="2000" dirty="0"/>
              <a:t> → </a:t>
            </a:r>
            <a:r>
              <a:rPr lang="zh-CN" altLang="en-US" sz="2000" dirty="0"/>
              <a:t>部首别</a:t>
            </a:r>
            <a:r>
              <a:rPr lang="zh-CN" altLang="zh-CN" sz="2000" dirty="0"/>
              <a:t>码</a:t>
            </a:r>
            <a:r>
              <a:rPr lang="en-US" altLang="zh-CN" sz="2000" dirty="0"/>
              <a:t>t</a:t>
            </a:r>
            <a:r>
              <a:rPr lang="zh-CN" altLang="zh-CN" sz="2000" dirty="0"/>
              <a:t>，</a:t>
            </a:r>
            <a:r>
              <a:rPr lang="zh-CN" altLang="en-US" sz="2000" dirty="0"/>
              <a:t>余</a:t>
            </a:r>
            <a:r>
              <a:rPr lang="zh-CN" altLang="zh-CN" sz="2000" dirty="0"/>
              <a:t>音</a:t>
            </a:r>
            <a:r>
              <a:rPr lang="en-US" altLang="zh-CN" sz="2000" dirty="0"/>
              <a:t>x</a:t>
            </a:r>
            <a:endParaRPr lang="zh-CN" altLang="zh-CN" sz="2000" dirty="0"/>
          </a:p>
          <a:p>
            <a:r>
              <a:rPr lang="en-US" altLang="zh-CN" sz="2000" dirty="0"/>
              <a:t> </a:t>
            </a:r>
            <a:endParaRPr lang="zh-CN" altLang="zh-CN" sz="2000" dirty="0"/>
          </a:p>
          <a:p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余部首传递规则</a:t>
            </a:r>
          </a:p>
          <a:p>
            <a:r>
              <a:rPr lang="en-US" altLang="zh-CN" sz="2000" dirty="0"/>
              <a:t>1 </a:t>
            </a:r>
            <a:r>
              <a:rPr lang="zh-CN" altLang="en-US" sz="2000" b="1" dirty="0"/>
              <a:t>基本传递</a:t>
            </a:r>
          </a:p>
          <a:p>
            <a:r>
              <a:rPr lang="zh-CN" altLang="en-US" sz="2000" dirty="0"/>
              <a:t>取余部时，如果余集合成字，则通常优先取余字的部首作为副码来源。</a:t>
            </a:r>
            <a:endParaRPr lang="en-US" altLang="zh-CN" sz="2000" dirty="0"/>
          </a:p>
          <a:p>
            <a:r>
              <a:rPr lang="zh-CN" altLang="en-US" sz="2000" dirty="0"/>
              <a:t>若部首不在部首表中，可取部首余音。</a:t>
            </a:r>
          </a:p>
          <a:p>
            <a:r>
              <a:rPr lang="zh-CN" altLang="en-US" sz="2000" dirty="0"/>
              <a:t>示例：</a:t>
            </a:r>
          </a:p>
          <a:p>
            <a:r>
              <a:rPr lang="en-US" altLang="zh-CN" sz="2000" dirty="0"/>
              <a:t>•	"</a:t>
            </a:r>
            <a:r>
              <a:rPr lang="zh-CN" altLang="en-US" sz="2000" dirty="0"/>
              <a:t>溢</a:t>
            </a:r>
            <a:r>
              <a:rPr lang="en-US" altLang="zh-CN" sz="2000" dirty="0"/>
              <a:t>"</a:t>
            </a:r>
            <a:r>
              <a:rPr lang="zh-CN" altLang="en-US" sz="2000" dirty="0"/>
              <a:t>：部首</a:t>
            </a:r>
            <a:r>
              <a:rPr lang="en-US" altLang="zh-CN" sz="2000" dirty="0"/>
              <a:t>"</a:t>
            </a:r>
            <a:r>
              <a:rPr lang="zh-CN" altLang="en-US" sz="2000" dirty="0"/>
              <a:t>氵</a:t>
            </a:r>
            <a:r>
              <a:rPr lang="en-US" altLang="zh-CN" sz="2000" dirty="0"/>
              <a:t>"</a:t>
            </a:r>
            <a:r>
              <a:rPr lang="zh-CN" altLang="en-US" sz="2000" dirty="0"/>
              <a:t>（水）→ 主码</a:t>
            </a:r>
            <a:r>
              <a:rPr lang="en-US" altLang="zh-CN" sz="2000" dirty="0"/>
              <a:t>u</a:t>
            </a:r>
            <a:r>
              <a:rPr lang="zh-CN" altLang="en-US" sz="2000" dirty="0"/>
              <a:t>，副字</a:t>
            </a:r>
            <a:r>
              <a:rPr lang="en-US" altLang="zh-CN" sz="2000" dirty="0"/>
              <a:t>"</a:t>
            </a:r>
            <a:r>
              <a:rPr lang="zh-CN" altLang="en-US" sz="2000" dirty="0"/>
              <a:t>益</a:t>
            </a:r>
            <a:r>
              <a:rPr lang="en-US" altLang="zh-CN" sz="2000" dirty="0"/>
              <a:t>"</a:t>
            </a:r>
            <a:r>
              <a:rPr lang="zh-CN" altLang="en-US" sz="2000" dirty="0"/>
              <a:t>为合体字，主码为</a:t>
            </a:r>
            <a:r>
              <a:rPr lang="en-US" altLang="zh-CN" sz="2000" dirty="0"/>
              <a:t>m</a:t>
            </a:r>
          </a:p>
          <a:p>
            <a:r>
              <a:rPr lang="en-US" altLang="zh-CN" sz="2000" dirty="0"/>
              <a:t>•	"</a:t>
            </a:r>
            <a:r>
              <a:rPr lang="zh-CN" altLang="en-US" sz="2000" dirty="0"/>
              <a:t>溢</a:t>
            </a:r>
            <a:r>
              <a:rPr lang="en-US" altLang="zh-CN" sz="2000" dirty="0"/>
              <a:t>"</a:t>
            </a:r>
            <a:r>
              <a:rPr lang="zh-CN" altLang="en-US" sz="2000" dirty="0"/>
              <a:t>的副码取</a:t>
            </a:r>
            <a:r>
              <a:rPr lang="en-US" altLang="zh-CN" sz="2000" dirty="0"/>
              <a:t>m</a:t>
            </a:r>
            <a:r>
              <a:rPr lang="zh-CN" altLang="en-US" sz="2000" dirty="0"/>
              <a:t>（</a:t>
            </a:r>
            <a:r>
              <a:rPr lang="en-US" altLang="zh-CN" sz="2000" dirty="0"/>
              <a:t>"</a:t>
            </a:r>
            <a:r>
              <a:rPr lang="zh-CN" altLang="en-US" sz="2000" dirty="0"/>
              <a:t>益</a:t>
            </a:r>
            <a:r>
              <a:rPr lang="en-US" altLang="zh-CN" sz="2000" dirty="0"/>
              <a:t>"</a:t>
            </a:r>
            <a:r>
              <a:rPr lang="zh-CN" altLang="en-US" sz="2000" dirty="0"/>
              <a:t>的主码）</a:t>
            </a:r>
          </a:p>
          <a:p>
            <a:r>
              <a:rPr lang="en-US" altLang="zh-CN" sz="2000" dirty="0"/>
              <a:t>2 </a:t>
            </a:r>
            <a:r>
              <a:rPr lang="zh-CN" altLang="en-US" sz="2000" b="1" dirty="0"/>
              <a:t>结构特殊规则</a:t>
            </a:r>
          </a:p>
          <a:p>
            <a:r>
              <a:rPr lang="zh-CN" altLang="en-US" sz="2000" dirty="0"/>
              <a:t>在上下（左右）结构的字中，若满足以下条件：</a:t>
            </a:r>
          </a:p>
          <a:p>
            <a:r>
              <a:rPr lang="en-US" altLang="zh-CN" sz="2000" dirty="0"/>
              <a:t>1.	</a:t>
            </a:r>
            <a:r>
              <a:rPr lang="zh-CN" altLang="en-US" sz="2000" dirty="0"/>
              <a:t>下（右）部为部首</a:t>
            </a:r>
          </a:p>
          <a:p>
            <a:r>
              <a:rPr lang="en-US" altLang="zh-CN" sz="2000" dirty="0"/>
              <a:t>2.	</a:t>
            </a:r>
            <a:r>
              <a:rPr lang="zh-CN" altLang="en-US" sz="2000" dirty="0"/>
              <a:t>上（左）部为音似余字</a:t>
            </a:r>
          </a:p>
          <a:p>
            <a:r>
              <a:rPr lang="en-US" altLang="zh-CN" sz="2000" dirty="0"/>
              <a:t>3.	</a:t>
            </a:r>
            <a:r>
              <a:rPr lang="zh-CN" altLang="en-US" sz="2000" dirty="0"/>
              <a:t>余字为上下（左右）结构，下（右）部为部首</a:t>
            </a:r>
          </a:p>
          <a:p>
            <a:r>
              <a:rPr lang="zh-CN" altLang="en-US" sz="2000" dirty="0"/>
              <a:t>则取</a:t>
            </a:r>
            <a:r>
              <a:rPr lang="zh-CN" altLang="en-US" sz="2000" b="1" dirty="0"/>
              <a:t>余字上（左）部</a:t>
            </a:r>
            <a:r>
              <a:rPr lang="zh-CN" altLang="en-US" sz="2000" dirty="0"/>
              <a:t>作为副码，避免</a:t>
            </a:r>
            <a:r>
              <a:rPr lang="en-US" altLang="zh-CN" sz="2000" dirty="0"/>
              <a:t>"</a:t>
            </a:r>
            <a:r>
              <a:rPr lang="zh-CN" altLang="en-US" sz="2000" dirty="0"/>
              <a:t>抛外取内</a:t>
            </a:r>
            <a:r>
              <a:rPr lang="en-US" altLang="zh-CN" sz="2000" dirty="0"/>
              <a:t>"</a:t>
            </a:r>
            <a:r>
              <a:rPr lang="zh-CN" altLang="en-US" sz="2000" dirty="0"/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599153" y="1500991"/>
            <a:ext cx="3425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b="1" dirty="0"/>
              <a:t>综合示例</a:t>
            </a:r>
            <a:r>
              <a:rPr lang="zh-CN" altLang="zh-CN" sz="2000" dirty="0"/>
              <a:t>：</a:t>
            </a:r>
            <a:r>
              <a:rPr lang="en-US" altLang="zh-CN" sz="2000" dirty="0"/>
              <a:t>"</a:t>
            </a:r>
            <a:r>
              <a:rPr lang="zh-CN" altLang="zh-CN" sz="2000" dirty="0"/>
              <a:t>意</a:t>
            </a:r>
            <a:r>
              <a:rPr lang="en-US" altLang="zh-CN" sz="2000" dirty="0"/>
              <a:t>"</a:t>
            </a:r>
            <a:r>
              <a:rPr lang="zh-CN" altLang="zh-CN" sz="2000" dirty="0"/>
              <a:t>字的编码分析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727683" y="2613392"/>
            <a:ext cx="342593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部首分析：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在康熙字典中为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音部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画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部首不能取自己，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拆为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"+"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日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是简并部首（立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亠）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日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是正宗部首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简并部首跳过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原则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取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日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为部首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8779088" y="1880952"/>
            <a:ext cx="554812" cy="588415"/>
          </a:xfrm>
          <a:custGeom>
            <a:avLst/>
            <a:gdLst>
              <a:gd name="csX0" fmla="*/ 262661 w 554812"/>
              <a:gd name="csY0" fmla="*/ 431368 h 588415"/>
              <a:gd name="csX1" fmla="*/ 307238 w 554812"/>
              <a:gd name="csY1" fmla="*/ 442341 h 588415"/>
              <a:gd name="csX2" fmla="*/ 326441 w 554812"/>
              <a:gd name="csY2" fmla="*/ 474573 h 588415"/>
              <a:gd name="csX3" fmla="*/ 311696 w 554812"/>
              <a:gd name="csY3" fmla="*/ 490347 h 588415"/>
              <a:gd name="csX4" fmla="*/ 274320 w 554812"/>
              <a:gd name="csY4" fmla="*/ 467030 h 588415"/>
              <a:gd name="csX5" fmla="*/ 251688 w 554812"/>
              <a:gd name="csY5" fmla="*/ 437540 h 588415"/>
              <a:gd name="csX6" fmla="*/ 262661 w 554812"/>
              <a:gd name="csY6" fmla="*/ 431368 h 588415"/>
              <a:gd name="csX7" fmla="*/ 157734 w 554812"/>
              <a:gd name="csY7" fmla="*/ 425195 h 588415"/>
              <a:gd name="csX8" fmla="*/ 167678 w 554812"/>
              <a:gd name="csY8" fmla="*/ 431024 h 588415"/>
              <a:gd name="csX9" fmla="*/ 175565 w 554812"/>
              <a:gd name="csY9" fmla="*/ 443711 h 588415"/>
              <a:gd name="csX10" fmla="*/ 222885 w 554812"/>
              <a:gd name="csY10" fmla="*/ 520178 h 588415"/>
              <a:gd name="csX11" fmla="*/ 324383 w 554812"/>
              <a:gd name="csY11" fmla="*/ 548639 h 588415"/>
              <a:gd name="csX12" fmla="*/ 379590 w 554812"/>
              <a:gd name="csY12" fmla="*/ 543152 h 588415"/>
              <a:gd name="csX13" fmla="*/ 409422 w 554812"/>
              <a:gd name="csY13" fmla="*/ 528751 h 588415"/>
              <a:gd name="csX14" fmla="*/ 385419 w 554812"/>
              <a:gd name="csY14" fmla="*/ 476630 h 588415"/>
              <a:gd name="csX15" fmla="*/ 382676 w 554812"/>
              <a:gd name="csY15" fmla="*/ 468743 h 588415"/>
              <a:gd name="csX16" fmla="*/ 385419 w 554812"/>
              <a:gd name="csY16" fmla="*/ 465657 h 588415"/>
              <a:gd name="csX17" fmla="*/ 394335 w 554812"/>
              <a:gd name="csY17" fmla="*/ 470458 h 588415"/>
              <a:gd name="csX18" fmla="*/ 478688 w 554812"/>
              <a:gd name="csY18" fmla="*/ 534237 h 588415"/>
              <a:gd name="csX19" fmla="*/ 484860 w 554812"/>
              <a:gd name="csY19" fmla="*/ 544524 h 588415"/>
              <a:gd name="csX20" fmla="*/ 441998 w 554812"/>
              <a:gd name="csY20" fmla="*/ 574356 h 588415"/>
              <a:gd name="csX21" fmla="*/ 351815 w 554812"/>
              <a:gd name="csY21" fmla="*/ 588415 h 588415"/>
              <a:gd name="csX22" fmla="*/ 241401 w 554812"/>
              <a:gd name="csY22" fmla="*/ 566812 h 588415"/>
              <a:gd name="csX23" fmla="*/ 173507 w 554812"/>
              <a:gd name="csY23" fmla="*/ 499947 h 588415"/>
              <a:gd name="csX24" fmla="*/ 153619 w 554812"/>
              <a:gd name="csY24" fmla="*/ 434110 h 588415"/>
              <a:gd name="csX25" fmla="*/ 157734 w 554812"/>
              <a:gd name="csY25" fmla="*/ 425195 h 588415"/>
              <a:gd name="csX26" fmla="*/ 106985 w 554812"/>
              <a:gd name="csY26" fmla="*/ 421766 h 588415"/>
              <a:gd name="csX27" fmla="*/ 115900 w 554812"/>
              <a:gd name="csY27" fmla="*/ 438568 h 588415"/>
              <a:gd name="csX28" fmla="*/ 119329 w 554812"/>
              <a:gd name="csY28" fmla="*/ 465657 h 588415"/>
              <a:gd name="csX29" fmla="*/ 105956 w 554812"/>
              <a:gd name="csY29" fmla="*/ 529436 h 588415"/>
              <a:gd name="csX30" fmla="*/ 86068 w 554812"/>
              <a:gd name="csY30" fmla="*/ 558240 h 588415"/>
              <a:gd name="csX31" fmla="*/ 71666 w 554812"/>
              <a:gd name="csY31" fmla="*/ 544181 h 588415"/>
              <a:gd name="csX32" fmla="*/ 63779 w 554812"/>
              <a:gd name="csY32" fmla="*/ 519835 h 588415"/>
              <a:gd name="csX33" fmla="*/ 76124 w 554812"/>
              <a:gd name="csY33" fmla="*/ 486574 h 588415"/>
              <a:gd name="csX34" fmla="*/ 98755 w 554812"/>
              <a:gd name="csY34" fmla="*/ 431367 h 588415"/>
              <a:gd name="csX35" fmla="*/ 106985 w 554812"/>
              <a:gd name="csY35" fmla="*/ 421766 h 588415"/>
              <a:gd name="csX36" fmla="*/ 425195 w 554812"/>
              <a:gd name="csY36" fmla="*/ 395705 h 588415"/>
              <a:gd name="csX37" fmla="*/ 504062 w 554812"/>
              <a:gd name="csY37" fmla="*/ 410450 h 588415"/>
              <a:gd name="csX38" fmla="*/ 533551 w 554812"/>
              <a:gd name="csY38" fmla="*/ 453998 h 588415"/>
              <a:gd name="csX39" fmla="*/ 520521 w 554812"/>
              <a:gd name="csY39" fmla="*/ 471829 h 588415"/>
              <a:gd name="csX40" fmla="*/ 481773 w 554812"/>
              <a:gd name="csY40" fmla="*/ 454684 h 588415"/>
              <a:gd name="csX41" fmla="*/ 430681 w 554812"/>
              <a:gd name="csY41" fmla="*/ 422109 h 588415"/>
              <a:gd name="csX42" fmla="*/ 405307 w 554812"/>
              <a:gd name="csY42" fmla="*/ 401192 h 588415"/>
              <a:gd name="csX43" fmla="*/ 425195 w 554812"/>
              <a:gd name="csY43" fmla="*/ 395705 h 588415"/>
              <a:gd name="csX44" fmla="*/ 338100 w 554812"/>
              <a:gd name="csY44" fmla="*/ 266089 h 588415"/>
              <a:gd name="csX45" fmla="*/ 267120 w 554812"/>
              <a:gd name="csY45" fmla="*/ 274319 h 588415"/>
              <a:gd name="csX46" fmla="*/ 165964 w 554812"/>
              <a:gd name="csY46" fmla="*/ 287349 h 588415"/>
              <a:gd name="csX47" fmla="*/ 178995 w 554812"/>
              <a:gd name="csY47" fmla="*/ 331926 h 588415"/>
              <a:gd name="csX48" fmla="*/ 297981 w 554812"/>
              <a:gd name="csY48" fmla="*/ 305866 h 588415"/>
              <a:gd name="csX49" fmla="*/ 321641 w 554812"/>
              <a:gd name="csY49" fmla="*/ 309980 h 588415"/>
              <a:gd name="csX50" fmla="*/ 330556 w 554812"/>
              <a:gd name="csY50" fmla="*/ 318553 h 588415"/>
              <a:gd name="csX51" fmla="*/ 323356 w 554812"/>
              <a:gd name="csY51" fmla="*/ 326440 h 588415"/>
              <a:gd name="csX52" fmla="*/ 266777 w 554812"/>
              <a:gd name="csY52" fmla="*/ 336727 h 588415"/>
              <a:gd name="csX53" fmla="*/ 181738 w 554812"/>
              <a:gd name="csY53" fmla="*/ 344270 h 588415"/>
              <a:gd name="csX54" fmla="*/ 193396 w 554812"/>
              <a:gd name="csY54" fmla="*/ 395705 h 588415"/>
              <a:gd name="csX55" fmla="*/ 309297 w 554812"/>
              <a:gd name="csY55" fmla="*/ 372388 h 588415"/>
              <a:gd name="csX56" fmla="*/ 328499 w 554812"/>
              <a:gd name="csY56" fmla="*/ 373760 h 588415"/>
              <a:gd name="csX57" fmla="*/ 341872 w 554812"/>
              <a:gd name="csY57" fmla="*/ 364844 h 588415"/>
              <a:gd name="csX58" fmla="*/ 356274 w 554812"/>
              <a:gd name="csY58" fmla="*/ 324382 h 588415"/>
              <a:gd name="csX59" fmla="*/ 365532 w 554812"/>
              <a:gd name="csY59" fmla="*/ 282548 h 588415"/>
              <a:gd name="csX60" fmla="*/ 360389 w 554812"/>
              <a:gd name="csY60" fmla="*/ 269175 h 588415"/>
              <a:gd name="csX61" fmla="*/ 338100 w 554812"/>
              <a:gd name="csY61" fmla="*/ 266089 h 588415"/>
              <a:gd name="csX62" fmla="*/ 370333 w 554812"/>
              <a:gd name="csY62" fmla="*/ 239343 h 588415"/>
              <a:gd name="csX63" fmla="*/ 404966 w 554812"/>
              <a:gd name="csY63" fmla="*/ 253059 h 588415"/>
              <a:gd name="csX64" fmla="*/ 429997 w 554812"/>
              <a:gd name="csY64" fmla="*/ 273633 h 588415"/>
              <a:gd name="csX65" fmla="*/ 419368 w 554812"/>
              <a:gd name="csY65" fmla="*/ 289749 h 588415"/>
              <a:gd name="csX66" fmla="*/ 392278 w 554812"/>
              <a:gd name="csY66" fmla="*/ 338784 h 588415"/>
              <a:gd name="csX67" fmla="*/ 349073 w 554812"/>
              <a:gd name="csY67" fmla="*/ 407364 h 588415"/>
              <a:gd name="csX68" fmla="*/ 336729 w 554812"/>
              <a:gd name="csY68" fmla="*/ 399820 h 588415"/>
              <a:gd name="csX69" fmla="*/ 316155 w 554812"/>
              <a:gd name="csY69" fmla="*/ 392276 h 588415"/>
              <a:gd name="csX70" fmla="*/ 266434 w 554812"/>
              <a:gd name="csY70" fmla="*/ 400506 h 588415"/>
              <a:gd name="csX71" fmla="*/ 193396 w 554812"/>
              <a:gd name="csY71" fmla="*/ 411479 h 588415"/>
              <a:gd name="csX72" fmla="*/ 183795 w 554812"/>
              <a:gd name="csY72" fmla="*/ 416279 h 588415"/>
              <a:gd name="csX73" fmla="*/ 165279 w 554812"/>
              <a:gd name="csY73" fmla="*/ 384047 h 588415"/>
              <a:gd name="csX74" fmla="*/ 123445 w 554812"/>
              <a:gd name="csY74" fmla="*/ 292150 h 588415"/>
              <a:gd name="csX75" fmla="*/ 111786 w 554812"/>
              <a:gd name="csY75" fmla="*/ 277062 h 588415"/>
              <a:gd name="csX76" fmla="*/ 121387 w 554812"/>
              <a:gd name="csY76" fmla="*/ 270890 h 588415"/>
              <a:gd name="csX77" fmla="*/ 142647 w 554812"/>
              <a:gd name="csY77" fmla="*/ 274319 h 588415"/>
              <a:gd name="csX78" fmla="*/ 348044 w 554812"/>
              <a:gd name="csY78" fmla="*/ 242772 h 588415"/>
              <a:gd name="csX79" fmla="*/ 370333 w 554812"/>
              <a:gd name="csY79" fmla="*/ 239343 h 588415"/>
              <a:gd name="csX80" fmla="*/ 384734 w 554812"/>
              <a:gd name="csY80" fmla="*/ 60350 h 588415"/>
              <a:gd name="csX81" fmla="*/ 415252 w 554812"/>
              <a:gd name="csY81" fmla="*/ 67551 h 588415"/>
              <a:gd name="csX82" fmla="*/ 427939 w 554812"/>
              <a:gd name="csY82" fmla="*/ 80238 h 588415"/>
              <a:gd name="csX83" fmla="*/ 390906 w 554812"/>
              <a:gd name="csY83" fmla="*/ 93611 h 588415"/>
              <a:gd name="csX84" fmla="*/ 333299 w 554812"/>
              <a:gd name="csY84" fmla="*/ 100812 h 588415"/>
              <a:gd name="csX85" fmla="*/ 367589 w 554812"/>
              <a:gd name="csY85" fmla="*/ 124472 h 588415"/>
              <a:gd name="csX86" fmla="*/ 355587 w 554812"/>
              <a:gd name="csY86" fmla="*/ 139217 h 588415"/>
              <a:gd name="csX87" fmla="*/ 311353 w 554812"/>
              <a:gd name="csY87" fmla="*/ 184480 h 588415"/>
              <a:gd name="csX88" fmla="*/ 460172 w 554812"/>
              <a:gd name="csY88" fmla="*/ 161163 h 588415"/>
              <a:gd name="csX89" fmla="*/ 506806 w 554812"/>
              <a:gd name="csY89" fmla="*/ 156362 h 588415"/>
              <a:gd name="csX90" fmla="*/ 540410 w 554812"/>
              <a:gd name="csY90" fmla="*/ 165277 h 588415"/>
              <a:gd name="csX91" fmla="*/ 554812 w 554812"/>
              <a:gd name="csY91" fmla="*/ 181737 h 588415"/>
              <a:gd name="csX92" fmla="*/ 511607 w 554812"/>
              <a:gd name="csY92" fmla="*/ 196824 h 588415"/>
              <a:gd name="csX93" fmla="*/ 469087 w 554812"/>
              <a:gd name="csY93" fmla="*/ 195453 h 588415"/>
              <a:gd name="csX94" fmla="*/ 284264 w 554812"/>
              <a:gd name="csY94" fmla="*/ 209512 h 588415"/>
              <a:gd name="csX95" fmla="*/ 98069 w 554812"/>
              <a:gd name="csY95" fmla="*/ 243459 h 588415"/>
              <a:gd name="csX96" fmla="*/ 51092 w 554812"/>
              <a:gd name="csY96" fmla="*/ 251003 h 588415"/>
              <a:gd name="csX97" fmla="*/ 16802 w 554812"/>
              <a:gd name="csY97" fmla="*/ 242430 h 588415"/>
              <a:gd name="csX98" fmla="*/ 0 w 554812"/>
              <a:gd name="csY98" fmla="*/ 228371 h 588415"/>
              <a:gd name="csX99" fmla="*/ 34976 w 554812"/>
              <a:gd name="csY99" fmla="*/ 222885 h 588415"/>
              <a:gd name="csX100" fmla="*/ 120015 w 554812"/>
              <a:gd name="csY100" fmla="*/ 212598 h 588415"/>
              <a:gd name="csX101" fmla="*/ 292836 w 554812"/>
              <a:gd name="csY101" fmla="*/ 187223 h 588415"/>
              <a:gd name="csX102" fmla="*/ 316154 w 554812"/>
              <a:gd name="csY102" fmla="*/ 117957 h 588415"/>
              <a:gd name="csX103" fmla="*/ 314782 w 554812"/>
              <a:gd name="csY103" fmla="*/ 103555 h 588415"/>
              <a:gd name="csX104" fmla="*/ 202997 w 554812"/>
              <a:gd name="csY104" fmla="*/ 122072 h 588415"/>
              <a:gd name="csX105" fmla="*/ 230771 w 554812"/>
              <a:gd name="csY105" fmla="*/ 142646 h 588415"/>
              <a:gd name="csX106" fmla="*/ 239344 w 554812"/>
              <a:gd name="csY106" fmla="*/ 160820 h 588415"/>
              <a:gd name="csX107" fmla="*/ 234886 w 554812"/>
              <a:gd name="csY107" fmla="*/ 175907 h 588415"/>
              <a:gd name="csX108" fmla="*/ 222885 w 554812"/>
              <a:gd name="csY108" fmla="*/ 181737 h 588415"/>
              <a:gd name="csX109" fmla="*/ 188595 w 554812"/>
              <a:gd name="csY109" fmla="*/ 123444 h 588415"/>
              <a:gd name="csX110" fmla="*/ 150190 w 554812"/>
              <a:gd name="csY110" fmla="*/ 118643 h 588415"/>
              <a:gd name="csX111" fmla="*/ 133731 w 554812"/>
              <a:gd name="csY111" fmla="*/ 107327 h 588415"/>
              <a:gd name="csX112" fmla="*/ 162191 w 554812"/>
              <a:gd name="csY112" fmla="*/ 100469 h 588415"/>
              <a:gd name="csX113" fmla="*/ 252717 w 554812"/>
              <a:gd name="csY113" fmla="*/ 88125 h 588415"/>
              <a:gd name="csX114" fmla="*/ 340842 w 554812"/>
              <a:gd name="csY114" fmla="*/ 68923 h 588415"/>
              <a:gd name="csX115" fmla="*/ 384734 w 554812"/>
              <a:gd name="csY115" fmla="*/ 60350 h 588415"/>
              <a:gd name="csX116" fmla="*/ 266777 w 554812"/>
              <a:gd name="csY116" fmla="*/ 0 h 588415"/>
              <a:gd name="csX117" fmla="*/ 309297 w 554812"/>
              <a:gd name="csY117" fmla="*/ 13373 h 588415"/>
              <a:gd name="csX118" fmla="*/ 323698 w 554812"/>
              <a:gd name="csY118" fmla="*/ 38404 h 588415"/>
              <a:gd name="csX119" fmla="*/ 318555 w 554812"/>
              <a:gd name="csY119" fmla="*/ 56235 h 588415"/>
              <a:gd name="csX120" fmla="*/ 304153 w 554812"/>
              <a:gd name="csY120" fmla="*/ 62407 h 588415"/>
              <a:gd name="csX121" fmla="*/ 279807 w 554812"/>
              <a:gd name="csY121" fmla="*/ 50063 h 588415"/>
              <a:gd name="csX122" fmla="*/ 250318 w 554812"/>
              <a:gd name="csY122" fmla="*/ 25374 h 588415"/>
              <a:gd name="csX123" fmla="*/ 235916 w 554812"/>
              <a:gd name="csY123" fmla="*/ 8229 h 588415"/>
              <a:gd name="csX124" fmla="*/ 266777 w 554812"/>
              <a:gd name="csY124" fmla="*/ 0 h 588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</a:cxnLst>
            <a:rect l="l" t="t" r="r" b="b"/>
            <a:pathLst>
              <a:path w="554812" h="588415">
                <a:moveTo>
                  <a:pt x="262661" y="431368"/>
                </a:moveTo>
                <a:cubicBezTo>
                  <a:pt x="279578" y="431368"/>
                  <a:pt x="294437" y="435026"/>
                  <a:pt x="307238" y="442341"/>
                </a:cubicBezTo>
                <a:cubicBezTo>
                  <a:pt x="320040" y="449656"/>
                  <a:pt x="326441" y="460400"/>
                  <a:pt x="326441" y="474573"/>
                </a:cubicBezTo>
                <a:cubicBezTo>
                  <a:pt x="326441" y="485089"/>
                  <a:pt x="321526" y="490347"/>
                  <a:pt x="311696" y="490347"/>
                </a:cubicBezTo>
                <a:cubicBezTo>
                  <a:pt x="301866" y="490347"/>
                  <a:pt x="289407" y="482574"/>
                  <a:pt x="274320" y="467030"/>
                </a:cubicBezTo>
                <a:cubicBezTo>
                  <a:pt x="259232" y="451485"/>
                  <a:pt x="251688" y="441655"/>
                  <a:pt x="251688" y="437540"/>
                </a:cubicBezTo>
                <a:cubicBezTo>
                  <a:pt x="251688" y="433425"/>
                  <a:pt x="255346" y="431368"/>
                  <a:pt x="262661" y="431368"/>
                </a:cubicBezTo>
                <a:close/>
                <a:moveTo>
                  <a:pt x="157734" y="425195"/>
                </a:moveTo>
                <a:cubicBezTo>
                  <a:pt x="160477" y="425195"/>
                  <a:pt x="163792" y="427138"/>
                  <a:pt x="167678" y="431024"/>
                </a:cubicBezTo>
                <a:cubicBezTo>
                  <a:pt x="171564" y="434910"/>
                  <a:pt x="174193" y="439139"/>
                  <a:pt x="175565" y="443711"/>
                </a:cubicBezTo>
                <a:cubicBezTo>
                  <a:pt x="184709" y="475715"/>
                  <a:pt x="200482" y="501204"/>
                  <a:pt x="222885" y="520178"/>
                </a:cubicBezTo>
                <a:cubicBezTo>
                  <a:pt x="245288" y="539152"/>
                  <a:pt x="279120" y="548639"/>
                  <a:pt x="324383" y="548639"/>
                </a:cubicBezTo>
                <a:cubicBezTo>
                  <a:pt x="341300" y="548639"/>
                  <a:pt x="359702" y="546810"/>
                  <a:pt x="379590" y="543152"/>
                </a:cubicBezTo>
                <a:cubicBezTo>
                  <a:pt x="399478" y="539495"/>
                  <a:pt x="409422" y="534694"/>
                  <a:pt x="409422" y="528751"/>
                </a:cubicBezTo>
                <a:cubicBezTo>
                  <a:pt x="409422" y="522807"/>
                  <a:pt x="401421" y="505433"/>
                  <a:pt x="385419" y="476630"/>
                </a:cubicBezTo>
                <a:cubicBezTo>
                  <a:pt x="383591" y="473429"/>
                  <a:pt x="382676" y="470800"/>
                  <a:pt x="382676" y="468743"/>
                </a:cubicBezTo>
                <a:cubicBezTo>
                  <a:pt x="382676" y="466686"/>
                  <a:pt x="383591" y="465657"/>
                  <a:pt x="385419" y="465657"/>
                </a:cubicBezTo>
                <a:cubicBezTo>
                  <a:pt x="387705" y="465657"/>
                  <a:pt x="390677" y="467257"/>
                  <a:pt x="394335" y="470458"/>
                </a:cubicBezTo>
                <a:cubicBezTo>
                  <a:pt x="422224" y="496518"/>
                  <a:pt x="450342" y="517778"/>
                  <a:pt x="478688" y="534237"/>
                </a:cubicBezTo>
                <a:cubicBezTo>
                  <a:pt x="482803" y="536523"/>
                  <a:pt x="484860" y="539952"/>
                  <a:pt x="484860" y="544524"/>
                </a:cubicBezTo>
                <a:cubicBezTo>
                  <a:pt x="484860" y="555040"/>
                  <a:pt x="470573" y="564984"/>
                  <a:pt x="441998" y="574356"/>
                </a:cubicBezTo>
                <a:cubicBezTo>
                  <a:pt x="413423" y="583729"/>
                  <a:pt x="383362" y="588415"/>
                  <a:pt x="351815" y="588415"/>
                </a:cubicBezTo>
                <a:cubicBezTo>
                  <a:pt x="310210" y="588415"/>
                  <a:pt x="273405" y="581214"/>
                  <a:pt x="241401" y="566812"/>
                </a:cubicBezTo>
                <a:cubicBezTo>
                  <a:pt x="209397" y="552411"/>
                  <a:pt x="186766" y="530122"/>
                  <a:pt x="173507" y="499947"/>
                </a:cubicBezTo>
                <a:cubicBezTo>
                  <a:pt x="160248" y="469772"/>
                  <a:pt x="153619" y="447826"/>
                  <a:pt x="153619" y="434110"/>
                </a:cubicBezTo>
                <a:cubicBezTo>
                  <a:pt x="153619" y="428167"/>
                  <a:pt x="154991" y="425195"/>
                  <a:pt x="157734" y="425195"/>
                </a:cubicBezTo>
                <a:close/>
                <a:moveTo>
                  <a:pt x="106985" y="421766"/>
                </a:moveTo>
                <a:cubicBezTo>
                  <a:pt x="110642" y="421766"/>
                  <a:pt x="113614" y="427366"/>
                  <a:pt x="115900" y="438568"/>
                </a:cubicBezTo>
                <a:cubicBezTo>
                  <a:pt x="118186" y="449769"/>
                  <a:pt x="119329" y="458799"/>
                  <a:pt x="119329" y="465657"/>
                </a:cubicBezTo>
                <a:cubicBezTo>
                  <a:pt x="119329" y="488974"/>
                  <a:pt x="114871" y="510234"/>
                  <a:pt x="105956" y="529436"/>
                </a:cubicBezTo>
                <a:cubicBezTo>
                  <a:pt x="97041" y="548639"/>
                  <a:pt x="90411" y="558240"/>
                  <a:pt x="86068" y="558240"/>
                </a:cubicBezTo>
                <a:cubicBezTo>
                  <a:pt x="81724" y="558240"/>
                  <a:pt x="76924" y="553554"/>
                  <a:pt x="71666" y="544181"/>
                </a:cubicBezTo>
                <a:cubicBezTo>
                  <a:pt x="66408" y="534808"/>
                  <a:pt x="63779" y="526693"/>
                  <a:pt x="63779" y="519835"/>
                </a:cubicBezTo>
                <a:cubicBezTo>
                  <a:pt x="63779" y="512977"/>
                  <a:pt x="67894" y="501890"/>
                  <a:pt x="76124" y="486574"/>
                </a:cubicBezTo>
                <a:cubicBezTo>
                  <a:pt x="84353" y="471258"/>
                  <a:pt x="91897" y="452855"/>
                  <a:pt x="98755" y="431367"/>
                </a:cubicBezTo>
                <a:cubicBezTo>
                  <a:pt x="100584" y="424966"/>
                  <a:pt x="103327" y="421766"/>
                  <a:pt x="106985" y="421766"/>
                </a:cubicBezTo>
                <a:close/>
                <a:moveTo>
                  <a:pt x="425195" y="395705"/>
                </a:moveTo>
                <a:cubicBezTo>
                  <a:pt x="458113" y="395705"/>
                  <a:pt x="484402" y="400620"/>
                  <a:pt x="504062" y="410450"/>
                </a:cubicBezTo>
                <a:cubicBezTo>
                  <a:pt x="523721" y="420280"/>
                  <a:pt x="533551" y="434796"/>
                  <a:pt x="533551" y="453998"/>
                </a:cubicBezTo>
                <a:cubicBezTo>
                  <a:pt x="533551" y="465886"/>
                  <a:pt x="529208" y="471829"/>
                  <a:pt x="520521" y="471829"/>
                </a:cubicBezTo>
                <a:cubicBezTo>
                  <a:pt x="511834" y="471829"/>
                  <a:pt x="498918" y="466114"/>
                  <a:pt x="481773" y="454684"/>
                </a:cubicBezTo>
                <a:cubicBezTo>
                  <a:pt x="464628" y="443254"/>
                  <a:pt x="447598" y="432396"/>
                  <a:pt x="430681" y="422109"/>
                </a:cubicBezTo>
                <a:cubicBezTo>
                  <a:pt x="413765" y="411822"/>
                  <a:pt x="405307" y="404849"/>
                  <a:pt x="405307" y="401192"/>
                </a:cubicBezTo>
                <a:cubicBezTo>
                  <a:pt x="405307" y="397534"/>
                  <a:pt x="411936" y="395705"/>
                  <a:pt x="425195" y="395705"/>
                </a:cubicBezTo>
                <a:close/>
                <a:moveTo>
                  <a:pt x="338100" y="266089"/>
                </a:moveTo>
                <a:cubicBezTo>
                  <a:pt x="326670" y="266089"/>
                  <a:pt x="303010" y="268832"/>
                  <a:pt x="267120" y="274319"/>
                </a:cubicBezTo>
                <a:cubicBezTo>
                  <a:pt x="231230" y="279805"/>
                  <a:pt x="197511" y="284149"/>
                  <a:pt x="165964" y="287349"/>
                </a:cubicBezTo>
                <a:cubicBezTo>
                  <a:pt x="169622" y="297865"/>
                  <a:pt x="173965" y="312724"/>
                  <a:pt x="178995" y="331926"/>
                </a:cubicBezTo>
                <a:cubicBezTo>
                  <a:pt x="248489" y="314552"/>
                  <a:pt x="288151" y="305866"/>
                  <a:pt x="297981" y="305866"/>
                </a:cubicBezTo>
                <a:cubicBezTo>
                  <a:pt x="307811" y="305866"/>
                  <a:pt x="315697" y="307237"/>
                  <a:pt x="321641" y="309980"/>
                </a:cubicBezTo>
                <a:cubicBezTo>
                  <a:pt x="327585" y="312724"/>
                  <a:pt x="330556" y="315581"/>
                  <a:pt x="330556" y="318553"/>
                </a:cubicBezTo>
                <a:cubicBezTo>
                  <a:pt x="330556" y="321525"/>
                  <a:pt x="328156" y="324154"/>
                  <a:pt x="323356" y="326440"/>
                </a:cubicBezTo>
                <a:cubicBezTo>
                  <a:pt x="318555" y="328726"/>
                  <a:pt x="299695" y="332155"/>
                  <a:pt x="266777" y="336727"/>
                </a:cubicBezTo>
                <a:cubicBezTo>
                  <a:pt x="233859" y="341299"/>
                  <a:pt x="205512" y="343813"/>
                  <a:pt x="181738" y="344270"/>
                </a:cubicBezTo>
                <a:cubicBezTo>
                  <a:pt x="187224" y="367588"/>
                  <a:pt x="191110" y="384733"/>
                  <a:pt x="193396" y="395705"/>
                </a:cubicBezTo>
                <a:cubicBezTo>
                  <a:pt x="267463" y="379703"/>
                  <a:pt x="306096" y="371931"/>
                  <a:pt x="309297" y="372388"/>
                </a:cubicBezTo>
                <a:cubicBezTo>
                  <a:pt x="316612" y="373303"/>
                  <a:pt x="323013" y="373760"/>
                  <a:pt x="328499" y="373760"/>
                </a:cubicBezTo>
                <a:cubicBezTo>
                  <a:pt x="333985" y="373760"/>
                  <a:pt x="338443" y="370788"/>
                  <a:pt x="341872" y="364844"/>
                </a:cubicBezTo>
                <a:cubicBezTo>
                  <a:pt x="345301" y="358901"/>
                  <a:pt x="350102" y="345413"/>
                  <a:pt x="356274" y="324382"/>
                </a:cubicBezTo>
                <a:cubicBezTo>
                  <a:pt x="362446" y="303351"/>
                  <a:pt x="365532" y="289406"/>
                  <a:pt x="365532" y="282548"/>
                </a:cubicBezTo>
                <a:cubicBezTo>
                  <a:pt x="365532" y="275690"/>
                  <a:pt x="363818" y="271233"/>
                  <a:pt x="360389" y="269175"/>
                </a:cubicBezTo>
                <a:cubicBezTo>
                  <a:pt x="356960" y="267118"/>
                  <a:pt x="349530" y="266089"/>
                  <a:pt x="338100" y="266089"/>
                </a:cubicBezTo>
                <a:close/>
                <a:moveTo>
                  <a:pt x="370333" y="239343"/>
                </a:moveTo>
                <a:cubicBezTo>
                  <a:pt x="376734" y="239343"/>
                  <a:pt x="388278" y="243915"/>
                  <a:pt x="404966" y="253059"/>
                </a:cubicBezTo>
                <a:cubicBezTo>
                  <a:pt x="421654" y="262203"/>
                  <a:pt x="429997" y="269061"/>
                  <a:pt x="429997" y="273633"/>
                </a:cubicBezTo>
                <a:cubicBezTo>
                  <a:pt x="429997" y="278205"/>
                  <a:pt x="426454" y="283577"/>
                  <a:pt x="419368" y="289749"/>
                </a:cubicBezTo>
                <a:cubicBezTo>
                  <a:pt x="412281" y="295921"/>
                  <a:pt x="403251" y="312266"/>
                  <a:pt x="392278" y="338784"/>
                </a:cubicBezTo>
                <a:cubicBezTo>
                  <a:pt x="373076" y="384504"/>
                  <a:pt x="358674" y="407364"/>
                  <a:pt x="349073" y="407364"/>
                </a:cubicBezTo>
                <a:cubicBezTo>
                  <a:pt x="345873" y="407364"/>
                  <a:pt x="341758" y="404849"/>
                  <a:pt x="336729" y="399820"/>
                </a:cubicBezTo>
                <a:cubicBezTo>
                  <a:pt x="331699" y="394791"/>
                  <a:pt x="324841" y="392276"/>
                  <a:pt x="316155" y="392276"/>
                </a:cubicBezTo>
                <a:cubicBezTo>
                  <a:pt x="307468" y="392276"/>
                  <a:pt x="290894" y="395020"/>
                  <a:pt x="266434" y="400506"/>
                </a:cubicBezTo>
                <a:cubicBezTo>
                  <a:pt x="241974" y="405992"/>
                  <a:pt x="217628" y="409650"/>
                  <a:pt x="193396" y="411479"/>
                </a:cubicBezTo>
                <a:cubicBezTo>
                  <a:pt x="189739" y="414679"/>
                  <a:pt x="186538" y="416279"/>
                  <a:pt x="183795" y="416279"/>
                </a:cubicBezTo>
                <a:cubicBezTo>
                  <a:pt x="177394" y="416279"/>
                  <a:pt x="171222" y="405535"/>
                  <a:pt x="165279" y="384047"/>
                </a:cubicBezTo>
                <a:cubicBezTo>
                  <a:pt x="151105" y="333755"/>
                  <a:pt x="137161" y="303122"/>
                  <a:pt x="123445" y="292150"/>
                </a:cubicBezTo>
                <a:cubicBezTo>
                  <a:pt x="115672" y="286206"/>
                  <a:pt x="111786" y="281177"/>
                  <a:pt x="111786" y="277062"/>
                </a:cubicBezTo>
                <a:cubicBezTo>
                  <a:pt x="111786" y="272947"/>
                  <a:pt x="114987" y="270890"/>
                  <a:pt x="121387" y="270890"/>
                </a:cubicBezTo>
                <a:cubicBezTo>
                  <a:pt x="127788" y="270890"/>
                  <a:pt x="134875" y="272033"/>
                  <a:pt x="142647" y="274319"/>
                </a:cubicBezTo>
                <a:cubicBezTo>
                  <a:pt x="271120" y="255574"/>
                  <a:pt x="339586" y="245058"/>
                  <a:pt x="348044" y="242772"/>
                </a:cubicBezTo>
                <a:cubicBezTo>
                  <a:pt x="356502" y="240486"/>
                  <a:pt x="363932" y="239343"/>
                  <a:pt x="370333" y="239343"/>
                </a:cubicBezTo>
                <a:close/>
                <a:moveTo>
                  <a:pt x="384734" y="60350"/>
                </a:moveTo>
                <a:cubicBezTo>
                  <a:pt x="396621" y="60350"/>
                  <a:pt x="406793" y="62750"/>
                  <a:pt x="415252" y="67551"/>
                </a:cubicBezTo>
                <a:cubicBezTo>
                  <a:pt x="423710" y="72352"/>
                  <a:pt x="427939" y="76581"/>
                  <a:pt x="427939" y="80238"/>
                </a:cubicBezTo>
                <a:cubicBezTo>
                  <a:pt x="427939" y="86182"/>
                  <a:pt x="415595" y="90640"/>
                  <a:pt x="390906" y="93611"/>
                </a:cubicBezTo>
                <a:cubicBezTo>
                  <a:pt x="366217" y="96583"/>
                  <a:pt x="347015" y="98983"/>
                  <a:pt x="333299" y="100812"/>
                </a:cubicBezTo>
                <a:cubicBezTo>
                  <a:pt x="356159" y="111785"/>
                  <a:pt x="367589" y="119672"/>
                  <a:pt x="367589" y="124472"/>
                </a:cubicBezTo>
                <a:cubicBezTo>
                  <a:pt x="367589" y="129273"/>
                  <a:pt x="363588" y="134188"/>
                  <a:pt x="355587" y="139217"/>
                </a:cubicBezTo>
                <a:cubicBezTo>
                  <a:pt x="347586" y="144246"/>
                  <a:pt x="332841" y="159334"/>
                  <a:pt x="311353" y="184480"/>
                </a:cubicBezTo>
                <a:lnTo>
                  <a:pt x="460172" y="161163"/>
                </a:lnTo>
                <a:cubicBezTo>
                  <a:pt x="478460" y="157962"/>
                  <a:pt x="494004" y="156362"/>
                  <a:pt x="506806" y="156362"/>
                </a:cubicBezTo>
                <a:cubicBezTo>
                  <a:pt x="519608" y="156362"/>
                  <a:pt x="530809" y="159334"/>
                  <a:pt x="540410" y="165277"/>
                </a:cubicBezTo>
                <a:cubicBezTo>
                  <a:pt x="550011" y="171221"/>
                  <a:pt x="554812" y="176707"/>
                  <a:pt x="554812" y="181737"/>
                </a:cubicBezTo>
                <a:cubicBezTo>
                  <a:pt x="554812" y="191795"/>
                  <a:pt x="540410" y="196824"/>
                  <a:pt x="511607" y="196824"/>
                </a:cubicBezTo>
                <a:lnTo>
                  <a:pt x="469087" y="195453"/>
                </a:lnTo>
                <a:cubicBezTo>
                  <a:pt x="418795" y="195453"/>
                  <a:pt x="357187" y="200139"/>
                  <a:pt x="284264" y="209512"/>
                </a:cubicBezTo>
                <a:cubicBezTo>
                  <a:pt x="211341" y="218884"/>
                  <a:pt x="149276" y="230200"/>
                  <a:pt x="98069" y="243459"/>
                </a:cubicBezTo>
                <a:cubicBezTo>
                  <a:pt x="78410" y="248488"/>
                  <a:pt x="62751" y="251003"/>
                  <a:pt x="51092" y="251003"/>
                </a:cubicBezTo>
                <a:cubicBezTo>
                  <a:pt x="39433" y="251003"/>
                  <a:pt x="28003" y="248145"/>
                  <a:pt x="16802" y="242430"/>
                </a:cubicBezTo>
                <a:cubicBezTo>
                  <a:pt x="5601" y="236715"/>
                  <a:pt x="0" y="232029"/>
                  <a:pt x="0" y="228371"/>
                </a:cubicBezTo>
                <a:cubicBezTo>
                  <a:pt x="0" y="224714"/>
                  <a:pt x="11658" y="222885"/>
                  <a:pt x="34976" y="222885"/>
                </a:cubicBezTo>
                <a:cubicBezTo>
                  <a:pt x="40462" y="222885"/>
                  <a:pt x="68808" y="219456"/>
                  <a:pt x="120015" y="212598"/>
                </a:cubicBezTo>
                <a:lnTo>
                  <a:pt x="292836" y="187223"/>
                </a:lnTo>
                <a:cubicBezTo>
                  <a:pt x="308381" y="161620"/>
                  <a:pt x="316154" y="138531"/>
                  <a:pt x="316154" y="117957"/>
                </a:cubicBezTo>
                <a:cubicBezTo>
                  <a:pt x="316154" y="113385"/>
                  <a:pt x="315696" y="108585"/>
                  <a:pt x="314782" y="103555"/>
                </a:cubicBezTo>
                <a:cubicBezTo>
                  <a:pt x="253974" y="114071"/>
                  <a:pt x="216713" y="120243"/>
                  <a:pt x="202997" y="122072"/>
                </a:cubicBezTo>
                <a:cubicBezTo>
                  <a:pt x="215798" y="129844"/>
                  <a:pt x="225057" y="136702"/>
                  <a:pt x="230771" y="142646"/>
                </a:cubicBezTo>
                <a:cubicBezTo>
                  <a:pt x="236487" y="148590"/>
                  <a:pt x="239344" y="154648"/>
                  <a:pt x="239344" y="160820"/>
                </a:cubicBezTo>
                <a:cubicBezTo>
                  <a:pt x="239344" y="166992"/>
                  <a:pt x="237858" y="172021"/>
                  <a:pt x="234886" y="175907"/>
                </a:cubicBezTo>
                <a:cubicBezTo>
                  <a:pt x="231914" y="179794"/>
                  <a:pt x="227914" y="181737"/>
                  <a:pt x="222885" y="181737"/>
                </a:cubicBezTo>
                <a:cubicBezTo>
                  <a:pt x="208254" y="181737"/>
                  <a:pt x="196824" y="162306"/>
                  <a:pt x="188595" y="123444"/>
                </a:cubicBezTo>
                <a:cubicBezTo>
                  <a:pt x="173964" y="124358"/>
                  <a:pt x="161163" y="122758"/>
                  <a:pt x="150190" y="118643"/>
                </a:cubicBezTo>
                <a:cubicBezTo>
                  <a:pt x="139217" y="114528"/>
                  <a:pt x="133731" y="110756"/>
                  <a:pt x="133731" y="107327"/>
                </a:cubicBezTo>
                <a:cubicBezTo>
                  <a:pt x="133731" y="103898"/>
                  <a:pt x="143218" y="101612"/>
                  <a:pt x="162191" y="100469"/>
                </a:cubicBezTo>
                <a:cubicBezTo>
                  <a:pt x="181165" y="99326"/>
                  <a:pt x="211341" y="95212"/>
                  <a:pt x="252717" y="88125"/>
                </a:cubicBezTo>
                <a:cubicBezTo>
                  <a:pt x="294094" y="81038"/>
                  <a:pt x="323469" y="74638"/>
                  <a:pt x="340842" y="68923"/>
                </a:cubicBezTo>
                <a:cubicBezTo>
                  <a:pt x="358216" y="63208"/>
                  <a:pt x="372846" y="60350"/>
                  <a:pt x="384734" y="60350"/>
                </a:cubicBezTo>
                <a:close/>
                <a:moveTo>
                  <a:pt x="266777" y="0"/>
                </a:moveTo>
                <a:cubicBezTo>
                  <a:pt x="285522" y="0"/>
                  <a:pt x="299695" y="4457"/>
                  <a:pt x="309297" y="13373"/>
                </a:cubicBezTo>
                <a:cubicBezTo>
                  <a:pt x="318898" y="22288"/>
                  <a:pt x="323698" y="30632"/>
                  <a:pt x="323698" y="38404"/>
                </a:cubicBezTo>
                <a:cubicBezTo>
                  <a:pt x="323698" y="46177"/>
                  <a:pt x="321984" y="52120"/>
                  <a:pt x="318555" y="56235"/>
                </a:cubicBezTo>
                <a:cubicBezTo>
                  <a:pt x="315126" y="60350"/>
                  <a:pt x="310325" y="62407"/>
                  <a:pt x="304153" y="62407"/>
                </a:cubicBezTo>
                <a:cubicBezTo>
                  <a:pt x="297981" y="62407"/>
                  <a:pt x="289866" y="58293"/>
                  <a:pt x="279807" y="50063"/>
                </a:cubicBezTo>
                <a:lnTo>
                  <a:pt x="250318" y="25374"/>
                </a:lnTo>
                <a:cubicBezTo>
                  <a:pt x="240717" y="17602"/>
                  <a:pt x="235916" y="11887"/>
                  <a:pt x="235916" y="8229"/>
                </a:cubicBezTo>
                <a:cubicBezTo>
                  <a:pt x="235916" y="2743"/>
                  <a:pt x="246203" y="0"/>
                  <a:pt x="2667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: 形状 22"/>
          <p:cNvSpPr/>
          <p:nvPr/>
        </p:nvSpPr>
        <p:spPr>
          <a:xfrm>
            <a:off x="8779088" y="1880952"/>
            <a:ext cx="554812" cy="251003"/>
          </a:xfrm>
          <a:custGeom>
            <a:avLst/>
            <a:gdLst>
              <a:gd name="csX0" fmla="*/ 384734 w 554812"/>
              <a:gd name="csY0" fmla="*/ 60350 h 251003"/>
              <a:gd name="csX1" fmla="*/ 415252 w 554812"/>
              <a:gd name="csY1" fmla="*/ 67551 h 251003"/>
              <a:gd name="csX2" fmla="*/ 427939 w 554812"/>
              <a:gd name="csY2" fmla="*/ 80238 h 251003"/>
              <a:gd name="csX3" fmla="*/ 390906 w 554812"/>
              <a:gd name="csY3" fmla="*/ 93611 h 251003"/>
              <a:gd name="csX4" fmla="*/ 333299 w 554812"/>
              <a:gd name="csY4" fmla="*/ 100812 h 251003"/>
              <a:gd name="csX5" fmla="*/ 367589 w 554812"/>
              <a:gd name="csY5" fmla="*/ 124472 h 251003"/>
              <a:gd name="csX6" fmla="*/ 355587 w 554812"/>
              <a:gd name="csY6" fmla="*/ 139217 h 251003"/>
              <a:gd name="csX7" fmla="*/ 311353 w 554812"/>
              <a:gd name="csY7" fmla="*/ 184480 h 251003"/>
              <a:gd name="csX8" fmla="*/ 460172 w 554812"/>
              <a:gd name="csY8" fmla="*/ 161163 h 251003"/>
              <a:gd name="csX9" fmla="*/ 506806 w 554812"/>
              <a:gd name="csY9" fmla="*/ 156362 h 251003"/>
              <a:gd name="csX10" fmla="*/ 540410 w 554812"/>
              <a:gd name="csY10" fmla="*/ 165277 h 251003"/>
              <a:gd name="csX11" fmla="*/ 554812 w 554812"/>
              <a:gd name="csY11" fmla="*/ 181737 h 251003"/>
              <a:gd name="csX12" fmla="*/ 511607 w 554812"/>
              <a:gd name="csY12" fmla="*/ 196824 h 251003"/>
              <a:gd name="csX13" fmla="*/ 469087 w 554812"/>
              <a:gd name="csY13" fmla="*/ 195453 h 251003"/>
              <a:gd name="csX14" fmla="*/ 284264 w 554812"/>
              <a:gd name="csY14" fmla="*/ 209512 h 251003"/>
              <a:gd name="csX15" fmla="*/ 98069 w 554812"/>
              <a:gd name="csY15" fmla="*/ 243459 h 251003"/>
              <a:gd name="csX16" fmla="*/ 51092 w 554812"/>
              <a:gd name="csY16" fmla="*/ 251003 h 251003"/>
              <a:gd name="csX17" fmla="*/ 16802 w 554812"/>
              <a:gd name="csY17" fmla="*/ 242430 h 251003"/>
              <a:gd name="csX18" fmla="*/ 0 w 554812"/>
              <a:gd name="csY18" fmla="*/ 228371 h 251003"/>
              <a:gd name="csX19" fmla="*/ 34976 w 554812"/>
              <a:gd name="csY19" fmla="*/ 222885 h 251003"/>
              <a:gd name="csX20" fmla="*/ 120015 w 554812"/>
              <a:gd name="csY20" fmla="*/ 212598 h 251003"/>
              <a:gd name="csX21" fmla="*/ 292836 w 554812"/>
              <a:gd name="csY21" fmla="*/ 187223 h 251003"/>
              <a:gd name="csX22" fmla="*/ 316154 w 554812"/>
              <a:gd name="csY22" fmla="*/ 117957 h 251003"/>
              <a:gd name="csX23" fmla="*/ 314782 w 554812"/>
              <a:gd name="csY23" fmla="*/ 103555 h 251003"/>
              <a:gd name="csX24" fmla="*/ 202997 w 554812"/>
              <a:gd name="csY24" fmla="*/ 122072 h 251003"/>
              <a:gd name="csX25" fmla="*/ 230771 w 554812"/>
              <a:gd name="csY25" fmla="*/ 142646 h 251003"/>
              <a:gd name="csX26" fmla="*/ 239344 w 554812"/>
              <a:gd name="csY26" fmla="*/ 160820 h 251003"/>
              <a:gd name="csX27" fmla="*/ 234886 w 554812"/>
              <a:gd name="csY27" fmla="*/ 175907 h 251003"/>
              <a:gd name="csX28" fmla="*/ 222885 w 554812"/>
              <a:gd name="csY28" fmla="*/ 181737 h 251003"/>
              <a:gd name="csX29" fmla="*/ 188595 w 554812"/>
              <a:gd name="csY29" fmla="*/ 123444 h 251003"/>
              <a:gd name="csX30" fmla="*/ 150190 w 554812"/>
              <a:gd name="csY30" fmla="*/ 118643 h 251003"/>
              <a:gd name="csX31" fmla="*/ 133731 w 554812"/>
              <a:gd name="csY31" fmla="*/ 107327 h 251003"/>
              <a:gd name="csX32" fmla="*/ 162191 w 554812"/>
              <a:gd name="csY32" fmla="*/ 100469 h 251003"/>
              <a:gd name="csX33" fmla="*/ 252717 w 554812"/>
              <a:gd name="csY33" fmla="*/ 88125 h 251003"/>
              <a:gd name="csX34" fmla="*/ 340842 w 554812"/>
              <a:gd name="csY34" fmla="*/ 68923 h 251003"/>
              <a:gd name="csX35" fmla="*/ 384734 w 554812"/>
              <a:gd name="csY35" fmla="*/ 60350 h 251003"/>
              <a:gd name="csX36" fmla="*/ 266777 w 554812"/>
              <a:gd name="csY36" fmla="*/ 0 h 251003"/>
              <a:gd name="csX37" fmla="*/ 309297 w 554812"/>
              <a:gd name="csY37" fmla="*/ 13373 h 251003"/>
              <a:gd name="csX38" fmla="*/ 323698 w 554812"/>
              <a:gd name="csY38" fmla="*/ 38404 h 251003"/>
              <a:gd name="csX39" fmla="*/ 318555 w 554812"/>
              <a:gd name="csY39" fmla="*/ 56235 h 251003"/>
              <a:gd name="csX40" fmla="*/ 304153 w 554812"/>
              <a:gd name="csY40" fmla="*/ 62407 h 251003"/>
              <a:gd name="csX41" fmla="*/ 279807 w 554812"/>
              <a:gd name="csY41" fmla="*/ 50063 h 251003"/>
              <a:gd name="csX42" fmla="*/ 250318 w 554812"/>
              <a:gd name="csY42" fmla="*/ 25374 h 251003"/>
              <a:gd name="csX43" fmla="*/ 235916 w 554812"/>
              <a:gd name="csY43" fmla="*/ 8229 h 251003"/>
              <a:gd name="csX44" fmla="*/ 266777 w 554812"/>
              <a:gd name="csY44" fmla="*/ 0 h 251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554812" h="251003">
                <a:moveTo>
                  <a:pt x="384734" y="60350"/>
                </a:moveTo>
                <a:cubicBezTo>
                  <a:pt x="396621" y="60350"/>
                  <a:pt x="406793" y="62750"/>
                  <a:pt x="415252" y="67551"/>
                </a:cubicBezTo>
                <a:cubicBezTo>
                  <a:pt x="423710" y="72352"/>
                  <a:pt x="427939" y="76581"/>
                  <a:pt x="427939" y="80238"/>
                </a:cubicBezTo>
                <a:cubicBezTo>
                  <a:pt x="427939" y="86182"/>
                  <a:pt x="415595" y="90640"/>
                  <a:pt x="390906" y="93611"/>
                </a:cubicBezTo>
                <a:cubicBezTo>
                  <a:pt x="366217" y="96583"/>
                  <a:pt x="347015" y="98983"/>
                  <a:pt x="333299" y="100812"/>
                </a:cubicBezTo>
                <a:cubicBezTo>
                  <a:pt x="356159" y="111785"/>
                  <a:pt x="367589" y="119672"/>
                  <a:pt x="367589" y="124472"/>
                </a:cubicBezTo>
                <a:cubicBezTo>
                  <a:pt x="367589" y="129273"/>
                  <a:pt x="363588" y="134188"/>
                  <a:pt x="355587" y="139217"/>
                </a:cubicBezTo>
                <a:cubicBezTo>
                  <a:pt x="347586" y="144246"/>
                  <a:pt x="332841" y="159334"/>
                  <a:pt x="311353" y="184480"/>
                </a:cubicBezTo>
                <a:lnTo>
                  <a:pt x="460172" y="161163"/>
                </a:lnTo>
                <a:cubicBezTo>
                  <a:pt x="478460" y="157962"/>
                  <a:pt x="494004" y="156362"/>
                  <a:pt x="506806" y="156362"/>
                </a:cubicBezTo>
                <a:cubicBezTo>
                  <a:pt x="519608" y="156362"/>
                  <a:pt x="530809" y="159334"/>
                  <a:pt x="540410" y="165277"/>
                </a:cubicBezTo>
                <a:cubicBezTo>
                  <a:pt x="550011" y="171221"/>
                  <a:pt x="554812" y="176707"/>
                  <a:pt x="554812" y="181737"/>
                </a:cubicBezTo>
                <a:cubicBezTo>
                  <a:pt x="554812" y="191795"/>
                  <a:pt x="540410" y="196824"/>
                  <a:pt x="511607" y="196824"/>
                </a:cubicBezTo>
                <a:lnTo>
                  <a:pt x="469087" y="195453"/>
                </a:lnTo>
                <a:cubicBezTo>
                  <a:pt x="418795" y="195453"/>
                  <a:pt x="357187" y="200139"/>
                  <a:pt x="284264" y="209512"/>
                </a:cubicBezTo>
                <a:cubicBezTo>
                  <a:pt x="211341" y="218884"/>
                  <a:pt x="149276" y="230200"/>
                  <a:pt x="98069" y="243459"/>
                </a:cubicBezTo>
                <a:cubicBezTo>
                  <a:pt x="78410" y="248488"/>
                  <a:pt x="62751" y="251003"/>
                  <a:pt x="51092" y="251003"/>
                </a:cubicBezTo>
                <a:cubicBezTo>
                  <a:pt x="39433" y="251003"/>
                  <a:pt x="28003" y="248145"/>
                  <a:pt x="16802" y="242430"/>
                </a:cubicBezTo>
                <a:cubicBezTo>
                  <a:pt x="5601" y="236715"/>
                  <a:pt x="0" y="232029"/>
                  <a:pt x="0" y="228371"/>
                </a:cubicBezTo>
                <a:cubicBezTo>
                  <a:pt x="0" y="224714"/>
                  <a:pt x="11658" y="222885"/>
                  <a:pt x="34976" y="222885"/>
                </a:cubicBezTo>
                <a:cubicBezTo>
                  <a:pt x="40462" y="222885"/>
                  <a:pt x="68808" y="219456"/>
                  <a:pt x="120015" y="212598"/>
                </a:cubicBezTo>
                <a:lnTo>
                  <a:pt x="292836" y="187223"/>
                </a:lnTo>
                <a:cubicBezTo>
                  <a:pt x="308381" y="161620"/>
                  <a:pt x="316154" y="138531"/>
                  <a:pt x="316154" y="117957"/>
                </a:cubicBezTo>
                <a:cubicBezTo>
                  <a:pt x="316154" y="113385"/>
                  <a:pt x="315696" y="108585"/>
                  <a:pt x="314782" y="103555"/>
                </a:cubicBezTo>
                <a:cubicBezTo>
                  <a:pt x="253974" y="114071"/>
                  <a:pt x="216713" y="120243"/>
                  <a:pt x="202997" y="122072"/>
                </a:cubicBezTo>
                <a:cubicBezTo>
                  <a:pt x="215798" y="129844"/>
                  <a:pt x="225057" y="136702"/>
                  <a:pt x="230771" y="142646"/>
                </a:cubicBezTo>
                <a:cubicBezTo>
                  <a:pt x="236487" y="148590"/>
                  <a:pt x="239344" y="154648"/>
                  <a:pt x="239344" y="160820"/>
                </a:cubicBezTo>
                <a:cubicBezTo>
                  <a:pt x="239344" y="166992"/>
                  <a:pt x="237858" y="172021"/>
                  <a:pt x="234886" y="175907"/>
                </a:cubicBezTo>
                <a:cubicBezTo>
                  <a:pt x="231914" y="179794"/>
                  <a:pt x="227914" y="181737"/>
                  <a:pt x="222885" y="181737"/>
                </a:cubicBezTo>
                <a:cubicBezTo>
                  <a:pt x="208254" y="181737"/>
                  <a:pt x="196824" y="162306"/>
                  <a:pt x="188595" y="123444"/>
                </a:cubicBezTo>
                <a:cubicBezTo>
                  <a:pt x="173964" y="124358"/>
                  <a:pt x="161163" y="122758"/>
                  <a:pt x="150190" y="118643"/>
                </a:cubicBezTo>
                <a:cubicBezTo>
                  <a:pt x="139217" y="114528"/>
                  <a:pt x="133731" y="110756"/>
                  <a:pt x="133731" y="107327"/>
                </a:cubicBezTo>
                <a:cubicBezTo>
                  <a:pt x="133731" y="103898"/>
                  <a:pt x="143218" y="101612"/>
                  <a:pt x="162191" y="100469"/>
                </a:cubicBezTo>
                <a:cubicBezTo>
                  <a:pt x="181165" y="99326"/>
                  <a:pt x="211341" y="95212"/>
                  <a:pt x="252717" y="88125"/>
                </a:cubicBezTo>
                <a:cubicBezTo>
                  <a:pt x="294094" y="81038"/>
                  <a:pt x="323469" y="74638"/>
                  <a:pt x="340842" y="68923"/>
                </a:cubicBezTo>
                <a:cubicBezTo>
                  <a:pt x="358216" y="63208"/>
                  <a:pt x="372846" y="60350"/>
                  <a:pt x="384734" y="60350"/>
                </a:cubicBezTo>
                <a:close/>
                <a:moveTo>
                  <a:pt x="266777" y="0"/>
                </a:moveTo>
                <a:cubicBezTo>
                  <a:pt x="285522" y="0"/>
                  <a:pt x="299695" y="4457"/>
                  <a:pt x="309297" y="13373"/>
                </a:cubicBezTo>
                <a:cubicBezTo>
                  <a:pt x="318898" y="22288"/>
                  <a:pt x="323698" y="30632"/>
                  <a:pt x="323698" y="38404"/>
                </a:cubicBezTo>
                <a:cubicBezTo>
                  <a:pt x="323698" y="46177"/>
                  <a:pt x="321984" y="52120"/>
                  <a:pt x="318555" y="56235"/>
                </a:cubicBezTo>
                <a:cubicBezTo>
                  <a:pt x="315126" y="60350"/>
                  <a:pt x="310325" y="62407"/>
                  <a:pt x="304153" y="62407"/>
                </a:cubicBezTo>
                <a:cubicBezTo>
                  <a:pt x="297981" y="62407"/>
                  <a:pt x="289866" y="58293"/>
                  <a:pt x="279807" y="50063"/>
                </a:cubicBezTo>
                <a:lnTo>
                  <a:pt x="250318" y="25374"/>
                </a:lnTo>
                <a:cubicBezTo>
                  <a:pt x="240717" y="17602"/>
                  <a:pt x="235916" y="11887"/>
                  <a:pt x="235916" y="8229"/>
                </a:cubicBezTo>
                <a:cubicBezTo>
                  <a:pt x="235916" y="2743"/>
                  <a:pt x="246203" y="0"/>
                  <a:pt x="266777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/>
          <p:cNvSpPr/>
          <p:nvPr/>
        </p:nvSpPr>
        <p:spPr>
          <a:xfrm>
            <a:off x="8891744" y="2120690"/>
            <a:ext cx="318211" cy="176936"/>
          </a:xfrm>
          <a:custGeom>
            <a:avLst/>
            <a:gdLst/>
            <a:ahLst/>
            <a:cxnLst/>
            <a:rect l="l" t="t" r="r" b="b"/>
            <a:pathLst>
              <a:path w="318211" h="176936">
                <a:moveTo>
                  <a:pt x="258547" y="0"/>
                </a:moveTo>
                <a:cubicBezTo>
                  <a:pt x="264948" y="0"/>
                  <a:pt x="276492" y="4572"/>
                  <a:pt x="293180" y="13716"/>
                </a:cubicBezTo>
                <a:cubicBezTo>
                  <a:pt x="309868" y="22860"/>
                  <a:pt x="318211" y="29718"/>
                  <a:pt x="318211" y="34290"/>
                </a:cubicBezTo>
                <a:cubicBezTo>
                  <a:pt x="318211" y="38862"/>
                  <a:pt x="314668" y="44234"/>
                  <a:pt x="307582" y="50406"/>
                </a:cubicBezTo>
                <a:cubicBezTo>
                  <a:pt x="300495" y="56578"/>
                  <a:pt x="291465" y="72923"/>
                  <a:pt x="280492" y="99441"/>
                </a:cubicBezTo>
                <a:cubicBezTo>
                  <a:pt x="261290" y="145161"/>
                  <a:pt x="246888" y="168021"/>
                  <a:pt x="237287" y="168021"/>
                </a:cubicBezTo>
                <a:cubicBezTo>
                  <a:pt x="234087" y="168021"/>
                  <a:pt x="229972" y="165506"/>
                  <a:pt x="224943" y="160477"/>
                </a:cubicBezTo>
                <a:cubicBezTo>
                  <a:pt x="219913" y="155448"/>
                  <a:pt x="213055" y="152933"/>
                  <a:pt x="204369" y="152933"/>
                </a:cubicBezTo>
                <a:cubicBezTo>
                  <a:pt x="195682" y="152933"/>
                  <a:pt x="179108" y="155677"/>
                  <a:pt x="154648" y="161163"/>
                </a:cubicBezTo>
                <a:cubicBezTo>
                  <a:pt x="130188" y="166649"/>
                  <a:pt x="105842" y="170307"/>
                  <a:pt x="81610" y="172136"/>
                </a:cubicBezTo>
                <a:cubicBezTo>
                  <a:pt x="77953" y="175336"/>
                  <a:pt x="74752" y="176936"/>
                  <a:pt x="72009" y="176936"/>
                </a:cubicBezTo>
                <a:cubicBezTo>
                  <a:pt x="65608" y="176936"/>
                  <a:pt x="59436" y="166192"/>
                  <a:pt x="53493" y="144704"/>
                </a:cubicBezTo>
                <a:cubicBezTo>
                  <a:pt x="39319" y="94412"/>
                  <a:pt x="25375" y="63779"/>
                  <a:pt x="11659" y="52807"/>
                </a:cubicBezTo>
                <a:cubicBezTo>
                  <a:pt x="3886" y="46863"/>
                  <a:pt x="0" y="41834"/>
                  <a:pt x="0" y="37719"/>
                </a:cubicBezTo>
                <a:cubicBezTo>
                  <a:pt x="0" y="33604"/>
                  <a:pt x="3201" y="31547"/>
                  <a:pt x="9601" y="31547"/>
                </a:cubicBezTo>
                <a:cubicBezTo>
                  <a:pt x="16002" y="31547"/>
                  <a:pt x="23089" y="32690"/>
                  <a:pt x="30861" y="34976"/>
                </a:cubicBezTo>
                <a:cubicBezTo>
                  <a:pt x="159334" y="16231"/>
                  <a:pt x="227800" y="5715"/>
                  <a:pt x="236258" y="3429"/>
                </a:cubicBezTo>
                <a:cubicBezTo>
                  <a:pt x="244716" y="1143"/>
                  <a:pt x="252146" y="0"/>
                  <a:pt x="258547" y="0"/>
                </a:cubicBezTo>
                <a:close/>
                <a:moveTo>
                  <a:pt x="226314" y="26746"/>
                </a:moveTo>
                <a:cubicBezTo>
                  <a:pt x="214884" y="26746"/>
                  <a:pt x="191224" y="29489"/>
                  <a:pt x="155334" y="34976"/>
                </a:cubicBezTo>
                <a:cubicBezTo>
                  <a:pt x="119444" y="40462"/>
                  <a:pt x="85725" y="44806"/>
                  <a:pt x="54178" y="48006"/>
                </a:cubicBezTo>
                <a:cubicBezTo>
                  <a:pt x="57836" y="58522"/>
                  <a:pt x="62179" y="73381"/>
                  <a:pt x="67209" y="92583"/>
                </a:cubicBezTo>
                <a:cubicBezTo>
                  <a:pt x="136703" y="75209"/>
                  <a:pt x="176365" y="66523"/>
                  <a:pt x="186195" y="66523"/>
                </a:cubicBezTo>
                <a:cubicBezTo>
                  <a:pt x="196025" y="66523"/>
                  <a:pt x="203911" y="67894"/>
                  <a:pt x="209855" y="70637"/>
                </a:cubicBezTo>
                <a:cubicBezTo>
                  <a:pt x="215799" y="73381"/>
                  <a:pt x="218770" y="76238"/>
                  <a:pt x="218770" y="79210"/>
                </a:cubicBezTo>
                <a:cubicBezTo>
                  <a:pt x="218770" y="82182"/>
                  <a:pt x="216370" y="84811"/>
                  <a:pt x="211570" y="87097"/>
                </a:cubicBezTo>
                <a:cubicBezTo>
                  <a:pt x="206769" y="89383"/>
                  <a:pt x="187909" y="92812"/>
                  <a:pt x="154991" y="97384"/>
                </a:cubicBezTo>
                <a:cubicBezTo>
                  <a:pt x="122073" y="101956"/>
                  <a:pt x="93726" y="104470"/>
                  <a:pt x="69952" y="104927"/>
                </a:cubicBezTo>
                <a:cubicBezTo>
                  <a:pt x="75438" y="128245"/>
                  <a:pt x="79324" y="145390"/>
                  <a:pt x="81610" y="156362"/>
                </a:cubicBezTo>
                <a:cubicBezTo>
                  <a:pt x="155677" y="140360"/>
                  <a:pt x="194310" y="132588"/>
                  <a:pt x="197511" y="133045"/>
                </a:cubicBezTo>
                <a:cubicBezTo>
                  <a:pt x="204826" y="133960"/>
                  <a:pt x="211227" y="134417"/>
                  <a:pt x="216713" y="134417"/>
                </a:cubicBezTo>
                <a:cubicBezTo>
                  <a:pt x="222199" y="134417"/>
                  <a:pt x="226657" y="131445"/>
                  <a:pt x="230086" y="125501"/>
                </a:cubicBezTo>
                <a:cubicBezTo>
                  <a:pt x="233515" y="119558"/>
                  <a:pt x="238316" y="106070"/>
                  <a:pt x="244488" y="85039"/>
                </a:cubicBezTo>
                <a:cubicBezTo>
                  <a:pt x="250660" y="64008"/>
                  <a:pt x="253746" y="50063"/>
                  <a:pt x="253746" y="43205"/>
                </a:cubicBezTo>
                <a:cubicBezTo>
                  <a:pt x="253746" y="36347"/>
                  <a:pt x="252032" y="31890"/>
                  <a:pt x="248603" y="29832"/>
                </a:cubicBezTo>
                <a:cubicBezTo>
                  <a:pt x="245174" y="27775"/>
                  <a:pt x="237744" y="26746"/>
                  <a:pt x="226314" y="26746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任意多边形: 形状 39"/>
          <p:cNvSpPr/>
          <p:nvPr/>
        </p:nvSpPr>
        <p:spPr>
          <a:xfrm>
            <a:off x="9908871" y="1892281"/>
            <a:ext cx="403251" cy="219457"/>
          </a:xfrm>
          <a:custGeom>
            <a:avLst/>
            <a:gdLst>
              <a:gd name="csX0" fmla="*/ 140817 w 403251"/>
              <a:gd name="csY0" fmla="*/ 116586 h 219457"/>
              <a:gd name="csX1" fmla="*/ 163220 w 403251"/>
              <a:gd name="csY1" fmla="*/ 126188 h 219457"/>
              <a:gd name="csX2" fmla="*/ 177393 w 403251"/>
              <a:gd name="csY2" fmla="*/ 146762 h 219457"/>
              <a:gd name="csX3" fmla="*/ 173735 w 403251"/>
              <a:gd name="csY3" fmla="*/ 157506 h 219457"/>
              <a:gd name="csX4" fmla="*/ 165049 w 403251"/>
              <a:gd name="csY4" fmla="*/ 162764 h 219457"/>
              <a:gd name="csX5" fmla="*/ 146989 w 403251"/>
              <a:gd name="csY5" fmla="*/ 144933 h 219457"/>
              <a:gd name="csX6" fmla="*/ 137159 w 403251"/>
              <a:gd name="csY6" fmla="*/ 121844 h 219457"/>
              <a:gd name="csX7" fmla="*/ 140817 w 403251"/>
              <a:gd name="csY7" fmla="*/ 116586 h 219457"/>
              <a:gd name="csX8" fmla="*/ 239573 w 403251"/>
              <a:gd name="csY8" fmla="*/ 85497 h 219457"/>
              <a:gd name="csX9" fmla="*/ 257404 w 403251"/>
              <a:gd name="csY9" fmla="*/ 92126 h 219457"/>
              <a:gd name="csX10" fmla="*/ 269748 w 403251"/>
              <a:gd name="csY10" fmla="*/ 102185 h 219457"/>
              <a:gd name="csX11" fmla="*/ 265176 w 403251"/>
              <a:gd name="csY11" fmla="*/ 111100 h 219457"/>
              <a:gd name="csX12" fmla="*/ 225857 w 403251"/>
              <a:gd name="csY12" fmla="*/ 166421 h 219457"/>
              <a:gd name="csX13" fmla="*/ 312725 w 403251"/>
              <a:gd name="csY13" fmla="*/ 152705 h 219457"/>
              <a:gd name="csX14" fmla="*/ 352959 w 403251"/>
              <a:gd name="csY14" fmla="*/ 147219 h 219457"/>
              <a:gd name="csX15" fmla="*/ 388163 w 403251"/>
              <a:gd name="csY15" fmla="*/ 154534 h 219457"/>
              <a:gd name="csX16" fmla="*/ 403251 w 403251"/>
              <a:gd name="csY16" fmla="*/ 169622 h 219457"/>
              <a:gd name="csX17" fmla="*/ 397764 w 403251"/>
              <a:gd name="csY17" fmla="*/ 176937 h 219457"/>
              <a:gd name="csX18" fmla="*/ 385191 w 403251"/>
              <a:gd name="csY18" fmla="*/ 179680 h 219457"/>
              <a:gd name="csX19" fmla="*/ 372161 w 403251"/>
              <a:gd name="csY19" fmla="*/ 178766 h 219457"/>
              <a:gd name="csX20" fmla="*/ 323241 w 403251"/>
              <a:gd name="csY20" fmla="*/ 176022 h 219457"/>
              <a:gd name="csX21" fmla="*/ 176022 w 403251"/>
              <a:gd name="csY21" fmla="*/ 190196 h 219457"/>
              <a:gd name="csX22" fmla="*/ 44349 w 403251"/>
              <a:gd name="csY22" fmla="*/ 217628 h 219457"/>
              <a:gd name="csX23" fmla="*/ 30633 w 403251"/>
              <a:gd name="csY23" fmla="*/ 219457 h 219457"/>
              <a:gd name="csX24" fmla="*/ 11888 w 403251"/>
              <a:gd name="csY24" fmla="*/ 213056 h 219457"/>
              <a:gd name="csX25" fmla="*/ 0 w 403251"/>
              <a:gd name="csY25" fmla="*/ 202311 h 219457"/>
              <a:gd name="csX26" fmla="*/ 11888 w 403251"/>
              <a:gd name="csY26" fmla="*/ 197511 h 219457"/>
              <a:gd name="csX27" fmla="*/ 209398 w 403251"/>
              <a:gd name="csY27" fmla="*/ 169164 h 219457"/>
              <a:gd name="csX28" fmla="*/ 227229 w 403251"/>
              <a:gd name="csY28" fmla="*/ 127559 h 219457"/>
              <a:gd name="csX29" fmla="*/ 234087 w 403251"/>
              <a:gd name="csY29" fmla="*/ 95327 h 219457"/>
              <a:gd name="csX30" fmla="*/ 239573 w 403251"/>
              <a:gd name="csY30" fmla="*/ 85497 h 219457"/>
              <a:gd name="csX31" fmla="*/ 283464 w 403251"/>
              <a:gd name="csY31" fmla="*/ 51664 h 219457"/>
              <a:gd name="csX32" fmla="*/ 303581 w 403251"/>
              <a:gd name="csY32" fmla="*/ 56007 h 219457"/>
              <a:gd name="csX33" fmla="*/ 310439 w 403251"/>
              <a:gd name="csY33" fmla="*/ 64466 h 219457"/>
              <a:gd name="csX34" fmla="*/ 283464 w 403251"/>
              <a:gd name="csY34" fmla="*/ 74981 h 219457"/>
              <a:gd name="csX35" fmla="*/ 224714 w 403251"/>
              <a:gd name="csY35" fmla="*/ 84354 h 219457"/>
              <a:gd name="csX36" fmla="*/ 158877 w 403251"/>
              <a:gd name="csY36" fmla="*/ 96698 h 219457"/>
              <a:gd name="csX37" fmla="*/ 127559 w 403251"/>
              <a:gd name="csY37" fmla="*/ 101042 h 219457"/>
              <a:gd name="csX38" fmla="*/ 108814 w 403251"/>
              <a:gd name="csY38" fmla="*/ 97841 h 219457"/>
              <a:gd name="csX39" fmla="*/ 101042 w 403251"/>
              <a:gd name="csY39" fmla="*/ 91212 h 219457"/>
              <a:gd name="csX40" fmla="*/ 110414 w 403251"/>
              <a:gd name="csY40" fmla="*/ 86640 h 219457"/>
              <a:gd name="csX41" fmla="*/ 161621 w 403251"/>
              <a:gd name="csY41" fmla="*/ 76353 h 219457"/>
              <a:gd name="csX42" fmla="*/ 235458 w 403251"/>
              <a:gd name="csY42" fmla="*/ 59436 h 219457"/>
              <a:gd name="csX43" fmla="*/ 283464 w 403251"/>
              <a:gd name="csY43" fmla="*/ 51664 h 219457"/>
              <a:gd name="csX44" fmla="*/ 174651 w 403251"/>
              <a:gd name="csY44" fmla="*/ 0 h 219457"/>
              <a:gd name="csX45" fmla="*/ 202083 w 403251"/>
              <a:gd name="csY45" fmla="*/ 3887 h 219457"/>
              <a:gd name="csX46" fmla="*/ 224028 w 403251"/>
              <a:gd name="csY46" fmla="*/ 16231 h 219457"/>
              <a:gd name="csX47" fmla="*/ 230886 w 403251"/>
              <a:gd name="csY47" fmla="*/ 32233 h 219457"/>
              <a:gd name="csX48" fmla="*/ 226543 w 403251"/>
              <a:gd name="csY48" fmla="*/ 43892 h 219457"/>
              <a:gd name="csX49" fmla="*/ 214199 w 403251"/>
              <a:gd name="csY49" fmla="*/ 48006 h 219457"/>
              <a:gd name="csX50" fmla="*/ 186309 w 403251"/>
              <a:gd name="csY50" fmla="*/ 28118 h 219457"/>
              <a:gd name="csX51" fmla="*/ 166421 w 403251"/>
              <a:gd name="csY51" fmla="*/ 4115 h 219457"/>
              <a:gd name="csX52" fmla="*/ 174651 w 403251"/>
              <a:gd name="csY52" fmla="*/ 0 h 2194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403251" h="219457">
                <a:moveTo>
                  <a:pt x="140817" y="116586"/>
                </a:moveTo>
                <a:cubicBezTo>
                  <a:pt x="146303" y="116586"/>
                  <a:pt x="153771" y="119787"/>
                  <a:pt x="163220" y="126188"/>
                </a:cubicBezTo>
                <a:cubicBezTo>
                  <a:pt x="172669" y="132588"/>
                  <a:pt x="177393" y="139446"/>
                  <a:pt x="177393" y="146762"/>
                </a:cubicBezTo>
                <a:cubicBezTo>
                  <a:pt x="177393" y="150419"/>
                  <a:pt x="176174" y="154001"/>
                  <a:pt x="173735" y="157506"/>
                </a:cubicBezTo>
                <a:cubicBezTo>
                  <a:pt x="171297" y="161011"/>
                  <a:pt x="168401" y="162764"/>
                  <a:pt x="165049" y="162764"/>
                </a:cubicBezTo>
                <a:cubicBezTo>
                  <a:pt x="159562" y="162764"/>
                  <a:pt x="153542" y="156820"/>
                  <a:pt x="146989" y="144933"/>
                </a:cubicBezTo>
                <a:cubicBezTo>
                  <a:pt x="140436" y="133046"/>
                  <a:pt x="137159" y="125349"/>
                  <a:pt x="137159" y="121844"/>
                </a:cubicBezTo>
                <a:cubicBezTo>
                  <a:pt x="137159" y="118339"/>
                  <a:pt x="138379" y="116586"/>
                  <a:pt x="140817" y="116586"/>
                </a:cubicBezTo>
                <a:close/>
                <a:moveTo>
                  <a:pt x="239573" y="85497"/>
                </a:moveTo>
                <a:cubicBezTo>
                  <a:pt x="243231" y="85497"/>
                  <a:pt x="249174" y="87707"/>
                  <a:pt x="257404" y="92126"/>
                </a:cubicBezTo>
                <a:cubicBezTo>
                  <a:pt x="265634" y="96546"/>
                  <a:pt x="269748" y="99899"/>
                  <a:pt x="269748" y="102185"/>
                </a:cubicBezTo>
                <a:cubicBezTo>
                  <a:pt x="269748" y="104471"/>
                  <a:pt x="268224" y="107442"/>
                  <a:pt x="265176" y="111100"/>
                </a:cubicBezTo>
                <a:cubicBezTo>
                  <a:pt x="250851" y="129693"/>
                  <a:pt x="237744" y="148133"/>
                  <a:pt x="225857" y="166421"/>
                </a:cubicBezTo>
                <a:lnTo>
                  <a:pt x="312725" y="152705"/>
                </a:lnTo>
                <a:cubicBezTo>
                  <a:pt x="334671" y="149048"/>
                  <a:pt x="348082" y="147219"/>
                  <a:pt x="352959" y="147219"/>
                </a:cubicBezTo>
                <a:cubicBezTo>
                  <a:pt x="366370" y="147219"/>
                  <a:pt x="378105" y="149657"/>
                  <a:pt x="388163" y="154534"/>
                </a:cubicBezTo>
                <a:cubicBezTo>
                  <a:pt x="398222" y="159411"/>
                  <a:pt x="403251" y="164440"/>
                  <a:pt x="403251" y="169622"/>
                </a:cubicBezTo>
                <a:cubicBezTo>
                  <a:pt x="403251" y="172670"/>
                  <a:pt x="401422" y="175108"/>
                  <a:pt x="397764" y="176937"/>
                </a:cubicBezTo>
                <a:cubicBezTo>
                  <a:pt x="394107" y="178766"/>
                  <a:pt x="389916" y="179680"/>
                  <a:pt x="385191" y="179680"/>
                </a:cubicBezTo>
                <a:cubicBezTo>
                  <a:pt x="380467" y="179680"/>
                  <a:pt x="376124" y="179375"/>
                  <a:pt x="372161" y="178766"/>
                </a:cubicBezTo>
                <a:cubicBezTo>
                  <a:pt x="356312" y="176937"/>
                  <a:pt x="340005" y="176022"/>
                  <a:pt x="323241" y="176022"/>
                </a:cubicBezTo>
                <a:cubicBezTo>
                  <a:pt x="285750" y="176022"/>
                  <a:pt x="236678" y="180747"/>
                  <a:pt x="176022" y="190196"/>
                </a:cubicBezTo>
                <a:cubicBezTo>
                  <a:pt x="115367" y="199644"/>
                  <a:pt x="71476" y="208789"/>
                  <a:pt x="44349" y="217628"/>
                </a:cubicBezTo>
                <a:cubicBezTo>
                  <a:pt x="39777" y="218847"/>
                  <a:pt x="35205" y="219457"/>
                  <a:pt x="30633" y="219457"/>
                </a:cubicBezTo>
                <a:cubicBezTo>
                  <a:pt x="26061" y="219457"/>
                  <a:pt x="19812" y="217323"/>
                  <a:pt x="11888" y="213056"/>
                </a:cubicBezTo>
                <a:cubicBezTo>
                  <a:pt x="3963" y="208789"/>
                  <a:pt x="0" y="205207"/>
                  <a:pt x="0" y="202311"/>
                </a:cubicBezTo>
                <a:cubicBezTo>
                  <a:pt x="0" y="199416"/>
                  <a:pt x="3963" y="197816"/>
                  <a:pt x="11888" y="197511"/>
                </a:cubicBezTo>
                <a:cubicBezTo>
                  <a:pt x="26213" y="197206"/>
                  <a:pt x="92050" y="187757"/>
                  <a:pt x="209398" y="169164"/>
                </a:cubicBezTo>
                <a:cubicBezTo>
                  <a:pt x="216713" y="156363"/>
                  <a:pt x="222657" y="142494"/>
                  <a:pt x="227229" y="127559"/>
                </a:cubicBezTo>
                <a:cubicBezTo>
                  <a:pt x="231801" y="112624"/>
                  <a:pt x="234087" y="101880"/>
                  <a:pt x="234087" y="95327"/>
                </a:cubicBezTo>
                <a:cubicBezTo>
                  <a:pt x="234087" y="88773"/>
                  <a:pt x="235916" y="85497"/>
                  <a:pt x="239573" y="85497"/>
                </a:cubicBezTo>
                <a:close/>
                <a:moveTo>
                  <a:pt x="283464" y="51664"/>
                </a:moveTo>
                <a:cubicBezTo>
                  <a:pt x="292304" y="51664"/>
                  <a:pt x="299009" y="53112"/>
                  <a:pt x="303581" y="56007"/>
                </a:cubicBezTo>
                <a:cubicBezTo>
                  <a:pt x="308153" y="58903"/>
                  <a:pt x="310439" y="61722"/>
                  <a:pt x="310439" y="64466"/>
                </a:cubicBezTo>
                <a:cubicBezTo>
                  <a:pt x="310439" y="69647"/>
                  <a:pt x="301448" y="73152"/>
                  <a:pt x="283464" y="74981"/>
                </a:cubicBezTo>
                <a:cubicBezTo>
                  <a:pt x="274625" y="75896"/>
                  <a:pt x="255042" y="79020"/>
                  <a:pt x="224714" y="84354"/>
                </a:cubicBezTo>
                <a:cubicBezTo>
                  <a:pt x="194387" y="89688"/>
                  <a:pt x="172441" y="93803"/>
                  <a:pt x="158877" y="96698"/>
                </a:cubicBezTo>
                <a:cubicBezTo>
                  <a:pt x="145314" y="99594"/>
                  <a:pt x="134874" y="101042"/>
                  <a:pt x="127559" y="101042"/>
                </a:cubicBezTo>
                <a:cubicBezTo>
                  <a:pt x="120244" y="101042"/>
                  <a:pt x="113996" y="99975"/>
                  <a:pt x="108814" y="97841"/>
                </a:cubicBezTo>
                <a:cubicBezTo>
                  <a:pt x="103632" y="95708"/>
                  <a:pt x="101042" y="93498"/>
                  <a:pt x="101042" y="91212"/>
                </a:cubicBezTo>
                <a:cubicBezTo>
                  <a:pt x="101042" y="88926"/>
                  <a:pt x="104166" y="87402"/>
                  <a:pt x="110414" y="86640"/>
                </a:cubicBezTo>
                <a:cubicBezTo>
                  <a:pt x="116663" y="85878"/>
                  <a:pt x="133731" y="82449"/>
                  <a:pt x="161621" y="76353"/>
                </a:cubicBezTo>
                <a:cubicBezTo>
                  <a:pt x="189510" y="70257"/>
                  <a:pt x="214122" y="64618"/>
                  <a:pt x="235458" y="59436"/>
                </a:cubicBezTo>
                <a:cubicBezTo>
                  <a:pt x="256794" y="54255"/>
                  <a:pt x="272796" y="51664"/>
                  <a:pt x="283464" y="51664"/>
                </a:cubicBezTo>
                <a:close/>
                <a:moveTo>
                  <a:pt x="174651" y="0"/>
                </a:moveTo>
                <a:cubicBezTo>
                  <a:pt x="182880" y="0"/>
                  <a:pt x="192024" y="1296"/>
                  <a:pt x="202083" y="3887"/>
                </a:cubicBezTo>
                <a:cubicBezTo>
                  <a:pt x="212141" y="6477"/>
                  <a:pt x="219456" y="10592"/>
                  <a:pt x="224028" y="16231"/>
                </a:cubicBezTo>
                <a:cubicBezTo>
                  <a:pt x="228600" y="21870"/>
                  <a:pt x="230886" y="27204"/>
                  <a:pt x="230886" y="32233"/>
                </a:cubicBezTo>
                <a:cubicBezTo>
                  <a:pt x="230886" y="37262"/>
                  <a:pt x="229439" y="41148"/>
                  <a:pt x="226543" y="43892"/>
                </a:cubicBezTo>
                <a:cubicBezTo>
                  <a:pt x="223647" y="46635"/>
                  <a:pt x="219533" y="48006"/>
                  <a:pt x="214199" y="48006"/>
                </a:cubicBezTo>
                <a:cubicBezTo>
                  <a:pt x="208865" y="48006"/>
                  <a:pt x="199568" y="41377"/>
                  <a:pt x="186309" y="28118"/>
                </a:cubicBezTo>
                <a:cubicBezTo>
                  <a:pt x="173051" y="14859"/>
                  <a:pt x="166421" y="6858"/>
                  <a:pt x="166421" y="4115"/>
                </a:cubicBezTo>
                <a:cubicBezTo>
                  <a:pt x="166421" y="1372"/>
                  <a:pt x="169164" y="0"/>
                  <a:pt x="17465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/>
          <p:cNvSpPr/>
          <p:nvPr/>
        </p:nvSpPr>
        <p:spPr>
          <a:xfrm>
            <a:off x="10019970" y="2107166"/>
            <a:ext cx="184252" cy="198424"/>
          </a:xfrm>
          <a:custGeom>
            <a:avLst/>
            <a:gdLst/>
            <a:ahLst/>
            <a:cxnLst/>
            <a:rect l="l" t="t" r="r" b="b"/>
            <a:pathLst>
              <a:path w="184252" h="198424">
                <a:moveTo>
                  <a:pt x="141732" y="0"/>
                </a:moveTo>
                <a:cubicBezTo>
                  <a:pt x="147828" y="0"/>
                  <a:pt x="156439" y="3352"/>
                  <a:pt x="167564" y="10058"/>
                </a:cubicBezTo>
                <a:cubicBezTo>
                  <a:pt x="178689" y="16764"/>
                  <a:pt x="184252" y="22402"/>
                  <a:pt x="184252" y="26974"/>
                </a:cubicBezTo>
                <a:cubicBezTo>
                  <a:pt x="184252" y="28498"/>
                  <a:pt x="183642" y="30175"/>
                  <a:pt x="182423" y="32004"/>
                </a:cubicBezTo>
                <a:cubicBezTo>
                  <a:pt x="177546" y="38709"/>
                  <a:pt x="174574" y="45643"/>
                  <a:pt x="173507" y="52806"/>
                </a:cubicBezTo>
                <a:cubicBezTo>
                  <a:pt x="172441" y="59969"/>
                  <a:pt x="171907" y="75895"/>
                  <a:pt x="171907" y="100584"/>
                </a:cubicBezTo>
                <a:cubicBezTo>
                  <a:pt x="171907" y="136550"/>
                  <a:pt x="168097" y="161848"/>
                  <a:pt x="160477" y="176479"/>
                </a:cubicBezTo>
                <a:cubicBezTo>
                  <a:pt x="152857" y="191109"/>
                  <a:pt x="146914" y="198424"/>
                  <a:pt x="142646" y="198424"/>
                </a:cubicBezTo>
                <a:cubicBezTo>
                  <a:pt x="138379" y="198424"/>
                  <a:pt x="134722" y="190652"/>
                  <a:pt x="131674" y="175107"/>
                </a:cubicBezTo>
                <a:cubicBezTo>
                  <a:pt x="128626" y="159562"/>
                  <a:pt x="125882" y="149885"/>
                  <a:pt x="123444" y="146075"/>
                </a:cubicBezTo>
                <a:cubicBezTo>
                  <a:pt x="121006" y="142265"/>
                  <a:pt x="117043" y="140360"/>
                  <a:pt x="111557" y="140360"/>
                </a:cubicBezTo>
                <a:cubicBezTo>
                  <a:pt x="98755" y="140360"/>
                  <a:pt x="74219" y="142951"/>
                  <a:pt x="37948" y="148132"/>
                </a:cubicBezTo>
                <a:cubicBezTo>
                  <a:pt x="37338" y="160324"/>
                  <a:pt x="36347" y="168630"/>
                  <a:pt x="34976" y="173050"/>
                </a:cubicBezTo>
                <a:cubicBezTo>
                  <a:pt x="33604" y="177469"/>
                  <a:pt x="31394" y="179679"/>
                  <a:pt x="28346" y="179679"/>
                </a:cubicBezTo>
                <a:cubicBezTo>
                  <a:pt x="25298" y="179679"/>
                  <a:pt x="22250" y="176555"/>
                  <a:pt x="19202" y="170307"/>
                </a:cubicBezTo>
                <a:cubicBezTo>
                  <a:pt x="16154" y="164058"/>
                  <a:pt x="14630" y="158496"/>
                  <a:pt x="14630" y="153619"/>
                </a:cubicBezTo>
                <a:cubicBezTo>
                  <a:pt x="14630" y="148742"/>
                  <a:pt x="14783" y="145237"/>
                  <a:pt x="15088" y="143103"/>
                </a:cubicBezTo>
                <a:cubicBezTo>
                  <a:pt x="16612" y="135788"/>
                  <a:pt x="17374" y="124891"/>
                  <a:pt x="17374" y="110413"/>
                </a:cubicBezTo>
                <a:cubicBezTo>
                  <a:pt x="17374" y="95935"/>
                  <a:pt x="16078" y="80543"/>
                  <a:pt x="13487" y="64236"/>
                </a:cubicBezTo>
                <a:cubicBezTo>
                  <a:pt x="10897" y="47929"/>
                  <a:pt x="8001" y="37795"/>
                  <a:pt x="4801" y="33832"/>
                </a:cubicBezTo>
                <a:cubicBezTo>
                  <a:pt x="1600" y="29870"/>
                  <a:pt x="0" y="26441"/>
                  <a:pt x="0" y="23545"/>
                </a:cubicBezTo>
                <a:cubicBezTo>
                  <a:pt x="0" y="20650"/>
                  <a:pt x="1905" y="19202"/>
                  <a:pt x="5715" y="19202"/>
                </a:cubicBezTo>
                <a:cubicBezTo>
                  <a:pt x="9525" y="19202"/>
                  <a:pt x="14326" y="20421"/>
                  <a:pt x="20117" y="22860"/>
                </a:cubicBezTo>
                <a:cubicBezTo>
                  <a:pt x="42977" y="21031"/>
                  <a:pt x="65761" y="17907"/>
                  <a:pt x="88468" y="13487"/>
                </a:cubicBezTo>
                <a:cubicBezTo>
                  <a:pt x="111176" y="9067"/>
                  <a:pt x="125044" y="5715"/>
                  <a:pt x="130073" y="3429"/>
                </a:cubicBezTo>
                <a:cubicBezTo>
                  <a:pt x="135103" y="1143"/>
                  <a:pt x="138989" y="0"/>
                  <a:pt x="141732" y="0"/>
                </a:cubicBezTo>
                <a:close/>
                <a:moveTo>
                  <a:pt x="124587" y="21945"/>
                </a:moveTo>
                <a:cubicBezTo>
                  <a:pt x="117424" y="21945"/>
                  <a:pt x="103327" y="23164"/>
                  <a:pt x="82296" y="25603"/>
                </a:cubicBezTo>
                <a:cubicBezTo>
                  <a:pt x="61265" y="28041"/>
                  <a:pt x="44958" y="30175"/>
                  <a:pt x="33376" y="32004"/>
                </a:cubicBezTo>
                <a:cubicBezTo>
                  <a:pt x="34290" y="40233"/>
                  <a:pt x="35357" y="55626"/>
                  <a:pt x="36576" y="78181"/>
                </a:cubicBezTo>
                <a:cubicBezTo>
                  <a:pt x="78943" y="67513"/>
                  <a:pt x="103175" y="62179"/>
                  <a:pt x="109271" y="62179"/>
                </a:cubicBezTo>
                <a:cubicBezTo>
                  <a:pt x="118110" y="62179"/>
                  <a:pt x="122530" y="64617"/>
                  <a:pt x="122530" y="69494"/>
                </a:cubicBezTo>
                <a:cubicBezTo>
                  <a:pt x="122530" y="71932"/>
                  <a:pt x="121082" y="74066"/>
                  <a:pt x="118186" y="75895"/>
                </a:cubicBezTo>
                <a:cubicBezTo>
                  <a:pt x="115291" y="77724"/>
                  <a:pt x="105994" y="80162"/>
                  <a:pt x="90297" y="83210"/>
                </a:cubicBezTo>
                <a:cubicBezTo>
                  <a:pt x="74600" y="86258"/>
                  <a:pt x="63017" y="87782"/>
                  <a:pt x="55550" y="87782"/>
                </a:cubicBezTo>
                <a:cubicBezTo>
                  <a:pt x="48082" y="87782"/>
                  <a:pt x="41910" y="87477"/>
                  <a:pt x="37033" y="86868"/>
                </a:cubicBezTo>
                <a:cubicBezTo>
                  <a:pt x="37948" y="116128"/>
                  <a:pt x="38252" y="132435"/>
                  <a:pt x="37948" y="135788"/>
                </a:cubicBezTo>
                <a:lnTo>
                  <a:pt x="82753" y="126644"/>
                </a:lnTo>
                <a:cubicBezTo>
                  <a:pt x="94336" y="124206"/>
                  <a:pt x="101194" y="122986"/>
                  <a:pt x="103327" y="122986"/>
                </a:cubicBezTo>
                <a:cubicBezTo>
                  <a:pt x="114910" y="122986"/>
                  <a:pt x="123901" y="126796"/>
                  <a:pt x="130302" y="134416"/>
                </a:cubicBezTo>
                <a:cubicBezTo>
                  <a:pt x="135179" y="140208"/>
                  <a:pt x="138151" y="143103"/>
                  <a:pt x="139217" y="143103"/>
                </a:cubicBezTo>
                <a:cubicBezTo>
                  <a:pt x="140284" y="143103"/>
                  <a:pt x="141122" y="142113"/>
                  <a:pt x="141732" y="140131"/>
                </a:cubicBezTo>
                <a:cubicBezTo>
                  <a:pt x="142342" y="138150"/>
                  <a:pt x="143256" y="131597"/>
                  <a:pt x="144475" y="120472"/>
                </a:cubicBezTo>
                <a:cubicBezTo>
                  <a:pt x="145694" y="109347"/>
                  <a:pt x="146304" y="96621"/>
                  <a:pt x="146304" y="82296"/>
                </a:cubicBezTo>
                <a:cubicBezTo>
                  <a:pt x="146304" y="67970"/>
                  <a:pt x="145771" y="55626"/>
                  <a:pt x="144704" y="45262"/>
                </a:cubicBezTo>
                <a:cubicBezTo>
                  <a:pt x="143637" y="34899"/>
                  <a:pt x="141808" y="28422"/>
                  <a:pt x="139217" y="25831"/>
                </a:cubicBezTo>
                <a:cubicBezTo>
                  <a:pt x="136627" y="23241"/>
                  <a:pt x="131750" y="21945"/>
                  <a:pt x="124587" y="219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" name="任意多边形: 形状 42"/>
          <p:cNvSpPr/>
          <p:nvPr/>
        </p:nvSpPr>
        <p:spPr>
          <a:xfrm>
            <a:off x="8843713" y="2276643"/>
            <a:ext cx="469772" cy="192710"/>
          </a:xfrm>
          <a:custGeom>
            <a:avLst/>
            <a:gdLst>
              <a:gd name="csX0" fmla="*/ 198883 w 469772"/>
              <a:gd name="csY0" fmla="*/ 35664 h 192710"/>
              <a:gd name="csX1" fmla="*/ 243460 w 469772"/>
              <a:gd name="csY1" fmla="*/ 46637 h 192710"/>
              <a:gd name="csX2" fmla="*/ 262663 w 469772"/>
              <a:gd name="csY2" fmla="*/ 78869 h 192710"/>
              <a:gd name="csX3" fmla="*/ 247918 w 469772"/>
              <a:gd name="csY3" fmla="*/ 94643 h 192710"/>
              <a:gd name="csX4" fmla="*/ 210542 w 469772"/>
              <a:gd name="csY4" fmla="*/ 71326 h 192710"/>
              <a:gd name="csX5" fmla="*/ 187910 w 469772"/>
              <a:gd name="csY5" fmla="*/ 41836 h 192710"/>
              <a:gd name="csX6" fmla="*/ 198883 w 469772"/>
              <a:gd name="csY6" fmla="*/ 35664 h 192710"/>
              <a:gd name="csX7" fmla="*/ 93956 w 469772"/>
              <a:gd name="csY7" fmla="*/ 29490 h 192710"/>
              <a:gd name="csX8" fmla="*/ 103900 w 469772"/>
              <a:gd name="csY8" fmla="*/ 35319 h 192710"/>
              <a:gd name="csX9" fmla="*/ 111787 w 469772"/>
              <a:gd name="csY9" fmla="*/ 48006 h 192710"/>
              <a:gd name="csX10" fmla="*/ 159107 w 469772"/>
              <a:gd name="csY10" fmla="*/ 124473 h 192710"/>
              <a:gd name="csX11" fmla="*/ 260605 w 469772"/>
              <a:gd name="csY11" fmla="*/ 152934 h 192710"/>
              <a:gd name="csX12" fmla="*/ 315812 w 469772"/>
              <a:gd name="csY12" fmla="*/ 147447 h 192710"/>
              <a:gd name="csX13" fmla="*/ 345644 w 469772"/>
              <a:gd name="csY13" fmla="*/ 133046 h 192710"/>
              <a:gd name="csX14" fmla="*/ 321641 w 469772"/>
              <a:gd name="csY14" fmla="*/ 80925 h 192710"/>
              <a:gd name="csX15" fmla="*/ 318898 w 469772"/>
              <a:gd name="csY15" fmla="*/ 73038 h 192710"/>
              <a:gd name="csX16" fmla="*/ 321641 w 469772"/>
              <a:gd name="csY16" fmla="*/ 69952 h 192710"/>
              <a:gd name="csX17" fmla="*/ 330557 w 469772"/>
              <a:gd name="csY17" fmla="*/ 74753 h 192710"/>
              <a:gd name="csX18" fmla="*/ 414910 w 469772"/>
              <a:gd name="csY18" fmla="*/ 138532 h 192710"/>
              <a:gd name="csX19" fmla="*/ 421082 w 469772"/>
              <a:gd name="csY19" fmla="*/ 148819 h 192710"/>
              <a:gd name="csX20" fmla="*/ 378220 w 469772"/>
              <a:gd name="csY20" fmla="*/ 178651 h 192710"/>
              <a:gd name="csX21" fmla="*/ 288037 w 469772"/>
              <a:gd name="csY21" fmla="*/ 192710 h 192710"/>
              <a:gd name="csX22" fmla="*/ 177623 w 469772"/>
              <a:gd name="csY22" fmla="*/ 171107 h 192710"/>
              <a:gd name="csX23" fmla="*/ 109729 w 469772"/>
              <a:gd name="csY23" fmla="*/ 104242 h 192710"/>
              <a:gd name="csX24" fmla="*/ 89841 w 469772"/>
              <a:gd name="csY24" fmla="*/ 38405 h 192710"/>
              <a:gd name="csX25" fmla="*/ 93956 w 469772"/>
              <a:gd name="csY25" fmla="*/ 29490 h 192710"/>
              <a:gd name="csX26" fmla="*/ 43206 w 469772"/>
              <a:gd name="csY26" fmla="*/ 26061 h 192710"/>
              <a:gd name="csX27" fmla="*/ 52121 w 469772"/>
              <a:gd name="csY27" fmla="*/ 42863 h 192710"/>
              <a:gd name="csX28" fmla="*/ 55550 w 469772"/>
              <a:gd name="csY28" fmla="*/ 69952 h 192710"/>
              <a:gd name="csX29" fmla="*/ 42177 w 469772"/>
              <a:gd name="csY29" fmla="*/ 133731 h 192710"/>
              <a:gd name="csX30" fmla="*/ 22289 w 469772"/>
              <a:gd name="csY30" fmla="*/ 162535 h 192710"/>
              <a:gd name="csX31" fmla="*/ 7887 w 469772"/>
              <a:gd name="csY31" fmla="*/ 148476 h 192710"/>
              <a:gd name="csX32" fmla="*/ 0 w 469772"/>
              <a:gd name="csY32" fmla="*/ 124130 h 192710"/>
              <a:gd name="csX33" fmla="*/ 12345 w 469772"/>
              <a:gd name="csY33" fmla="*/ 90869 h 192710"/>
              <a:gd name="csX34" fmla="*/ 34976 w 469772"/>
              <a:gd name="csY34" fmla="*/ 35662 h 192710"/>
              <a:gd name="csX35" fmla="*/ 43206 w 469772"/>
              <a:gd name="csY35" fmla="*/ 26061 h 192710"/>
              <a:gd name="csX36" fmla="*/ 361416 w 469772"/>
              <a:gd name="csY36" fmla="*/ 0 h 192710"/>
              <a:gd name="csX37" fmla="*/ 440283 w 469772"/>
              <a:gd name="csY37" fmla="*/ 14745 h 192710"/>
              <a:gd name="csX38" fmla="*/ 469772 w 469772"/>
              <a:gd name="csY38" fmla="*/ 58293 h 192710"/>
              <a:gd name="csX39" fmla="*/ 456742 w 469772"/>
              <a:gd name="csY39" fmla="*/ 76124 h 192710"/>
              <a:gd name="csX40" fmla="*/ 417994 w 469772"/>
              <a:gd name="csY40" fmla="*/ 58979 h 192710"/>
              <a:gd name="csX41" fmla="*/ 366902 w 469772"/>
              <a:gd name="csY41" fmla="*/ 26404 h 192710"/>
              <a:gd name="csX42" fmla="*/ 341528 w 469772"/>
              <a:gd name="csY42" fmla="*/ 5487 h 192710"/>
              <a:gd name="csX43" fmla="*/ 361416 w 469772"/>
              <a:gd name="csY43" fmla="*/ 0 h 1927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469772" h="192710">
                <a:moveTo>
                  <a:pt x="198883" y="35664"/>
                </a:moveTo>
                <a:cubicBezTo>
                  <a:pt x="215800" y="35664"/>
                  <a:pt x="230659" y="39322"/>
                  <a:pt x="243460" y="46637"/>
                </a:cubicBezTo>
                <a:cubicBezTo>
                  <a:pt x="256262" y="53952"/>
                  <a:pt x="262663" y="64696"/>
                  <a:pt x="262663" y="78869"/>
                </a:cubicBezTo>
                <a:cubicBezTo>
                  <a:pt x="262663" y="89385"/>
                  <a:pt x="257748" y="94643"/>
                  <a:pt x="247918" y="94643"/>
                </a:cubicBezTo>
                <a:cubicBezTo>
                  <a:pt x="238088" y="94643"/>
                  <a:pt x="225629" y="86870"/>
                  <a:pt x="210542" y="71326"/>
                </a:cubicBezTo>
                <a:cubicBezTo>
                  <a:pt x="195454" y="55781"/>
                  <a:pt x="187910" y="45951"/>
                  <a:pt x="187910" y="41836"/>
                </a:cubicBezTo>
                <a:cubicBezTo>
                  <a:pt x="187910" y="37721"/>
                  <a:pt x="191568" y="35664"/>
                  <a:pt x="198883" y="35664"/>
                </a:cubicBezTo>
                <a:close/>
                <a:moveTo>
                  <a:pt x="93956" y="29490"/>
                </a:moveTo>
                <a:cubicBezTo>
                  <a:pt x="96699" y="29490"/>
                  <a:pt x="100014" y="31433"/>
                  <a:pt x="103900" y="35319"/>
                </a:cubicBezTo>
                <a:cubicBezTo>
                  <a:pt x="107786" y="39205"/>
                  <a:pt x="110415" y="43434"/>
                  <a:pt x="111787" y="48006"/>
                </a:cubicBezTo>
                <a:cubicBezTo>
                  <a:pt x="120931" y="80010"/>
                  <a:pt x="136704" y="105499"/>
                  <a:pt x="159107" y="124473"/>
                </a:cubicBezTo>
                <a:cubicBezTo>
                  <a:pt x="181510" y="143447"/>
                  <a:pt x="215342" y="152934"/>
                  <a:pt x="260605" y="152934"/>
                </a:cubicBezTo>
                <a:cubicBezTo>
                  <a:pt x="277522" y="152934"/>
                  <a:pt x="295924" y="151105"/>
                  <a:pt x="315812" y="147447"/>
                </a:cubicBezTo>
                <a:cubicBezTo>
                  <a:pt x="335700" y="143790"/>
                  <a:pt x="345644" y="138989"/>
                  <a:pt x="345644" y="133046"/>
                </a:cubicBezTo>
                <a:cubicBezTo>
                  <a:pt x="345644" y="127102"/>
                  <a:pt x="337643" y="109728"/>
                  <a:pt x="321641" y="80925"/>
                </a:cubicBezTo>
                <a:cubicBezTo>
                  <a:pt x="319813" y="77724"/>
                  <a:pt x="318898" y="75095"/>
                  <a:pt x="318898" y="73038"/>
                </a:cubicBezTo>
                <a:cubicBezTo>
                  <a:pt x="318898" y="70981"/>
                  <a:pt x="319813" y="69952"/>
                  <a:pt x="321641" y="69952"/>
                </a:cubicBezTo>
                <a:cubicBezTo>
                  <a:pt x="323927" y="69952"/>
                  <a:pt x="326899" y="71552"/>
                  <a:pt x="330557" y="74753"/>
                </a:cubicBezTo>
                <a:cubicBezTo>
                  <a:pt x="358446" y="100813"/>
                  <a:pt x="386564" y="122073"/>
                  <a:pt x="414910" y="138532"/>
                </a:cubicBezTo>
                <a:cubicBezTo>
                  <a:pt x="419025" y="140818"/>
                  <a:pt x="421082" y="144247"/>
                  <a:pt x="421082" y="148819"/>
                </a:cubicBezTo>
                <a:cubicBezTo>
                  <a:pt x="421082" y="159335"/>
                  <a:pt x="406795" y="169279"/>
                  <a:pt x="378220" y="178651"/>
                </a:cubicBezTo>
                <a:cubicBezTo>
                  <a:pt x="349645" y="188024"/>
                  <a:pt x="319584" y="192710"/>
                  <a:pt x="288037" y="192710"/>
                </a:cubicBezTo>
                <a:cubicBezTo>
                  <a:pt x="246432" y="192710"/>
                  <a:pt x="209627" y="185509"/>
                  <a:pt x="177623" y="171107"/>
                </a:cubicBezTo>
                <a:cubicBezTo>
                  <a:pt x="145619" y="156706"/>
                  <a:pt x="122988" y="134417"/>
                  <a:pt x="109729" y="104242"/>
                </a:cubicBezTo>
                <a:cubicBezTo>
                  <a:pt x="96470" y="74067"/>
                  <a:pt x="89841" y="52121"/>
                  <a:pt x="89841" y="38405"/>
                </a:cubicBezTo>
                <a:cubicBezTo>
                  <a:pt x="89841" y="32462"/>
                  <a:pt x="91213" y="29490"/>
                  <a:pt x="93956" y="29490"/>
                </a:cubicBezTo>
                <a:close/>
                <a:moveTo>
                  <a:pt x="43206" y="26061"/>
                </a:moveTo>
                <a:cubicBezTo>
                  <a:pt x="46863" y="26061"/>
                  <a:pt x="49835" y="31661"/>
                  <a:pt x="52121" y="42863"/>
                </a:cubicBezTo>
                <a:cubicBezTo>
                  <a:pt x="54407" y="54064"/>
                  <a:pt x="55550" y="63094"/>
                  <a:pt x="55550" y="69952"/>
                </a:cubicBezTo>
                <a:cubicBezTo>
                  <a:pt x="55550" y="93269"/>
                  <a:pt x="51092" y="114529"/>
                  <a:pt x="42177" y="133731"/>
                </a:cubicBezTo>
                <a:cubicBezTo>
                  <a:pt x="33262" y="152934"/>
                  <a:pt x="26632" y="162535"/>
                  <a:pt x="22289" y="162535"/>
                </a:cubicBezTo>
                <a:cubicBezTo>
                  <a:pt x="17945" y="162535"/>
                  <a:pt x="13145" y="157849"/>
                  <a:pt x="7887" y="148476"/>
                </a:cubicBezTo>
                <a:cubicBezTo>
                  <a:pt x="2629" y="139103"/>
                  <a:pt x="0" y="130988"/>
                  <a:pt x="0" y="124130"/>
                </a:cubicBezTo>
                <a:cubicBezTo>
                  <a:pt x="0" y="117272"/>
                  <a:pt x="4115" y="106185"/>
                  <a:pt x="12345" y="90869"/>
                </a:cubicBezTo>
                <a:cubicBezTo>
                  <a:pt x="20574" y="75553"/>
                  <a:pt x="28118" y="57150"/>
                  <a:pt x="34976" y="35662"/>
                </a:cubicBezTo>
                <a:cubicBezTo>
                  <a:pt x="36805" y="29261"/>
                  <a:pt x="39548" y="26061"/>
                  <a:pt x="43206" y="26061"/>
                </a:cubicBezTo>
                <a:close/>
                <a:moveTo>
                  <a:pt x="361416" y="0"/>
                </a:moveTo>
                <a:cubicBezTo>
                  <a:pt x="394334" y="0"/>
                  <a:pt x="420623" y="4915"/>
                  <a:pt x="440283" y="14745"/>
                </a:cubicBezTo>
                <a:cubicBezTo>
                  <a:pt x="459942" y="24575"/>
                  <a:pt x="469772" y="39091"/>
                  <a:pt x="469772" y="58293"/>
                </a:cubicBezTo>
                <a:cubicBezTo>
                  <a:pt x="469772" y="70181"/>
                  <a:pt x="465429" y="76124"/>
                  <a:pt x="456742" y="76124"/>
                </a:cubicBezTo>
                <a:cubicBezTo>
                  <a:pt x="448055" y="76124"/>
                  <a:pt x="435139" y="70409"/>
                  <a:pt x="417994" y="58979"/>
                </a:cubicBezTo>
                <a:cubicBezTo>
                  <a:pt x="400849" y="47549"/>
                  <a:pt x="383819" y="36691"/>
                  <a:pt x="366902" y="26404"/>
                </a:cubicBezTo>
                <a:cubicBezTo>
                  <a:pt x="349986" y="16117"/>
                  <a:pt x="341528" y="9144"/>
                  <a:pt x="341528" y="5487"/>
                </a:cubicBezTo>
                <a:cubicBezTo>
                  <a:pt x="341528" y="1829"/>
                  <a:pt x="348157" y="0"/>
                  <a:pt x="361416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727683" y="176961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音</a:t>
            </a:r>
          </a:p>
        </p:txBody>
      </p:sp>
      <p:sp>
        <p:nvSpPr>
          <p:cNvPr id="41" name="任意多边形: 形状 40"/>
          <p:cNvSpPr/>
          <p:nvPr/>
        </p:nvSpPr>
        <p:spPr>
          <a:xfrm>
            <a:off x="9908871" y="1892503"/>
            <a:ext cx="403251" cy="219457"/>
          </a:xfrm>
          <a:custGeom>
            <a:avLst/>
            <a:gdLst>
              <a:gd name="csX0" fmla="*/ 140817 w 403251"/>
              <a:gd name="csY0" fmla="*/ 116586 h 219457"/>
              <a:gd name="csX1" fmla="*/ 163220 w 403251"/>
              <a:gd name="csY1" fmla="*/ 126188 h 219457"/>
              <a:gd name="csX2" fmla="*/ 177393 w 403251"/>
              <a:gd name="csY2" fmla="*/ 146762 h 219457"/>
              <a:gd name="csX3" fmla="*/ 173735 w 403251"/>
              <a:gd name="csY3" fmla="*/ 157506 h 219457"/>
              <a:gd name="csX4" fmla="*/ 165049 w 403251"/>
              <a:gd name="csY4" fmla="*/ 162764 h 219457"/>
              <a:gd name="csX5" fmla="*/ 146989 w 403251"/>
              <a:gd name="csY5" fmla="*/ 144933 h 219457"/>
              <a:gd name="csX6" fmla="*/ 137159 w 403251"/>
              <a:gd name="csY6" fmla="*/ 121844 h 219457"/>
              <a:gd name="csX7" fmla="*/ 140817 w 403251"/>
              <a:gd name="csY7" fmla="*/ 116586 h 219457"/>
              <a:gd name="csX8" fmla="*/ 239573 w 403251"/>
              <a:gd name="csY8" fmla="*/ 85497 h 219457"/>
              <a:gd name="csX9" fmla="*/ 257404 w 403251"/>
              <a:gd name="csY9" fmla="*/ 92126 h 219457"/>
              <a:gd name="csX10" fmla="*/ 269748 w 403251"/>
              <a:gd name="csY10" fmla="*/ 102185 h 219457"/>
              <a:gd name="csX11" fmla="*/ 265176 w 403251"/>
              <a:gd name="csY11" fmla="*/ 111100 h 219457"/>
              <a:gd name="csX12" fmla="*/ 225857 w 403251"/>
              <a:gd name="csY12" fmla="*/ 166421 h 219457"/>
              <a:gd name="csX13" fmla="*/ 312725 w 403251"/>
              <a:gd name="csY13" fmla="*/ 152705 h 219457"/>
              <a:gd name="csX14" fmla="*/ 352959 w 403251"/>
              <a:gd name="csY14" fmla="*/ 147219 h 219457"/>
              <a:gd name="csX15" fmla="*/ 388163 w 403251"/>
              <a:gd name="csY15" fmla="*/ 154534 h 219457"/>
              <a:gd name="csX16" fmla="*/ 403251 w 403251"/>
              <a:gd name="csY16" fmla="*/ 169622 h 219457"/>
              <a:gd name="csX17" fmla="*/ 397764 w 403251"/>
              <a:gd name="csY17" fmla="*/ 176937 h 219457"/>
              <a:gd name="csX18" fmla="*/ 385191 w 403251"/>
              <a:gd name="csY18" fmla="*/ 179680 h 219457"/>
              <a:gd name="csX19" fmla="*/ 372161 w 403251"/>
              <a:gd name="csY19" fmla="*/ 178766 h 219457"/>
              <a:gd name="csX20" fmla="*/ 323241 w 403251"/>
              <a:gd name="csY20" fmla="*/ 176022 h 219457"/>
              <a:gd name="csX21" fmla="*/ 176022 w 403251"/>
              <a:gd name="csY21" fmla="*/ 190196 h 219457"/>
              <a:gd name="csX22" fmla="*/ 44349 w 403251"/>
              <a:gd name="csY22" fmla="*/ 217628 h 219457"/>
              <a:gd name="csX23" fmla="*/ 30633 w 403251"/>
              <a:gd name="csY23" fmla="*/ 219457 h 219457"/>
              <a:gd name="csX24" fmla="*/ 11888 w 403251"/>
              <a:gd name="csY24" fmla="*/ 213056 h 219457"/>
              <a:gd name="csX25" fmla="*/ 0 w 403251"/>
              <a:gd name="csY25" fmla="*/ 202311 h 219457"/>
              <a:gd name="csX26" fmla="*/ 11888 w 403251"/>
              <a:gd name="csY26" fmla="*/ 197511 h 219457"/>
              <a:gd name="csX27" fmla="*/ 209398 w 403251"/>
              <a:gd name="csY27" fmla="*/ 169164 h 219457"/>
              <a:gd name="csX28" fmla="*/ 227229 w 403251"/>
              <a:gd name="csY28" fmla="*/ 127559 h 219457"/>
              <a:gd name="csX29" fmla="*/ 234087 w 403251"/>
              <a:gd name="csY29" fmla="*/ 95327 h 219457"/>
              <a:gd name="csX30" fmla="*/ 239573 w 403251"/>
              <a:gd name="csY30" fmla="*/ 85497 h 219457"/>
              <a:gd name="csX31" fmla="*/ 283464 w 403251"/>
              <a:gd name="csY31" fmla="*/ 51664 h 219457"/>
              <a:gd name="csX32" fmla="*/ 303581 w 403251"/>
              <a:gd name="csY32" fmla="*/ 56007 h 219457"/>
              <a:gd name="csX33" fmla="*/ 310439 w 403251"/>
              <a:gd name="csY33" fmla="*/ 64466 h 219457"/>
              <a:gd name="csX34" fmla="*/ 283464 w 403251"/>
              <a:gd name="csY34" fmla="*/ 74981 h 219457"/>
              <a:gd name="csX35" fmla="*/ 224714 w 403251"/>
              <a:gd name="csY35" fmla="*/ 84354 h 219457"/>
              <a:gd name="csX36" fmla="*/ 158877 w 403251"/>
              <a:gd name="csY36" fmla="*/ 96698 h 219457"/>
              <a:gd name="csX37" fmla="*/ 127559 w 403251"/>
              <a:gd name="csY37" fmla="*/ 101042 h 219457"/>
              <a:gd name="csX38" fmla="*/ 108814 w 403251"/>
              <a:gd name="csY38" fmla="*/ 97841 h 219457"/>
              <a:gd name="csX39" fmla="*/ 101042 w 403251"/>
              <a:gd name="csY39" fmla="*/ 91212 h 219457"/>
              <a:gd name="csX40" fmla="*/ 110414 w 403251"/>
              <a:gd name="csY40" fmla="*/ 86640 h 219457"/>
              <a:gd name="csX41" fmla="*/ 161621 w 403251"/>
              <a:gd name="csY41" fmla="*/ 76353 h 219457"/>
              <a:gd name="csX42" fmla="*/ 235458 w 403251"/>
              <a:gd name="csY42" fmla="*/ 59436 h 219457"/>
              <a:gd name="csX43" fmla="*/ 283464 w 403251"/>
              <a:gd name="csY43" fmla="*/ 51664 h 219457"/>
              <a:gd name="csX44" fmla="*/ 174651 w 403251"/>
              <a:gd name="csY44" fmla="*/ 0 h 219457"/>
              <a:gd name="csX45" fmla="*/ 202083 w 403251"/>
              <a:gd name="csY45" fmla="*/ 3887 h 219457"/>
              <a:gd name="csX46" fmla="*/ 224028 w 403251"/>
              <a:gd name="csY46" fmla="*/ 16231 h 219457"/>
              <a:gd name="csX47" fmla="*/ 230886 w 403251"/>
              <a:gd name="csY47" fmla="*/ 32233 h 219457"/>
              <a:gd name="csX48" fmla="*/ 226543 w 403251"/>
              <a:gd name="csY48" fmla="*/ 43892 h 219457"/>
              <a:gd name="csX49" fmla="*/ 214199 w 403251"/>
              <a:gd name="csY49" fmla="*/ 48006 h 219457"/>
              <a:gd name="csX50" fmla="*/ 186309 w 403251"/>
              <a:gd name="csY50" fmla="*/ 28118 h 219457"/>
              <a:gd name="csX51" fmla="*/ 166421 w 403251"/>
              <a:gd name="csY51" fmla="*/ 4115 h 219457"/>
              <a:gd name="csX52" fmla="*/ 174651 w 403251"/>
              <a:gd name="csY52" fmla="*/ 0 h 2194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403251" h="219457">
                <a:moveTo>
                  <a:pt x="140817" y="116586"/>
                </a:moveTo>
                <a:cubicBezTo>
                  <a:pt x="146303" y="116586"/>
                  <a:pt x="153771" y="119787"/>
                  <a:pt x="163220" y="126188"/>
                </a:cubicBezTo>
                <a:cubicBezTo>
                  <a:pt x="172669" y="132588"/>
                  <a:pt x="177393" y="139446"/>
                  <a:pt x="177393" y="146762"/>
                </a:cubicBezTo>
                <a:cubicBezTo>
                  <a:pt x="177393" y="150419"/>
                  <a:pt x="176174" y="154001"/>
                  <a:pt x="173735" y="157506"/>
                </a:cubicBezTo>
                <a:cubicBezTo>
                  <a:pt x="171297" y="161011"/>
                  <a:pt x="168401" y="162764"/>
                  <a:pt x="165049" y="162764"/>
                </a:cubicBezTo>
                <a:cubicBezTo>
                  <a:pt x="159562" y="162764"/>
                  <a:pt x="153542" y="156820"/>
                  <a:pt x="146989" y="144933"/>
                </a:cubicBezTo>
                <a:cubicBezTo>
                  <a:pt x="140436" y="133046"/>
                  <a:pt x="137159" y="125349"/>
                  <a:pt x="137159" y="121844"/>
                </a:cubicBezTo>
                <a:cubicBezTo>
                  <a:pt x="137159" y="118339"/>
                  <a:pt x="138379" y="116586"/>
                  <a:pt x="140817" y="116586"/>
                </a:cubicBezTo>
                <a:close/>
                <a:moveTo>
                  <a:pt x="239573" y="85497"/>
                </a:moveTo>
                <a:cubicBezTo>
                  <a:pt x="243231" y="85497"/>
                  <a:pt x="249174" y="87707"/>
                  <a:pt x="257404" y="92126"/>
                </a:cubicBezTo>
                <a:cubicBezTo>
                  <a:pt x="265634" y="96546"/>
                  <a:pt x="269748" y="99899"/>
                  <a:pt x="269748" y="102185"/>
                </a:cubicBezTo>
                <a:cubicBezTo>
                  <a:pt x="269748" y="104471"/>
                  <a:pt x="268224" y="107442"/>
                  <a:pt x="265176" y="111100"/>
                </a:cubicBezTo>
                <a:cubicBezTo>
                  <a:pt x="250851" y="129693"/>
                  <a:pt x="237744" y="148133"/>
                  <a:pt x="225857" y="166421"/>
                </a:cubicBezTo>
                <a:lnTo>
                  <a:pt x="312725" y="152705"/>
                </a:lnTo>
                <a:cubicBezTo>
                  <a:pt x="334671" y="149048"/>
                  <a:pt x="348082" y="147219"/>
                  <a:pt x="352959" y="147219"/>
                </a:cubicBezTo>
                <a:cubicBezTo>
                  <a:pt x="366370" y="147219"/>
                  <a:pt x="378105" y="149657"/>
                  <a:pt x="388163" y="154534"/>
                </a:cubicBezTo>
                <a:cubicBezTo>
                  <a:pt x="398222" y="159411"/>
                  <a:pt x="403251" y="164440"/>
                  <a:pt x="403251" y="169622"/>
                </a:cubicBezTo>
                <a:cubicBezTo>
                  <a:pt x="403251" y="172670"/>
                  <a:pt x="401422" y="175108"/>
                  <a:pt x="397764" y="176937"/>
                </a:cubicBezTo>
                <a:cubicBezTo>
                  <a:pt x="394107" y="178766"/>
                  <a:pt x="389916" y="179680"/>
                  <a:pt x="385191" y="179680"/>
                </a:cubicBezTo>
                <a:cubicBezTo>
                  <a:pt x="380467" y="179680"/>
                  <a:pt x="376124" y="179375"/>
                  <a:pt x="372161" y="178766"/>
                </a:cubicBezTo>
                <a:cubicBezTo>
                  <a:pt x="356312" y="176937"/>
                  <a:pt x="340005" y="176022"/>
                  <a:pt x="323241" y="176022"/>
                </a:cubicBezTo>
                <a:cubicBezTo>
                  <a:pt x="285750" y="176022"/>
                  <a:pt x="236678" y="180747"/>
                  <a:pt x="176022" y="190196"/>
                </a:cubicBezTo>
                <a:cubicBezTo>
                  <a:pt x="115367" y="199644"/>
                  <a:pt x="71476" y="208789"/>
                  <a:pt x="44349" y="217628"/>
                </a:cubicBezTo>
                <a:cubicBezTo>
                  <a:pt x="39777" y="218847"/>
                  <a:pt x="35205" y="219457"/>
                  <a:pt x="30633" y="219457"/>
                </a:cubicBezTo>
                <a:cubicBezTo>
                  <a:pt x="26061" y="219457"/>
                  <a:pt x="19812" y="217323"/>
                  <a:pt x="11888" y="213056"/>
                </a:cubicBezTo>
                <a:cubicBezTo>
                  <a:pt x="3963" y="208789"/>
                  <a:pt x="0" y="205207"/>
                  <a:pt x="0" y="202311"/>
                </a:cubicBezTo>
                <a:cubicBezTo>
                  <a:pt x="0" y="199416"/>
                  <a:pt x="3963" y="197816"/>
                  <a:pt x="11888" y="197511"/>
                </a:cubicBezTo>
                <a:cubicBezTo>
                  <a:pt x="26213" y="197206"/>
                  <a:pt x="92050" y="187757"/>
                  <a:pt x="209398" y="169164"/>
                </a:cubicBezTo>
                <a:cubicBezTo>
                  <a:pt x="216713" y="156363"/>
                  <a:pt x="222657" y="142494"/>
                  <a:pt x="227229" y="127559"/>
                </a:cubicBezTo>
                <a:cubicBezTo>
                  <a:pt x="231801" y="112624"/>
                  <a:pt x="234087" y="101880"/>
                  <a:pt x="234087" y="95327"/>
                </a:cubicBezTo>
                <a:cubicBezTo>
                  <a:pt x="234087" y="88773"/>
                  <a:pt x="235916" y="85497"/>
                  <a:pt x="239573" y="85497"/>
                </a:cubicBezTo>
                <a:close/>
                <a:moveTo>
                  <a:pt x="283464" y="51664"/>
                </a:moveTo>
                <a:cubicBezTo>
                  <a:pt x="292304" y="51664"/>
                  <a:pt x="299009" y="53112"/>
                  <a:pt x="303581" y="56007"/>
                </a:cubicBezTo>
                <a:cubicBezTo>
                  <a:pt x="308153" y="58903"/>
                  <a:pt x="310439" y="61722"/>
                  <a:pt x="310439" y="64466"/>
                </a:cubicBezTo>
                <a:cubicBezTo>
                  <a:pt x="310439" y="69647"/>
                  <a:pt x="301448" y="73152"/>
                  <a:pt x="283464" y="74981"/>
                </a:cubicBezTo>
                <a:cubicBezTo>
                  <a:pt x="274625" y="75896"/>
                  <a:pt x="255042" y="79020"/>
                  <a:pt x="224714" y="84354"/>
                </a:cubicBezTo>
                <a:cubicBezTo>
                  <a:pt x="194387" y="89688"/>
                  <a:pt x="172441" y="93803"/>
                  <a:pt x="158877" y="96698"/>
                </a:cubicBezTo>
                <a:cubicBezTo>
                  <a:pt x="145314" y="99594"/>
                  <a:pt x="134874" y="101042"/>
                  <a:pt x="127559" y="101042"/>
                </a:cubicBezTo>
                <a:cubicBezTo>
                  <a:pt x="120244" y="101042"/>
                  <a:pt x="113996" y="99975"/>
                  <a:pt x="108814" y="97841"/>
                </a:cubicBezTo>
                <a:cubicBezTo>
                  <a:pt x="103632" y="95708"/>
                  <a:pt x="101042" y="93498"/>
                  <a:pt x="101042" y="91212"/>
                </a:cubicBezTo>
                <a:cubicBezTo>
                  <a:pt x="101042" y="88926"/>
                  <a:pt x="104166" y="87402"/>
                  <a:pt x="110414" y="86640"/>
                </a:cubicBezTo>
                <a:cubicBezTo>
                  <a:pt x="116663" y="85878"/>
                  <a:pt x="133731" y="82449"/>
                  <a:pt x="161621" y="76353"/>
                </a:cubicBezTo>
                <a:cubicBezTo>
                  <a:pt x="189510" y="70257"/>
                  <a:pt x="214122" y="64618"/>
                  <a:pt x="235458" y="59436"/>
                </a:cubicBezTo>
                <a:cubicBezTo>
                  <a:pt x="256794" y="54255"/>
                  <a:pt x="272796" y="51664"/>
                  <a:pt x="283464" y="51664"/>
                </a:cubicBezTo>
                <a:close/>
                <a:moveTo>
                  <a:pt x="174651" y="0"/>
                </a:moveTo>
                <a:cubicBezTo>
                  <a:pt x="182880" y="0"/>
                  <a:pt x="192024" y="1296"/>
                  <a:pt x="202083" y="3887"/>
                </a:cubicBezTo>
                <a:cubicBezTo>
                  <a:pt x="212141" y="6477"/>
                  <a:pt x="219456" y="10592"/>
                  <a:pt x="224028" y="16231"/>
                </a:cubicBezTo>
                <a:cubicBezTo>
                  <a:pt x="228600" y="21870"/>
                  <a:pt x="230886" y="27204"/>
                  <a:pt x="230886" y="32233"/>
                </a:cubicBezTo>
                <a:cubicBezTo>
                  <a:pt x="230886" y="37262"/>
                  <a:pt x="229439" y="41148"/>
                  <a:pt x="226543" y="43892"/>
                </a:cubicBezTo>
                <a:cubicBezTo>
                  <a:pt x="223647" y="46635"/>
                  <a:pt x="219533" y="48006"/>
                  <a:pt x="214199" y="48006"/>
                </a:cubicBezTo>
                <a:cubicBezTo>
                  <a:pt x="208865" y="48006"/>
                  <a:pt x="199568" y="41377"/>
                  <a:pt x="186309" y="28118"/>
                </a:cubicBezTo>
                <a:cubicBezTo>
                  <a:pt x="173051" y="14859"/>
                  <a:pt x="166421" y="6858"/>
                  <a:pt x="166421" y="4115"/>
                </a:cubicBezTo>
                <a:cubicBezTo>
                  <a:pt x="166421" y="1372"/>
                  <a:pt x="169164" y="0"/>
                  <a:pt x="17465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/>
        </p:nvSpPr>
        <p:spPr>
          <a:xfrm>
            <a:off x="10019970" y="2108347"/>
            <a:ext cx="184252" cy="198424"/>
          </a:xfrm>
          <a:custGeom>
            <a:avLst/>
            <a:gdLst/>
            <a:ahLst/>
            <a:cxnLst/>
            <a:rect l="l" t="t" r="r" b="b"/>
            <a:pathLst>
              <a:path w="184252" h="198424">
                <a:moveTo>
                  <a:pt x="141732" y="0"/>
                </a:moveTo>
                <a:cubicBezTo>
                  <a:pt x="147828" y="0"/>
                  <a:pt x="156439" y="3352"/>
                  <a:pt x="167564" y="10058"/>
                </a:cubicBezTo>
                <a:cubicBezTo>
                  <a:pt x="178689" y="16764"/>
                  <a:pt x="184252" y="22402"/>
                  <a:pt x="184252" y="26974"/>
                </a:cubicBezTo>
                <a:cubicBezTo>
                  <a:pt x="184252" y="28498"/>
                  <a:pt x="183642" y="30175"/>
                  <a:pt x="182423" y="32004"/>
                </a:cubicBezTo>
                <a:cubicBezTo>
                  <a:pt x="177546" y="38709"/>
                  <a:pt x="174574" y="45643"/>
                  <a:pt x="173507" y="52806"/>
                </a:cubicBezTo>
                <a:cubicBezTo>
                  <a:pt x="172441" y="59969"/>
                  <a:pt x="171907" y="75895"/>
                  <a:pt x="171907" y="100584"/>
                </a:cubicBezTo>
                <a:cubicBezTo>
                  <a:pt x="171907" y="136550"/>
                  <a:pt x="168097" y="161848"/>
                  <a:pt x="160477" y="176479"/>
                </a:cubicBezTo>
                <a:cubicBezTo>
                  <a:pt x="152857" y="191109"/>
                  <a:pt x="146914" y="198424"/>
                  <a:pt x="142646" y="198424"/>
                </a:cubicBezTo>
                <a:cubicBezTo>
                  <a:pt x="138379" y="198424"/>
                  <a:pt x="134722" y="190652"/>
                  <a:pt x="131674" y="175107"/>
                </a:cubicBezTo>
                <a:cubicBezTo>
                  <a:pt x="128626" y="159562"/>
                  <a:pt x="125882" y="149885"/>
                  <a:pt x="123444" y="146075"/>
                </a:cubicBezTo>
                <a:cubicBezTo>
                  <a:pt x="121006" y="142265"/>
                  <a:pt x="117043" y="140360"/>
                  <a:pt x="111557" y="140360"/>
                </a:cubicBezTo>
                <a:cubicBezTo>
                  <a:pt x="98755" y="140360"/>
                  <a:pt x="74219" y="142951"/>
                  <a:pt x="37948" y="148132"/>
                </a:cubicBezTo>
                <a:cubicBezTo>
                  <a:pt x="37338" y="160324"/>
                  <a:pt x="36347" y="168630"/>
                  <a:pt x="34976" y="173050"/>
                </a:cubicBezTo>
                <a:cubicBezTo>
                  <a:pt x="33604" y="177469"/>
                  <a:pt x="31394" y="179679"/>
                  <a:pt x="28346" y="179679"/>
                </a:cubicBezTo>
                <a:cubicBezTo>
                  <a:pt x="25298" y="179679"/>
                  <a:pt x="22250" y="176555"/>
                  <a:pt x="19202" y="170307"/>
                </a:cubicBezTo>
                <a:cubicBezTo>
                  <a:pt x="16154" y="164058"/>
                  <a:pt x="14630" y="158496"/>
                  <a:pt x="14630" y="153619"/>
                </a:cubicBezTo>
                <a:cubicBezTo>
                  <a:pt x="14630" y="148742"/>
                  <a:pt x="14783" y="145237"/>
                  <a:pt x="15088" y="143103"/>
                </a:cubicBezTo>
                <a:cubicBezTo>
                  <a:pt x="16612" y="135788"/>
                  <a:pt x="17374" y="124891"/>
                  <a:pt x="17374" y="110413"/>
                </a:cubicBezTo>
                <a:cubicBezTo>
                  <a:pt x="17374" y="95935"/>
                  <a:pt x="16078" y="80543"/>
                  <a:pt x="13487" y="64236"/>
                </a:cubicBezTo>
                <a:cubicBezTo>
                  <a:pt x="10897" y="47929"/>
                  <a:pt x="8001" y="37795"/>
                  <a:pt x="4801" y="33832"/>
                </a:cubicBezTo>
                <a:cubicBezTo>
                  <a:pt x="1600" y="29870"/>
                  <a:pt x="0" y="26441"/>
                  <a:pt x="0" y="23545"/>
                </a:cubicBezTo>
                <a:cubicBezTo>
                  <a:pt x="0" y="20650"/>
                  <a:pt x="1905" y="19202"/>
                  <a:pt x="5715" y="19202"/>
                </a:cubicBezTo>
                <a:cubicBezTo>
                  <a:pt x="9525" y="19202"/>
                  <a:pt x="14326" y="20421"/>
                  <a:pt x="20117" y="22860"/>
                </a:cubicBezTo>
                <a:cubicBezTo>
                  <a:pt x="42977" y="21031"/>
                  <a:pt x="65761" y="17907"/>
                  <a:pt x="88468" y="13487"/>
                </a:cubicBezTo>
                <a:cubicBezTo>
                  <a:pt x="111176" y="9067"/>
                  <a:pt x="125044" y="5715"/>
                  <a:pt x="130073" y="3429"/>
                </a:cubicBezTo>
                <a:cubicBezTo>
                  <a:pt x="135103" y="1143"/>
                  <a:pt x="138989" y="0"/>
                  <a:pt x="141732" y="0"/>
                </a:cubicBezTo>
                <a:close/>
                <a:moveTo>
                  <a:pt x="124587" y="21945"/>
                </a:moveTo>
                <a:cubicBezTo>
                  <a:pt x="117424" y="21945"/>
                  <a:pt x="103327" y="23164"/>
                  <a:pt x="82296" y="25603"/>
                </a:cubicBezTo>
                <a:cubicBezTo>
                  <a:pt x="61265" y="28041"/>
                  <a:pt x="44958" y="30175"/>
                  <a:pt x="33376" y="32004"/>
                </a:cubicBezTo>
                <a:cubicBezTo>
                  <a:pt x="34290" y="40233"/>
                  <a:pt x="35357" y="55626"/>
                  <a:pt x="36576" y="78181"/>
                </a:cubicBezTo>
                <a:cubicBezTo>
                  <a:pt x="78943" y="67513"/>
                  <a:pt x="103175" y="62179"/>
                  <a:pt x="109271" y="62179"/>
                </a:cubicBezTo>
                <a:cubicBezTo>
                  <a:pt x="118110" y="62179"/>
                  <a:pt x="122530" y="64617"/>
                  <a:pt x="122530" y="69494"/>
                </a:cubicBezTo>
                <a:cubicBezTo>
                  <a:pt x="122530" y="71932"/>
                  <a:pt x="121082" y="74066"/>
                  <a:pt x="118186" y="75895"/>
                </a:cubicBezTo>
                <a:cubicBezTo>
                  <a:pt x="115291" y="77724"/>
                  <a:pt x="105994" y="80162"/>
                  <a:pt x="90297" y="83210"/>
                </a:cubicBezTo>
                <a:cubicBezTo>
                  <a:pt x="74600" y="86258"/>
                  <a:pt x="63017" y="87782"/>
                  <a:pt x="55550" y="87782"/>
                </a:cubicBezTo>
                <a:cubicBezTo>
                  <a:pt x="48082" y="87782"/>
                  <a:pt x="41910" y="87477"/>
                  <a:pt x="37033" y="86868"/>
                </a:cubicBezTo>
                <a:cubicBezTo>
                  <a:pt x="37948" y="116128"/>
                  <a:pt x="38252" y="132435"/>
                  <a:pt x="37948" y="135788"/>
                </a:cubicBezTo>
                <a:lnTo>
                  <a:pt x="82753" y="126644"/>
                </a:lnTo>
                <a:cubicBezTo>
                  <a:pt x="94336" y="124206"/>
                  <a:pt x="101194" y="122986"/>
                  <a:pt x="103327" y="122986"/>
                </a:cubicBezTo>
                <a:cubicBezTo>
                  <a:pt x="114910" y="122986"/>
                  <a:pt x="123901" y="126796"/>
                  <a:pt x="130302" y="134416"/>
                </a:cubicBezTo>
                <a:cubicBezTo>
                  <a:pt x="135179" y="140208"/>
                  <a:pt x="138151" y="143103"/>
                  <a:pt x="139217" y="143103"/>
                </a:cubicBezTo>
                <a:cubicBezTo>
                  <a:pt x="140284" y="143103"/>
                  <a:pt x="141122" y="142113"/>
                  <a:pt x="141732" y="140131"/>
                </a:cubicBezTo>
                <a:cubicBezTo>
                  <a:pt x="142342" y="138150"/>
                  <a:pt x="143256" y="131597"/>
                  <a:pt x="144475" y="120472"/>
                </a:cubicBezTo>
                <a:cubicBezTo>
                  <a:pt x="145694" y="109347"/>
                  <a:pt x="146304" y="96621"/>
                  <a:pt x="146304" y="82296"/>
                </a:cubicBezTo>
                <a:cubicBezTo>
                  <a:pt x="146304" y="67970"/>
                  <a:pt x="145771" y="55626"/>
                  <a:pt x="144704" y="45262"/>
                </a:cubicBezTo>
                <a:cubicBezTo>
                  <a:pt x="143637" y="34899"/>
                  <a:pt x="141808" y="28422"/>
                  <a:pt x="139217" y="25831"/>
                </a:cubicBezTo>
                <a:cubicBezTo>
                  <a:pt x="136627" y="23241"/>
                  <a:pt x="131750" y="21945"/>
                  <a:pt x="124587" y="21945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4" name="任意多边形: 形状 43"/>
          <p:cNvSpPr/>
          <p:nvPr/>
        </p:nvSpPr>
        <p:spPr>
          <a:xfrm>
            <a:off x="8779121" y="1881304"/>
            <a:ext cx="554812" cy="251003"/>
          </a:xfrm>
          <a:custGeom>
            <a:avLst/>
            <a:gdLst>
              <a:gd name="csX0" fmla="*/ 384734 w 554812"/>
              <a:gd name="csY0" fmla="*/ 60350 h 251003"/>
              <a:gd name="csX1" fmla="*/ 415252 w 554812"/>
              <a:gd name="csY1" fmla="*/ 67551 h 251003"/>
              <a:gd name="csX2" fmla="*/ 427939 w 554812"/>
              <a:gd name="csY2" fmla="*/ 80238 h 251003"/>
              <a:gd name="csX3" fmla="*/ 390906 w 554812"/>
              <a:gd name="csY3" fmla="*/ 93611 h 251003"/>
              <a:gd name="csX4" fmla="*/ 333299 w 554812"/>
              <a:gd name="csY4" fmla="*/ 100812 h 251003"/>
              <a:gd name="csX5" fmla="*/ 367589 w 554812"/>
              <a:gd name="csY5" fmla="*/ 124472 h 251003"/>
              <a:gd name="csX6" fmla="*/ 355587 w 554812"/>
              <a:gd name="csY6" fmla="*/ 139217 h 251003"/>
              <a:gd name="csX7" fmla="*/ 311353 w 554812"/>
              <a:gd name="csY7" fmla="*/ 184480 h 251003"/>
              <a:gd name="csX8" fmla="*/ 460172 w 554812"/>
              <a:gd name="csY8" fmla="*/ 161163 h 251003"/>
              <a:gd name="csX9" fmla="*/ 506806 w 554812"/>
              <a:gd name="csY9" fmla="*/ 156362 h 251003"/>
              <a:gd name="csX10" fmla="*/ 540410 w 554812"/>
              <a:gd name="csY10" fmla="*/ 165277 h 251003"/>
              <a:gd name="csX11" fmla="*/ 554812 w 554812"/>
              <a:gd name="csY11" fmla="*/ 181737 h 251003"/>
              <a:gd name="csX12" fmla="*/ 511607 w 554812"/>
              <a:gd name="csY12" fmla="*/ 196824 h 251003"/>
              <a:gd name="csX13" fmla="*/ 469087 w 554812"/>
              <a:gd name="csY13" fmla="*/ 195453 h 251003"/>
              <a:gd name="csX14" fmla="*/ 284264 w 554812"/>
              <a:gd name="csY14" fmla="*/ 209512 h 251003"/>
              <a:gd name="csX15" fmla="*/ 98069 w 554812"/>
              <a:gd name="csY15" fmla="*/ 243459 h 251003"/>
              <a:gd name="csX16" fmla="*/ 51092 w 554812"/>
              <a:gd name="csY16" fmla="*/ 251003 h 251003"/>
              <a:gd name="csX17" fmla="*/ 16802 w 554812"/>
              <a:gd name="csY17" fmla="*/ 242430 h 251003"/>
              <a:gd name="csX18" fmla="*/ 0 w 554812"/>
              <a:gd name="csY18" fmla="*/ 228371 h 251003"/>
              <a:gd name="csX19" fmla="*/ 34976 w 554812"/>
              <a:gd name="csY19" fmla="*/ 222885 h 251003"/>
              <a:gd name="csX20" fmla="*/ 120015 w 554812"/>
              <a:gd name="csY20" fmla="*/ 212598 h 251003"/>
              <a:gd name="csX21" fmla="*/ 292836 w 554812"/>
              <a:gd name="csY21" fmla="*/ 187223 h 251003"/>
              <a:gd name="csX22" fmla="*/ 316154 w 554812"/>
              <a:gd name="csY22" fmla="*/ 117957 h 251003"/>
              <a:gd name="csX23" fmla="*/ 314782 w 554812"/>
              <a:gd name="csY23" fmla="*/ 103555 h 251003"/>
              <a:gd name="csX24" fmla="*/ 202997 w 554812"/>
              <a:gd name="csY24" fmla="*/ 122072 h 251003"/>
              <a:gd name="csX25" fmla="*/ 230771 w 554812"/>
              <a:gd name="csY25" fmla="*/ 142646 h 251003"/>
              <a:gd name="csX26" fmla="*/ 239344 w 554812"/>
              <a:gd name="csY26" fmla="*/ 160820 h 251003"/>
              <a:gd name="csX27" fmla="*/ 234886 w 554812"/>
              <a:gd name="csY27" fmla="*/ 175907 h 251003"/>
              <a:gd name="csX28" fmla="*/ 222885 w 554812"/>
              <a:gd name="csY28" fmla="*/ 181737 h 251003"/>
              <a:gd name="csX29" fmla="*/ 188595 w 554812"/>
              <a:gd name="csY29" fmla="*/ 123444 h 251003"/>
              <a:gd name="csX30" fmla="*/ 150190 w 554812"/>
              <a:gd name="csY30" fmla="*/ 118643 h 251003"/>
              <a:gd name="csX31" fmla="*/ 133731 w 554812"/>
              <a:gd name="csY31" fmla="*/ 107327 h 251003"/>
              <a:gd name="csX32" fmla="*/ 162191 w 554812"/>
              <a:gd name="csY32" fmla="*/ 100469 h 251003"/>
              <a:gd name="csX33" fmla="*/ 252717 w 554812"/>
              <a:gd name="csY33" fmla="*/ 88125 h 251003"/>
              <a:gd name="csX34" fmla="*/ 340842 w 554812"/>
              <a:gd name="csY34" fmla="*/ 68923 h 251003"/>
              <a:gd name="csX35" fmla="*/ 384734 w 554812"/>
              <a:gd name="csY35" fmla="*/ 60350 h 251003"/>
              <a:gd name="csX36" fmla="*/ 266777 w 554812"/>
              <a:gd name="csY36" fmla="*/ 0 h 251003"/>
              <a:gd name="csX37" fmla="*/ 309297 w 554812"/>
              <a:gd name="csY37" fmla="*/ 13373 h 251003"/>
              <a:gd name="csX38" fmla="*/ 323698 w 554812"/>
              <a:gd name="csY38" fmla="*/ 38404 h 251003"/>
              <a:gd name="csX39" fmla="*/ 318555 w 554812"/>
              <a:gd name="csY39" fmla="*/ 56235 h 251003"/>
              <a:gd name="csX40" fmla="*/ 304153 w 554812"/>
              <a:gd name="csY40" fmla="*/ 62407 h 251003"/>
              <a:gd name="csX41" fmla="*/ 279807 w 554812"/>
              <a:gd name="csY41" fmla="*/ 50063 h 251003"/>
              <a:gd name="csX42" fmla="*/ 250318 w 554812"/>
              <a:gd name="csY42" fmla="*/ 25374 h 251003"/>
              <a:gd name="csX43" fmla="*/ 235916 w 554812"/>
              <a:gd name="csY43" fmla="*/ 8229 h 251003"/>
              <a:gd name="csX44" fmla="*/ 266777 w 554812"/>
              <a:gd name="csY44" fmla="*/ 0 h 251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554812" h="251003">
                <a:moveTo>
                  <a:pt x="384734" y="60350"/>
                </a:moveTo>
                <a:cubicBezTo>
                  <a:pt x="396621" y="60350"/>
                  <a:pt x="406793" y="62750"/>
                  <a:pt x="415252" y="67551"/>
                </a:cubicBezTo>
                <a:cubicBezTo>
                  <a:pt x="423710" y="72352"/>
                  <a:pt x="427939" y="76581"/>
                  <a:pt x="427939" y="80238"/>
                </a:cubicBezTo>
                <a:cubicBezTo>
                  <a:pt x="427939" y="86182"/>
                  <a:pt x="415595" y="90640"/>
                  <a:pt x="390906" y="93611"/>
                </a:cubicBezTo>
                <a:cubicBezTo>
                  <a:pt x="366217" y="96583"/>
                  <a:pt x="347015" y="98983"/>
                  <a:pt x="333299" y="100812"/>
                </a:cubicBezTo>
                <a:cubicBezTo>
                  <a:pt x="356159" y="111785"/>
                  <a:pt x="367589" y="119672"/>
                  <a:pt x="367589" y="124472"/>
                </a:cubicBezTo>
                <a:cubicBezTo>
                  <a:pt x="367589" y="129273"/>
                  <a:pt x="363588" y="134188"/>
                  <a:pt x="355587" y="139217"/>
                </a:cubicBezTo>
                <a:cubicBezTo>
                  <a:pt x="347586" y="144246"/>
                  <a:pt x="332841" y="159334"/>
                  <a:pt x="311353" y="184480"/>
                </a:cubicBezTo>
                <a:lnTo>
                  <a:pt x="460172" y="161163"/>
                </a:lnTo>
                <a:cubicBezTo>
                  <a:pt x="478460" y="157962"/>
                  <a:pt x="494004" y="156362"/>
                  <a:pt x="506806" y="156362"/>
                </a:cubicBezTo>
                <a:cubicBezTo>
                  <a:pt x="519608" y="156362"/>
                  <a:pt x="530809" y="159334"/>
                  <a:pt x="540410" y="165277"/>
                </a:cubicBezTo>
                <a:cubicBezTo>
                  <a:pt x="550011" y="171221"/>
                  <a:pt x="554812" y="176707"/>
                  <a:pt x="554812" y="181737"/>
                </a:cubicBezTo>
                <a:cubicBezTo>
                  <a:pt x="554812" y="191795"/>
                  <a:pt x="540410" y="196824"/>
                  <a:pt x="511607" y="196824"/>
                </a:cubicBezTo>
                <a:lnTo>
                  <a:pt x="469087" y="195453"/>
                </a:lnTo>
                <a:cubicBezTo>
                  <a:pt x="418795" y="195453"/>
                  <a:pt x="357187" y="200139"/>
                  <a:pt x="284264" y="209512"/>
                </a:cubicBezTo>
                <a:cubicBezTo>
                  <a:pt x="211341" y="218884"/>
                  <a:pt x="149276" y="230200"/>
                  <a:pt x="98069" y="243459"/>
                </a:cubicBezTo>
                <a:cubicBezTo>
                  <a:pt x="78410" y="248488"/>
                  <a:pt x="62751" y="251003"/>
                  <a:pt x="51092" y="251003"/>
                </a:cubicBezTo>
                <a:cubicBezTo>
                  <a:pt x="39433" y="251003"/>
                  <a:pt x="28003" y="248145"/>
                  <a:pt x="16802" y="242430"/>
                </a:cubicBezTo>
                <a:cubicBezTo>
                  <a:pt x="5601" y="236715"/>
                  <a:pt x="0" y="232029"/>
                  <a:pt x="0" y="228371"/>
                </a:cubicBezTo>
                <a:cubicBezTo>
                  <a:pt x="0" y="224714"/>
                  <a:pt x="11658" y="222885"/>
                  <a:pt x="34976" y="222885"/>
                </a:cubicBezTo>
                <a:cubicBezTo>
                  <a:pt x="40462" y="222885"/>
                  <a:pt x="68808" y="219456"/>
                  <a:pt x="120015" y="212598"/>
                </a:cubicBezTo>
                <a:lnTo>
                  <a:pt x="292836" y="187223"/>
                </a:lnTo>
                <a:cubicBezTo>
                  <a:pt x="308381" y="161620"/>
                  <a:pt x="316154" y="138531"/>
                  <a:pt x="316154" y="117957"/>
                </a:cubicBezTo>
                <a:cubicBezTo>
                  <a:pt x="316154" y="113385"/>
                  <a:pt x="315696" y="108585"/>
                  <a:pt x="314782" y="103555"/>
                </a:cubicBezTo>
                <a:cubicBezTo>
                  <a:pt x="253974" y="114071"/>
                  <a:pt x="216713" y="120243"/>
                  <a:pt x="202997" y="122072"/>
                </a:cubicBezTo>
                <a:cubicBezTo>
                  <a:pt x="215798" y="129844"/>
                  <a:pt x="225057" y="136702"/>
                  <a:pt x="230771" y="142646"/>
                </a:cubicBezTo>
                <a:cubicBezTo>
                  <a:pt x="236487" y="148590"/>
                  <a:pt x="239344" y="154648"/>
                  <a:pt x="239344" y="160820"/>
                </a:cubicBezTo>
                <a:cubicBezTo>
                  <a:pt x="239344" y="166992"/>
                  <a:pt x="237858" y="172021"/>
                  <a:pt x="234886" y="175907"/>
                </a:cubicBezTo>
                <a:cubicBezTo>
                  <a:pt x="231914" y="179794"/>
                  <a:pt x="227914" y="181737"/>
                  <a:pt x="222885" y="181737"/>
                </a:cubicBezTo>
                <a:cubicBezTo>
                  <a:pt x="208254" y="181737"/>
                  <a:pt x="196824" y="162306"/>
                  <a:pt x="188595" y="123444"/>
                </a:cubicBezTo>
                <a:cubicBezTo>
                  <a:pt x="173964" y="124358"/>
                  <a:pt x="161163" y="122758"/>
                  <a:pt x="150190" y="118643"/>
                </a:cubicBezTo>
                <a:cubicBezTo>
                  <a:pt x="139217" y="114528"/>
                  <a:pt x="133731" y="110756"/>
                  <a:pt x="133731" y="107327"/>
                </a:cubicBezTo>
                <a:cubicBezTo>
                  <a:pt x="133731" y="103898"/>
                  <a:pt x="143218" y="101612"/>
                  <a:pt x="162191" y="100469"/>
                </a:cubicBezTo>
                <a:cubicBezTo>
                  <a:pt x="181165" y="99326"/>
                  <a:pt x="211341" y="95212"/>
                  <a:pt x="252717" y="88125"/>
                </a:cubicBezTo>
                <a:cubicBezTo>
                  <a:pt x="294094" y="81038"/>
                  <a:pt x="323469" y="74638"/>
                  <a:pt x="340842" y="68923"/>
                </a:cubicBezTo>
                <a:cubicBezTo>
                  <a:pt x="358216" y="63208"/>
                  <a:pt x="372846" y="60350"/>
                  <a:pt x="384734" y="60350"/>
                </a:cubicBezTo>
                <a:close/>
                <a:moveTo>
                  <a:pt x="266777" y="0"/>
                </a:moveTo>
                <a:cubicBezTo>
                  <a:pt x="285522" y="0"/>
                  <a:pt x="299695" y="4457"/>
                  <a:pt x="309297" y="13373"/>
                </a:cubicBezTo>
                <a:cubicBezTo>
                  <a:pt x="318898" y="22288"/>
                  <a:pt x="323698" y="30632"/>
                  <a:pt x="323698" y="38404"/>
                </a:cubicBezTo>
                <a:cubicBezTo>
                  <a:pt x="323698" y="46177"/>
                  <a:pt x="321984" y="52120"/>
                  <a:pt x="318555" y="56235"/>
                </a:cubicBezTo>
                <a:cubicBezTo>
                  <a:pt x="315126" y="60350"/>
                  <a:pt x="310325" y="62407"/>
                  <a:pt x="304153" y="62407"/>
                </a:cubicBezTo>
                <a:cubicBezTo>
                  <a:pt x="297981" y="62407"/>
                  <a:pt x="289866" y="58293"/>
                  <a:pt x="279807" y="50063"/>
                </a:cubicBezTo>
                <a:lnTo>
                  <a:pt x="250318" y="25374"/>
                </a:lnTo>
                <a:cubicBezTo>
                  <a:pt x="240717" y="17602"/>
                  <a:pt x="235916" y="11887"/>
                  <a:pt x="235916" y="8229"/>
                </a:cubicBezTo>
                <a:cubicBezTo>
                  <a:pt x="235916" y="2743"/>
                  <a:pt x="246203" y="0"/>
                  <a:pt x="26677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任意多边形: 形状 44"/>
          <p:cNvSpPr/>
          <p:nvPr/>
        </p:nvSpPr>
        <p:spPr>
          <a:xfrm>
            <a:off x="8891744" y="2122099"/>
            <a:ext cx="318211" cy="176936"/>
          </a:xfrm>
          <a:custGeom>
            <a:avLst/>
            <a:gdLst/>
            <a:ahLst/>
            <a:cxnLst/>
            <a:rect l="l" t="t" r="r" b="b"/>
            <a:pathLst>
              <a:path w="318211" h="176936">
                <a:moveTo>
                  <a:pt x="258547" y="0"/>
                </a:moveTo>
                <a:cubicBezTo>
                  <a:pt x="264948" y="0"/>
                  <a:pt x="276492" y="4572"/>
                  <a:pt x="293180" y="13716"/>
                </a:cubicBezTo>
                <a:cubicBezTo>
                  <a:pt x="309868" y="22860"/>
                  <a:pt x="318211" y="29718"/>
                  <a:pt x="318211" y="34290"/>
                </a:cubicBezTo>
                <a:cubicBezTo>
                  <a:pt x="318211" y="38862"/>
                  <a:pt x="314668" y="44234"/>
                  <a:pt x="307582" y="50406"/>
                </a:cubicBezTo>
                <a:cubicBezTo>
                  <a:pt x="300495" y="56578"/>
                  <a:pt x="291465" y="72923"/>
                  <a:pt x="280492" y="99441"/>
                </a:cubicBezTo>
                <a:cubicBezTo>
                  <a:pt x="261290" y="145161"/>
                  <a:pt x="246888" y="168021"/>
                  <a:pt x="237287" y="168021"/>
                </a:cubicBezTo>
                <a:cubicBezTo>
                  <a:pt x="234087" y="168021"/>
                  <a:pt x="229972" y="165506"/>
                  <a:pt x="224943" y="160477"/>
                </a:cubicBezTo>
                <a:cubicBezTo>
                  <a:pt x="219913" y="155448"/>
                  <a:pt x="213055" y="152933"/>
                  <a:pt x="204369" y="152933"/>
                </a:cubicBezTo>
                <a:cubicBezTo>
                  <a:pt x="195682" y="152933"/>
                  <a:pt x="179108" y="155677"/>
                  <a:pt x="154648" y="161163"/>
                </a:cubicBezTo>
                <a:cubicBezTo>
                  <a:pt x="130188" y="166649"/>
                  <a:pt x="105842" y="170307"/>
                  <a:pt x="81610" y="172136"/>
                </a:cubicBezTo>
                <a:cubicBezTo>
                  <a:pt x="77953" y="175336"/>
                  <a:pt x="74752" y="176936"/>
                  <a:pt x="72009" y="176936"/>
                </a:cubicBezTo>
                <a:cubicBezTo>
                  <a:pt x="65608" y="176936"/>
                  <a:pt x="59436" y="166192"/>
                  <a:pt x="53493" y="144704"/>
                </a:cubicBezTo>
                <a:cubicBezTo>
                  <a:pt x="39319" y="94412"/>
                  <a:pt x="25375" y="63779"/>
                  <a:pt x="11659" y="52807"/>
                </a:cubicBezTo>
                <a:cubicBezTo>
                  <a:pt x="3886" y="46863"/>
                  <a:pt x="0" y="41834"/>
                  <a:pt x="0" y="37719"/>
                </a:cubicBezTo>
                <a:cubicBezTo>
                  <a:pt x="0" y="33604"/>
                  <a:pt x="3201" y="31547"/>
                  <a:pt x="9601" y="31547"/>
                </a:cubicBezTo>
                <a:cubicBezTo>
                  <a:pt x="16002" y="31547"/>
                  <a:pt x="23089" y="32690"/>
                  <a:pt x="30861" y="34976"/>
                </a:cubicBezTo>
                <a:cubicBezTo>
                  <a:pt x="159334" y="16231"/>
                  <a:pt x="227800" y="5715"/>
                  <a:pt x="236258" y="3429"/>
                </a:cubicBezTo>
                <a:cubicBezTo>
                  <a:pt x="244716" y="1143"/>
                  <a:pt x="252146" y="0"/>
                  <a:pt x="258547" y="0"/>
                </a:cubicBezTo>
                <a:close/>
                <a:moveTo>
                  <a:pt x="226314" y="26746"/>
                </a:moveTo>
                <a:cubicBezTo>
                  <a:pt x="214884" y="26746"/>
                  <a:pt x="191224" y="29489"/>
                  <a:pt x="155334" y="34976"/>
                </a:cubicBezTo>
                <a:cubicBezTo>
                  <a:pt x="119444" y="40462"/>
                  <a:pt x="85725" y="44806"/>
                  <a:pt x="54178" y="48006"/>
                </a:cubicBezTo>
                <a:cubicBezTo>
                  <a:pt x="57836" y="58522"/>
                  <a:pt x="62179" y="73381"/>
                  <a:pt x="67209" y="92583"/>
                </a:cubicBezTo>
                <a:cubicBezTo>
                  <a:pt x="136703" y="75209"/>
                  <a:pt x="176365" y="66523"/>
                  <a:pt x="186195" y="66523"/>
                </a:cubicBezTo>
                <a:cubicBezTo>
                  <a:pt x="196025" y="66523"/>
                  <a:pt x="203911" y="67894"/>
                  <a:pt x="209855" y="70637"/>
                </a:cubicBezTo>
                <a:cubicBezTo>
                  <a:pt x="215799" y="73381"/>
                  <a:pt x="218770" y="76238"/>
                  <a:pt x="218770" y="79210"/>
                </a:cubicBezTo>
                <a:cubicBezTo>
                  <a:pt x="218770" y="82182"/>
                  <a:pt x="216370" y="84811"/>
                  <a:pt x="211570" y="87097"/>
                </a:cubicBezTo>
                <a:cubicBezTo>
                  <a:pt x="206769" y="89383"/>
                  <a:pt x="187909" y="92812"/>
                  <a:pt x="154991" y="97384"/>
                </a:cubicBezTo>
                <a:cubicBezTo>
                  <a:pt x="122073" y="101956"/>
                  <a:pt x="93726" y="104470"/>
                  <a:pt x="69952" y="104927"/>
                </a:cubicBezTo>
                <a:cubicBezTo>
                  <a:pt x="75438" y="128245"/>
                  <a:pt x="79324" y="145390"/>
                  <a:pt x="81610" y="156362"/>
                </a:cubicBezTo>
                <a:cubicBezTo>
                  <a:pt x="155677" y="140360"/>
                  <a:pt x="194310" y="132588"/>
                  <a:pt x="197511" y="133045"/>
                </a:cubicBezTo>
                <a:cubicBezTo>
                  <a:pt x="204826" y="133960"/>
                  <a:pt x="211227" y="134417"/>
                  <a:pt x="216713" y="134417"/>
                </a:cubicBezTo>
                <a:cubicBezTo>
                  <a:pt x="222199" y="134417"/>
                  <a:pt x="226657" y="131445"/>
                  <a:pt x="230086" y="125501"/>
                </a:cubicBezTo>
                <a:cubicBezTo>
                  <a:pt x="233515" y="119558"/>
                  <a:pt x="238316" y="106070"/>
                  <a:pt x="244488" y="85039"/>
                </a:cubicBezTo>
                <a:cubicBezTo>
                  <a:pt x="250660" y="64008"/>
                  <a:pt x="253746" y="50063"/>
                  <a:pt x="253746" y="43205"/>
                </a:cubicBezTo>
                <a:cubicBezTo>
                  <a:pt x="253746" y="36347"/>
                  <a:pt x="252032" y="31890"/>
                  <a:pt x="248603" y="29832"/>
                </a:cubicBezTo>
                <a:cubicBezTo>
                  <a:pt x="245174" y="27775"/>
                  <a:pt x="237744" y="26746"/>
                  <a:pt x="226314" y="2674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8727683" y="2611377"/>
            <a:ext cx="34643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 startAt="2"/>
              <a:tabLst>
                <a:tab pos="457200" algn="l"/>
              </a:tabLst>
            </a:pP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字分析：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意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为上下结构：</a:t>
            </a:r>
            <a:endParaRPr lang="en-US" altLang="zh-CN" sz="2000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部首为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（下部），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字为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（上部）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“音”为声旁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余部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"+"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日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取上部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音为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727683" y="5501987"/>
            <a:ext cx="33349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buFont typeface="+mj-lt"/>
              <a:buAutoNum type="arabicPeriod" startAt="3"/>
              <a:tabLst>
                <a:tab pos="457200" algn="l"/>
              </a:tabLst>
            </a:pP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码确定：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意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码取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endParaRPr lang="en-US" altLang="zh-CN" sz="2000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251392" y="2169723"/>
            <a:ext cx="832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yi4xl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0312122" y="1909787"/>
            <a:ext cx="761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yn1r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59259E-6 L 0.08567 -0.00162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4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0" grpId="1"/>
      <p:bldP spid="27" grpId="0" animBg="1"/>
      <p:bldP spid="23" grpId="0" animBg="1"/>
      <p:bldP spid="24" grpId="0" animBg="1"/>
      <p:bldP spid="40" grpId="0" animBg="1"/>
      <p:bldP spid="34" grpId="0" animBg="1"/>
      <p:bldP spid="43" grpId="0" animBg="1"/>
      <p:bldP spid="28" grpId="0"/>
      <p:bldP spid="28" grpId="1"/>
      <p:bldP spid="41" grpId="0" animBg="1"/>
      <p:bldP spid="42" grpId="0" animBg="1"/>
      <p:bldP spid="44" grpId="0" animBg="1"/>
      <p:bldP spid="45" grpId="0" animBg="1"/>
      <p:bldP spid="47" grpId="0"/>
      <p:bldP spid="49" grpId="0"/>
      <p:bldP spid="50" grpId="0"/>
      <p:bldP spid="5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四、副码编码规则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52942" y="1267576"/>
            <a:ext cx="1104058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现代字形原则</a:t>
            </a:r>
            <a:endParaRPr lang="zh-CN" altLang="zh-CN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部的选取依然遵循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现代字形原则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所有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字源不清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的字（包括错释、模棱两可、关系复杂、隶变等），统一按现代字形处理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隶变后变得模糊难以辨认的部件，一般跳过不取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解书”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拆字法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当出现重码问题时，加上现代字形的考虑。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特殊规则</a:t>
            </a:r>
            <a:endParaRPr lang="zh-CN" altLang="zh-CN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未简字处理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Unicode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基本区内，若有一个字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未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进行类推简化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，缺失对应简体，称为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未简字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indent="267970" algn="just">
              <a:buNone/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规则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：未简字的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码一律为</a:t>
            </a:r>
            <a:r>
              <a:rPr lang="en-US" altLang="zh-CN" sz="20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indent="267970" algn="just">
              <a:buNone/>
            </a:pPr>
            <a:endParaRPr lang="zh-CN" altLang="zh-CN" sz="2000" kern="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余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单笔画处理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当一个字取完部首后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仅剩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单笔画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，该笔画可取为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码。</a:t>
            </a:r>
          </a:p>
          <a:p>
            <a:pPr indent="267970" algn="just">
              <a:buNone/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笔画与字母对应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丶一丨丿乙乛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SimSun-ExtB" panose="02010609060101010101" pitchFamily="49" charset="-122"/>
              </a:rPr>
              <a:t>𠃌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乚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SimSun-ExtB" panose="02010609060101010101" pitchFamily="49" charset="-122"/>
              </a:rPr>
              <a:t>𡿨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分别对应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“d h u p y g k w v”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有：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系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xi4sp/ji4sp</a:t>
            </a:r>
            <a:endParaRPr lang="zh-CN" altLang="zh-CN" sz="2000" kern="100" dirty="0">
              <a:effectLst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44328" y="1428750"/>
            <a:ext cx="1014213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宏观验证原则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为确保编码系统的一致性和合理性，设置以下验证原则：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对称性原则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字形、结构相似的字，其编码模式应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尽量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保持一致。</a:t>
            </a:r>
            <a:endParaRPr lang="en-US" altLang="zh-CN" sz="20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多条件优先</a:t>
            </a:r>
            <a:endParaRPr lang="en-US" altLang="zh-CN" sz="20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同时满足两个条件时，优先取支持原因</a:t>
            </a:r>
            <a:r>
              <a:rPr lang="zh-CN" altLang="zh-CN" sz="2000" b="1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多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的条件。</a:t>
            </a:r>
            <a:endParaRPr lang="en-US" altLang="zh-CN" sz="20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实用主义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在规则冲突时，以实际编码效果和用户记忆负担为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最终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考量。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码优化分配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类似</a:t>
            </a:r>
            <a:r>
              <a:rPr lang="zh-CN" altLang="en-US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主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码，</a:t>
            </a:r>
            <a:r>
              <a:rPr lang="zh-CN" altLang="en-US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码也有</a:t>
            </a:r>
            <a:r>
              <a:rPr lang="zh-CN" altLang="zh-CN" sz="2000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适当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优化分配。需要理解的字例有：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7429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四、副码编码规则</a:t>
            </a:r>
          </a:p>
        </p:txBody>
      </p:sp>
      <p:sp>
        <p:nvSpPr>
          <p:cNvPr id="12" name="任意多边形: 形状 11"/>
          <p:cNvSpPr/>
          <p:nvPr/>
        </p:nvSpPr>
        <p:spPr>
          <a:xfrm>
            <a:off x="9159449" y="3094915"/>
            <a:ext cx="466039" cy="608534"/>
          </a:xfrm>
          <a:custGeom>
            <a:avLst/>
            <a:gdLst/>
            <a:ahLst/>
            <a:cxnLst/>
            <a:rect l="l" t="t" r="r" b="b"/>
            <a:pathLst>
              <a:path w="466039" h="608534">
                <a:moveTo>
                  <a:pt x="259423" y="0"/>
                </a:moveTo>
                <a:cubicBezTo>
                  <a:pt x="269202" y="0"/>
                  <a:pt x="283032" y="5588"/>
                  <a:pt x="300914" y="16764"/>
                </a:cubicBezTo>
                <a:cubicBezTo>
                  <a:pt x="318796" y="27940"/>
                  <a:pt x="327736" y="40513"/>
                  <a:pt x="327736" y="54483"/>
                </a:cubicBezTo>
                <a:cubicBezTo>
                  <a:pt x="327736" y="58954"/>
                  <a:pt x="326619" y="63424"/>
                  <a:pt x="324384" y="67895"/>
                </a:cubicBezTo>
                <a:cubicBezTo>
                  <a:pt x="315443" y="86894"/>
                  <a:pt x="308737" y="122936"/>
                  <a:pt x="304267" y="176022"/>
                </a:cubicBezTo>
                <a:cubicBezTo>
                  <a:pt x="327736" y="168758"/>
                  <a:pt x="345618" y="165126"/>
                  <a:pt x="357912" y="165126"/>
                </a:cubicBezTo>
                <a:cubicBezTo>
                  <a:pt x="370205" y="165126"/>
                  <a:pt x="380264" y="167780"/>
                  <a:pt x="388087" y="173089"/>
                </a:cubicBezTo>
                <a:cubicBezTo>
                  <a:pt x="395910" y="178397"/>
                  <a:pt x="399822" y="183706"/>
                  <a:pt x="399822" y="189014"/>
                </a:cubicBezTo>
                <a:cubicBezTo>
                  <a:pt x="399822" y="194323"/>
                  <a:pt x="396050" y="198654"/>
                  <a:pt x="388506" y="202007"/>
                </a:cubicBezTo>
                <a:cubicBezTo>
                  <a:pt x="380962" y="205359"/>
                  <a:pt x="352324" y="209830"/>
                  <a:pt x="302590" y="215418"/>
                </a:cubicBezTo>
                <a:cubicBezTo>
                  <a:pt x="301473" y="252857"/>
                  <a:pt x="300914" y="285547"/>
                  <a:pt x="300914" y="313487"/>
                </a:cubicBezTo>
                <a:cubicBezTo>
                  <a:pt x="335001" y="307340"/>
                  <a:pt x="357073" y="302730"/>
                  <a:pt x="367132" y="299657"/>
                </a:cubicBezTo>
                <a:cubicBezTo>
                  <a:pt x="377190" y="296583"/>
                  <a:pt x="389065" y="295047"/>
                  <a:pt x="402755" y="295047"/>
                </a:cubicBezTo>
                <a:cubicBezTo>
                  <a:pt x="416446" y="295047"/>
                  <a:pt x="430416" y="299098"/>
                  <a:pt x="444665" y="307201"/>
                </a:cubicBezTo>
                <a:cubicBezTo>
                  <a:pt x="458915" y="315303"/>
                  <a:pt x="466039" y="322568"/>
                  <a:pt x="466039" y="328994"/>
                </a:cubicBezTo>
                <a:cubicBezTo>
                  <a:pt x="466039" y="335420"/>
                  <a:pt x="462687" y="339890"/>
                  <a:pt x="455981" y="342405"/>
                </a:cubicBezTo>
                <a:cubicBezTo>
                  <a:pt x="449275" y="344920"/>
                  <a:pt x="440614" y="345618"/>
                  <a:pt x="429997" y="344501"/>
                </a:cubicBezTo>
                <a:cubicBezTo>
                  <a:pt x="419380" y="343383"/>
                  <a:pt x="404292" y="342824"/>
                  <a:pt x="384734" y="342824"/>
                </a:cubicBezTo>
                <a:cubicBezTo>
                  <a:pt x="365176" y="342824"/>
                  <a:pt x="336957" y="343942"/>
                  <a:pt x="300076" y="346177"/>
                </a:cubicBezTo>
                <a:cubicBezTo>
                  <a:pt x="300076" y="403175"/>
                  <a:pt x="300635" y="437820"/>
                  <a:pt x="301752" y="450114"/>
                </a:cubicBezTo>
                <a:cubicBezTo>
                  <a:pt x="302870" y="462407"/>
                  <a:pt x="303429" y="482943"/>
                  <a:pt x="303429" y="511721"/>
                </a:cubicBezTo>
                <a:cubicBezTo>
                  <a:pt x="303429" y="540500"/>
                  <a:pt x="300774" y="563830"/>
                  <a:pt x="295466" y="581711"/>
                </a:cubicBezTo>
                <a:cubicBezTo>
                  <a:pt x="290157" y="599593"/>
                  <a:pt x="284988" y="608534"/>
                  <a:pt x="279959" y="608534"/>
                </a:cubicBezTo>
                <a:cubicBezTo>
                  <a:pt x="274930" y="608534"/>
                  <a:pt x="268923" y="601129"/>
                  <a:pt x="261938" y="586321"/>
                </a:cubicBezTo>
                <a:cubicBezTo>
                  <a:pt x="254953" y="571513"/>
                  <a:pt x="251460" y="555587"/>
                  <a:pt x="251460" y="538544"/>
                </a:cubicBezTo>
                <a:cubicBezTo>
                  <a:pt x="251460" y="521500"/>
                  <a:pt x="253975" y="502362"/>
                  <a:pt x="259004" y="481127"/>
                </a:cubicBezTo>
                <a:cubicBezTo>
                  <a:pt x="264033" y="459893"/>
                  <a:pt x="267386" y="415748"/>
                  <a:pt x="269062" y="348692"/>
                </a:cubicBezTo>
                <a:cubicBezTo>
                  <a:pt x="231623" y="352044"/>
                  <a:pt x="198095" y="355956"/>
                  <a:pt x="168478" y="360426"/>
                </a:cubicBezTo>
                <a:cubicBezTo>
                  <a:pt x="164567" y="407366"/>
                  <a:pt x="155347" y="443827"/>
                  <a:pt x="140818" y="469811"/>
                </a:cubicBezTo>
                <a:cubicBezTo>
                  <a:pt x="126289" y="495796"/>
                  <a:pt x="106731" y="516052"/>
                  <a:pt x="82144" y="530581"/>
                </a:cubicBezTo>
                <a:cubicBezTo>
                  <a:pt x="57557" y="545110"/>
                  <a:pt x="42190" y="552374"/>
                  <a:pt x="36043" y="552374"/>
                </a:cubicBezTo>
                <a:cubicBezTo>
                  <a:pt x="34366" y="552374"/>
                  <a:pt x="33528" y="551815"/>
                  <a:pt x="33528" y="550698"/>
                </a:cubicBezTo>
                <a:cubicBezTo>
                  <a:pt x="33528" y="547345"/>
                  <a:pt x="37999" y="541198"/>
                  <a:pt x="46939" y="532257"/>
                </a:cubicBezTo>
                <a:cubicBezTo>
                  <a:pt x="77115" y="502082"/>
                  <a:pt x="97650" y="476936"/>
                  <a:pt x="108547" y="456819"/>
                </a:cubicBezTo>
                <a:cubicBezTo>
                  <a:pt x="119444" y="436703"/>
                  <a:pt x="127127" y="407366"/>
                  <a:pt x="131598" y="368808"/>
                </a:cubicBezTo>
                <a:cubicBezTo>
                  <a:pt x="87452" y="378867"/>
                  <a:pt x="59093" y="383896"/>
                  <a:pt x="46520" y="383896"/>
                </a:cubicBezTo>
                <a:cubicBezTo>
                  <a:pt x="33947" y="383896"/>
                  <a:pt x="23051" y="380543"/>
                  <a:pt x="13830" y="373838"/>
                </a:cubicBezTo>
                <a:cubicBezTo>
                  <a:pt x="4610" y="367132"/>
                  <a:pt x="0" y="362103"/>
                  <a:pt x="0" y="358750"/>
                </a:cubicBezTo>
                <a:cubicBezTo>
                  <a:pt x="0" y="355397"/>
                  <a:pt x="8941" y="353162"/>
                  <a:pt x="26823" y="352044"/>
                </a:cubicBezTo>
                <a:cubicBezTo>
                  <a:pt x="44704" y="350927"/>
                  <a:pt x="80467" y="346736"/>
                  <a:pt x="134112" y="339471"/>
                </a:cubicBezTo>
                <a:cubicBezTo>
                  <a:pt x="136906" y="298679"/>
                  <a:pt x="138024" y="265989"/>
                  <a:pt x="137465" y="241402"/>
                </a:cubicBezTo>
                <a:cubicBezTo>
                  <a:pt x="126289" y="243078"/>
                  <a:pt x="113297" y="243917"/>
                  <a:pt x="98489" y="243917"/>
                </a:cubicBezTo>
                <a:cubicBezTo>
                  <a:pt x="83681" y="243917"/>
                  <a:pt x="72225" y="242380"/>
                  <a:pt x="64122" y="239306"/>
                </a:cubicBezTo>
                <a:cubicBezTo>
                  <a:pt x="56020" y="236233"/>
                  <a:pt x="51969" y="232321"/>
                  <a:pt x="51969" y="227572"/>
                </a:cubicBezTo>
                <a:cubicBezTo>
                  <a:pt x="51969" y="222822"/>
                  <a:pt x="59512" y="219888"/>
                  <a:pt x="74600" y="218771"/>
                </a:cubicBezTo>
                <a:cubicBezTo>
                  <a:pt x="89688" y="217653"/>
                  <a:pt x="110363" y="215138"/>
                  <a:pt x="136627" y="211227"/>
                </a:cubicBezTo>
                <a:cubicBezTo>
                  <a:pt x="133274" y="150318"/>
                  <a:pt x="124333" y="110363"/>
                  <a:pt x="109804" y="91364"/>
                </a:cubicBezTo>
                <a:cubicBezTo>
                  <a:pt x="105334" y="85776"/>
                  <a:pt x="103099" y="80747"/>
                  <a:pt x="103099" y="76277"/>
                </a:cubicBezTo>
                <a:cubicBezTo>
                  <a:pt x="103099" y="71806"/>
                  <a:pt x="106591" y="69571"/>
                  <a:pt x="113576" y="69571"/>
                </a:cubicBezTo>
                <a:cubicBezTo>
                  <a:pt x="120561" y="69571"/>
                  <a:pt x="133134" y="72365"/>
                  <a:pt x="151295" y="77953"/>
                </a:cubicBezTo>
                <a:cubicBezTo>
                  <a:pt x="169456" y="83541"/>
                  <a:pt x="178537" y="91085"/>
                  <a:pt x="178537" y="100584"/>
                </a:cubicBezTo>
                <a:cubicBezTo>
                  <a:pt x="178537" y="104496"/>
                  <a:pt x="177699" y="109246"/>
                  <a:pt x="176022" y="114834"/>
                </a:cubicBezTo>
                <a:cubicBezTo>
                  <a:pt x="174346" y="120422"/>
                  <a:pt x="173508" y="130480"/>
                  <a:pt x="173508" y="145009"/>
                </a:cubicBezTo>
                <a:cubicBezTo>
                  <a:pt x="173508" y="159538"/>
                  <a:pt x="173787" y="179655"/>
                  <a:pt x="174346" y="205359"/>
                </a:cubicBezTo>
                <a:cubicBezTo>
                  <a:pt x="211785" y="199213"/>
                  <a:pt x="243916" y="193066"/>
                  <a:pt x="270739" y="186919"/>
                </a:cubicBezTo>
                <a:cubicBezTo>
                  <a:pt x="268504" y="93599"/>
                  <a:pt x="263614" y="42190"/>
                  <a:pt x="256070" y="32690"/>
                </a:cubicBezTo>
                <a:cubicBezTo>
                  <a:pt x="248527" y="23191"/>
                  <a:pt x="244755" y="15367"/>
                  <a:pt x="244755" y="9221"/>
                </a:cubicBezTo>
                <a:cubicBezTo>
                  <a:pt x="244755" y="3074"/>
                  <a:pt x="249644" y="0"/>
                  <a:pt x="259423" y="0"/>
                </a:cubicBezTo>
                <a:close/>
                <a:moveTo>
                  <a:pt x="270739" y="219609"/>
                </a:moveTo>
                <a:cubicBezTo>
                  <a:pt x="259563" y="220726"/>
                  <a:pt x="227711" y="226035"/>
                  <a:pt x="175184" y="235535"/>
                </a:cubicBezTo>
                <a:cubicBezTo>
                  <a:pt x="175184" y="264033"/>
                  <a:pt x="173787" y="297003"/>
                  <a:pt x="170993" y="334442"/>
                </a:cubicBezTo>
                <a:lnTo>
                  <a:pt x="269901" y="318516"/>
                </a:lnTo>
                <a:cubicBezTo>
                  <a:pt x="271018" y="276048"/>
                  <a:pt x="271298" y="243078"/>
                  <a:pt x="270739" y="21960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/>
        </p:nvSpPr>
        <p:spPr>
          <a:xfrm>
            <a:off x="8924753" y="3179574"/>
            <a:ext cx="767791" cy="621944"/>
          </a:xfrm>
          <a:custGeom>
            <a:avLst/>
            <a:gdLst>
              <a:gd name="csX0" fmla="*/ 158001 w 767791"/>
              <a:gd name="csY0" fmla="*/ 181051 h 621944"/>
              <a:gd name="csX1" fmla="*/ 196139 w 767791"/>
              <a:gd name="csY1" fmla="*/ 193624 h 621944"/>
              <a:gd name="csX2" fmla="*/ 222961 w 767791"/>
              <a:gd name="csY2" fmla="*/ 213741 h 621944"/>
              <a:gd name="csX3" fmla="*/ 214579 w 767791"/>
              <a:gd name="csY3" fmla="*/ 228828 h 621944"/>
              <a:gd name="csX4" fmla="*/ 176860 w 767791"/>
              <a:gd name="csY4" fmla="*/ 277025 h 621944"/>
              <a:gd name="csX5" fmla="*/ 162611 w 767791"/>
              <a:gd name="csY5" fmla="*/ 331927 h 621944"/>
              <a:gd name="csX6" fmla="*/ 165126 w 767791"/>
              <a:gd name="csY6" fmla="*/ 349529 h 621944"/>
              <a:gd name="csX7" fmla="*/ 185242 w 767791"/>
              <a:gd name="csY7" fmla="*/ 425386 h 621944"/>
              <a:gd name="csX8" fmla="*/ 181890 w 767791"/>
              <a:gd name="csY8" fmla="*/ 463524 h 621944"/>
              <a:gd name="csX9" fmla="*/ 245593 w 767791"/>
              <a:gd name="csY9" fmla="*/ 480288 h 621944"/>
              <a:gd name="csX10" fmla="*/ 450952 w 767791"/>
              <a:gd name="csY10" fmla="*/ 536867 h 621944"/>
              <a:gd name="csX11" fmla="*/ 578777 w 767791"/>
              <a:gd name="csY11" fmla="*/ 549021 h 621944"/>
              <a:gd name="csX12" fmla="*/ 678104 w 767791"/>
              <a:gd name="csY12" fmla="*/ 547344 h 621944"/>
              <a:gd name="csX13" fmla="*/ 746836 w 767791"/>
              <a:gd name="csY13" fmla="*/ 544830 h 621944"/>
              <a:gd name="csX14" fmla="*/ 767791 w 767791"/>
              <a:gd name="csY14" fmla="*/ 553212 h 621944"/>
              <a:gd name="csX15" fmla="*/ 760667 w 767791"/>
              <a:gd name="csY15" fmla="*/ 563270 h 621944"/>
              <a:gd name="csX16" fmla="*/ 694868 w 767791"/>
              <a:gd name="csY16" fmla="*/ 587578 h 621944"/>
              <a:gd name="csX17" fmla="*/ 608114 w 767791"/>
              <a:gd name="csY17" fmla="*/ 614400 h 621944"/>
              <a:gd name="csX18" fmla="*/ 546087 w 767791"/>
              <a:gd name="csY18" fmla="*/ 621944 h 621944"/>
              <a:gd name="csX19" fmla="*/ 456819 w 767791"/>
              <a:gd name="csY19" fmla="*/ 598474 h 621944"/>
              <a:gd name="csX20" fmla="*/ 233858 w 767791"/>
              <a:gd name="csY20" fmla="*/ 507530 h 621944"/>
              <a:gd name="csX21" fmla="*/ 145847 w 767791"/>
              <a:gd name="csY21" fmla="*/ 492023 h 621944"/>
              <a:gd name="csX22" fmla="*/ 56998 w 767791"/>
              <a:gd name="csY22" fmla="*/ 513816 h 621944"/>
              <a:gd name="csX23" fmla="*/ 44844 w 767791"/>
              <a:gd name="csY23" fmla="*/ 516331 h 621944"/>
              <a:gd name="csX24" fmla="*/ 18860 w 767791"/>
              <a:gd name="csY24" fmla="*/ 500824 h 621944"/>
              <a:gd name="csX25" fmla="*/ 0 w 767791"/>
              <a:gd name="csY25" fmla="*/ 479031 h 621944"/>
              <a:gd name="csX26" fmla="*/ 4191 w 767791"/>
              <a:gd name="csY26" fmla="*/ 471487 h 621944"/>
              <a:gd name="csX27" fmla="*/ 28080 w 767791"/>
              <a:gd name="csY27" fmla="*/ 470230 h 621944"/>
              <a:gd name="csX28" fmla="*/ 91783 w 767791"/>
              <a:gd name="csY28" fmla="*/ 465201 h 621944"/>
              <a:gd name="csX29" fmla="*/ 157582 w 767791"/>
              <a:gd name="csY29" fmla="*/ 461010 h 621944"/>
              <a:gd name="csX30" fmla="*/ 129921 w 767791"/>
              <a:gd name="csY30" fmla="*/ 368808 h 621944"/>
              <a:gd name="csX31" fmla="*/ 122377 w 767791"/>
              <a:gd name="csY31" fmla="*/ 329412 h 621944"/>
              <a:gd name="csX32" fmla="*/ 139980 w 767791"/>
              <a:gd name="csY32" fmla="*/ 255651 h 621944"/>
              <a:gd name="csX33" fmla="*/ 141656 w 767791"/>
              <a:gd name="csY33" fmla="*/ 247688 h 621944"/>
              <a:gd name="csX34" fmla="*/ 135789 w 767791"/>
              <a:gd name="csY34" fmla="*/ 244754 h 621944"/>
              <a:gd name="csX35" fmla="*/ 105613 w 767791"/>
              <a:gd name="csY35" fmla="*/ 253136 h 621944"/>
              <a:gd name="csX36" fmla="*/ 70409 w 767791"/>
              <a:gd name="csY36" fmla="*/ 261518 h 621944"/>
              <a:gd name="csX37" fmla="*/ 43587 w 767791"/>
              <a:gd name="csY37" fmla="*/ 257746 h 621944"/>
              <a:gd name="csX38" fmla="*/ 27661 w 767791"/>
              <a:gd name="csY38" fmla="*/ 246849 h 621944"/>
              <a:gd name="csX39" fmla="*/ 37719 w 767791"/>
              <a:gd name="csY39" fmla="*/ 238887 h 621944"/>
              <a:gd name="csX40" fmla="*/ 137465 w 767791"/>
              <a:gd name="csY40" fmla="*/ 191109 h 621944"/>
              <a:gd name="csX41" fmla="*/ 158001 w 767791"/>
              <a:gd name="csY41" fmla="*/ 181051 h 621944"/>
              <a:gd name="csX42" fmla="*/ 122377 w 767791"/>
              <a:gd name="csY42" fmla="*/ 0 h 621944"/>
              <a:gd name="csX43" fmla="*/ 160935 w 767791"/>
              <a:gd name="csY43" fmla="*/ 7543 h 621944"/>
              <a:gd name="csX44" fmla="*/ 205359 w 767791"/>
              <a:gd name="csY44" fmla="*/ 28079 h 621944"/>
              <a:gd name="csX45" fmla="*/ 219609 w 767791"/>
              <a:gd name="csY45" fmla="*/ 69570 h 621944"/>
              <a:gd name="csX46" fmla="*/ 198654 w 767791"/>
              <a:gd name="csY46" fmla="*/ 102260 h 621944"/>
              <a:gd name="csX47" fmla="*/ 147523 w 767791"/>
              <a:gd name="csY47" fmla="*/ 59512 h 621944"/>
              <a:gd name="csX48" fmla="*/ 113995 w 767791"/>
              <a:gd name="csY48" fmla="*/ 8382 h 621944"/>
              <a:gd name="csX49" fmla="*/ 122377 w 767791"/>
              <a:gd name="csY49" fmla="*/ 0 h 621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767791" h="621944">
                <a:moveTo>
                  <a:pt x="158001" y="181051"/>
                </a:moveTo>
                <a:cubicBezTo>
                  <a:pt x="165545" y="181051"/>
                  <a:pt x="178257" y="185242"/>
                  <a:pt x="196139" y="193624"/>
                </a:cubicBezTo>
                <a:cubicBezTo>
                  <a:pt x="214021" y="202006"/>
                  <a:pt x="222961" y="208711"/>
                  <a:pt x="222961" y="213741"/>
                </a:cubicBezTo>
                <a:cubicBezTo>
                  <a:pt x="222961" y="218770"/>
                  <a:pt x="220167" y="223799"/>
                  <a:pt x="214579" y="228828"/>
                </a:cubicBezTo>
                <a:cubicBezTo>
                  <a:pt x="198933" y="241122"/>
                  <a:pt x="186360" y="257187"/>
                  <a:pt x="176860" y="277025"/>
                </a:cubicBezTo>
                <a:cubicBezTo>
                  <a:pt x="167361" y="296862"/>
                  <a:pt x="162611" y="315163"/>
                  <a:pt x="162611" y="331927"/>
                </a:cubicBezTo>
                <a:cubicBezTo>
                  <a:pt x="162611" y="339191"/>
                  <a:pt x="163449" y="345059"/>
                  <a:pt x="165126" y="349529"/>
                </a:cubicBezTo>
                <a:cubicBezTo>
                  <a:pt x="178537" y="384733"/>
                  <a:pt x="185242" y="410019"/>
                  <a:pt x="185242" y="425386"/>
                </a:cubicBezTo>
                <a:cubicBezTo>
                  <a:pt x="185242" y="440753"/>
                  <a:pt x="184125" y="453466"/>
                  <a:pt x="181890" y="463524"/>
                </a:cubicBezTo>
                <a:cubicBezTo>
                  <a:pt x="204800" y="467436"/>
                  <a:pt x="226035" y="473024"/>
                  <a:pt x="245593" y="480288"/>
                </a:cubicBezTo>
                <a:cubicBezTo>
                  <a:pt x="337236" y="509905"/>
                  <a:pt x="405689" y="528764"/>
                  <a:pt x="450952" y="536867"/>
                </a:cubicBezTo>
                <a:cubicBezTo>
                  <a:pt x="496215" y="544969"/>
                  <a:pt x="538823" y="549021"/>
                  <a:pt x="578777" y="549021"/>
                </a:cubicBezTo>
                <a:cubicBezTo>
                  <a:pt x="618731" y="549021"/>
                  <a:pt x="651840" y="548462"/>
                  <a:pt x="678104" y="547344"/>
                </a:cubicBezTo>
                <a:lnTo>
                  <a:pt x="746836" y="544830"/>
                </a:lnTo>
                <a:cubicBezTo>
                  <a:pt x="760806" y="544830"/>
                  <a:pt x="767791" y="547624"/>
                  <a:pt x="767791" y="553212"/>
                </a:cubicBezTo>
                <a:cubicBezTo>
                  <a:pt x="767791" y="556564"/>
                  <a:pt x="765417" y="559917"/>
                  <a:pt x="760667" y="563270"/>
                </a:cubicBezTo>
                <a:cubicBezTo>
                  <a:pt x="755917" y="566623"/>
                  <a:pt x="733984" y="574725"/>
                  <a:pt x="694868" y="587578"/>
                </a:cubicBezTo>
                <a:cubicBezTo>
                  <a:pt x="655752" y="600430"/>
                  <a:pt x="626834" y="609371"/>
                  <a:pt x="608114" y="614400"/>
                </a:cubicBezTo>
                <a:cubicBezTo>
                  <a:pt x="589395" y="619429"/>
                  <a:pt x="568719" y="621944"/>
                  <a:pt x="546087" y="621944"/>
                </a:cubicBezTo>
                <a:cubicBezTo>
                  <a:pt x="523456" y="621944"/>
                  <a:pt x="493700" y="614121"/>
                  <a:pt x="456819" y="598474"/>
                </a:cubicBezTo>
                <a:cubicBezTo>
                  <a:pt x="339471" y="548182"/>
                  <a:pt x="265151" y="517867"/>
                  <a:pt x="233858" y="507530"/>
                </a:cubicBezTo>
                <a:cubicBezTo>
                  <a:pt x="202565" y="497192"/>
                  <a:pt x="173228" y="492023"/>
                  <a:pt x="145847" y="492023"/>
                </a:cubicBezTo>
                <a:cubicBezTo>
                  <a:pt x="118466" y="492023"/>
                  <a:pt x="88849" y="499287"/>
                  <a:pt x="56998" y="513816"/>
                </a:cubicBezTo>
                <a:cubicBezTo>
                  <a:pt x="53645" y="515493"/>
                  <a:pt x="49594" y="516331"/>
                  <a:pt x="44844" y="516331"/>
                </a:cubicBezTo>
                <a:cubicBezTo>
                  <a:pt x="40094" y="516331"/>
                  <a:pt x="31433" y="511162"/>
                  <a:pt x="18860" y="500824"/>
                </a:cubicBezTo>
                <a:cubicBezTo>
                  <a:pt x="6287" y="490486"/>
                  <a:pt x="0" y="483222"/>
                  <a:pt x="0" y="479031"/>
                </a:cubicBezTo>
                <a:cubicBezTo>
                  <a:pt x="0" y="474840"/>
                  <a:pt x="1397" y="472325"/>
                  <a:pt x="4191" y="471487"/>
                </a:cubicBezTo>
                <a:cubicBezTo>
                  <a:pt x="6985" y="470649"/>
                  <a:pt x="14948" y="470230"/>
                  <a:pt x="28080" y="470230"/>
                </a:cubicBezTo>
                <a:cubicBezTo>
                  <a:pt x="41212" y="470230"/>
                  <a:pt x="62446" y="468553"/>
                  <a:pt x="91783" y="465201"/>
                </a:cubicBezTo>
                <a:cubicBezTo>
                  <a:pt x="121120" y="461848"/>
                  <a:pt x="143053" y="460451"/>
                  <a:pt x="157582" y="461010"/>
                </a:cubicBezTo>
                <a:cubicBezTo>
                  <a:pt x="155905" y="431952"/>
                  <a:pt x="146685" y="401218"/>
                  <a:pt x="129921" y="368808"/>
                </a:cubicBezTo>
                <a:cubicBezTo>
                  <a:pt x="124892" y="359308"/>
                  <a:pt x="122377" y="346176"/>
                  <a:pt x="122377" y="329412"/>
                </a:cubicBezTo>
                <a:cubicBezTo>
                  <a:pt x="122377" y="312648"/>
                  <a:pt x="128245" y="288061"/>
                  <a:pt x="139980" y="255651"/>
                </a:cubicBezTo>
                <a:cubicBezTo>
                  <a:pt x="141097" y="252298"/>
                  <a:pt x="141656" y="249643"/>
                  <a:pt x="141656" y="247688"/>
                </a:cubicBezTo>
                <a:cubicBezTo>
                  <a:pt x="141656" y="245732"/>
                  <a:pt x="139700" y="244754"/>
                  <a:pt x="135789" y="244754"/>
                </a:cubicBezTo>
                <a:cubicBezTo>
                  <a:pt x="131877" y="244754"/>
                  <a:pt x="121819" y="247548"/>
                  <a:pt x="105613" y="253136"/>
                </a:cubicBezTo>
                <a:cubicBezTo>
                  <a:pt x="89408" y="258724"/>
                  <a:pt x="77673" y="261518"/>
                  <a:pt x="70409" y="261518"/>
                </a:cubicBezTo>
                <a:cubicBezTo>
                  <a:pt x="63145" y="261518"/>
                  <a:pt x="54204" y="260261"/>
                  <a:pt x="43587" y="257746"/>
                </a:cubicBezTo>
                <a:cubicBezTo>
                  <a:pt x="32969" y="255231"/>
                  <a:pt x="27661" y="251599"/>
                  <a:pt x="27661" y="246849"/>
                </a:cubicBezTo>
                <a:cubicBezTo>
                  <a:pt x="27661" y="242100"/>
                  <a:pt x="31014" y="239445"/>
                  <a:pt x="37719" y="238887"/>
                </a:cubicBezTo>
                <a:cubicBezTo>
                  <a:pt x="81306" y="232181"/>
                  <a:pt x="114554" y="216255"/>
                  <a:pt x="137465" y="191109"/>
                </a:cubicBezTo>
                <a:cubicBezTo>
                  <a:pt x="143612" y="184404"/>
                  <a:pt x="150457" y="181051"/>
                  <a:pt x="158001" y="181051"/>
                </a:cubicBezTo>
                <a:close/>
                <a:moveTo>
                  <a:pt x="122377" y="0"/>
                </a:moveTo>
                <a:cubicBezTo>
                  <a:pt x="127965" y="0"/>
                  <a:pt x="140818" y="2514"/>
                  <a:pt x="160935" y="7543"/>
                </a:cubicBezTo>
                <a:cubicBezTo>
                  <a:pt x="181051" y="12573"/>
                  <a:pt x="195860" y="19418"/>
                  <a:pt x="205359" y="28079"/>
                </a:cubicBezTo>
                <a:cubicBezTo>
                  <a:pt x="214859" y="36741"/>
                  <a:pt x="219609" y="50571"/>
                  <a:pt x="219609" y="69570"/>
                </a:cubicBezTo>
                <a:cubicBezTo>
                  <a:pt x="219609" y="91363"/>
                  <a:pt x="212624" y="102260"/>
                  <a:pt x="198654" y="102260"/>
                </a:cubicBezTo>
                <a:cubicBezTo>
                  <a:pt x="186919" y="102260"/>
                  <a:pt x="169875" y="88011"/>
                  <a:pt x="147523" y="59512"/>
                </a:cubicBezTo>
                <a:cubicBezTo>
                  <a:pt x="125171" y="31013"/>
                  <a:pt x="113995" y="13970"/>
                  <a:pt x="113995" y="8382"/>
                </a:cubicBezTo>
                <a:cubicBezTo>
                  <a:pt x="113995" y="2794"/>
                  <a:pt x="116789" y="0"/>
                  <a:pt x="1223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8924753" y="3176461"/>
            <a:ext cx="767791" cy="621944"/>
          </a:xfrm>
          <a:custGeom>
            <a:avLst/>
            <a:gdLst>
              <a:gd name="csX0" fmla="*/ 158001 w 767791"/>
              <a:gd name="csY0" fmla="*/ 181051 h 621944"/>
              <a:gd name="csX1" fmla="*/ 196139 w 767791"/>
              <a:gd name="csY1" fmla="*/ 193624 h 621944"/>
              <a:gd name="csX2" fmla="*/ 222961 w 767791"/>
              <a:gd name="csY2" fmla="*/ 213741 h 621944"/>
              <a:gd name="csX3" fmla="*/ 214579 w 767791"/>
              <a:gd name="csY3" fmla="*/ 228828 h 621944"/>
              <a:gd name="csX4" fmla="*/ 176860 w 767791"/>
              <a:gd name="csY4" fmla="*/ 277025 h 621944"/>
              <a:gd name="csX5" fmla="*/ 162611 w 767791"/>
              <a:gd name="csY5" fmla="*/ 331927 h 621944"/>
              <a:gd name="csX6" fmla="*/ 165126 w 767791"/>
              <a:gd name="csY6" fmla="*/ 349529 h 621944"/>
              <a:gd name="csX7" fmla="*/ 185242 w 767791"/>
              <a:gd name="csY7" fmla="*/ 425386 h 621944"/>
              <a:gd name="csX8" fmla="*/ 181890 w 767791"/>
              <a:gd name="csY8" fmla="*/ 463524 h 621944"/>
              <a:gd name="csX9" fmla="*/ 245593 w 767791"/>
              <a:gd name="csY9" fmla="*/ 480288 h 621944"/>
              <a:gd name="csX10" fmla="*/ 450952 w 767791"/>
              <a:gd name="csY10" fmla="*/ 536867 h 621944"/>
              <a:gd name="csX11" fmla="*/ 578777 w 767791"/>
              <a:gd name="csY11" fmla="*/ 549021 h 621944"/>
              <a:gd name="csX12" fmla="*/ 678104 w 767791"/>
              <a:gd name="csY12" fmla="*/ 547344 h 621944"/>
              <a:gd name="csX13" fmla="*/ 746836 w 767791"/>
              <a:gd name="csY13" fmla="*/ 544830 h 621944"/>
              <a:gd name="csX14" fmla="*/ 767791 w 767791"/>
              <a:gd name="csY14" fmla="*/ 553212 h 621944"/>
              <a:gd name="csX15" fmla="*/ 760667 w 767791"/>
              <a:gd name="csY15" fmla="*/ 563270 h 621944"/>
              <a:gd name="csX16" fmla="*/ 694868 w 767791"/>
              <a:gd name="csY16" fmla="*/ 587578 h 621944"/>
              <a:gd name="csX17" fmla="*/ 608114 w 767791"/>
              <a:gd name="csY17" fmla="*/ 614400 h 621944"/>
              <a:gd name="csX18" fmla="*/ 546087 w 767791"/>
              <a:gd name="csY18" fmla="*/ 621944 h 621944"/>
              <a:gd name="csX19" fmla="*/ 456819 w 767791"/>
              <a:gd name="csY19" fmla="*/ 598474 h 621944"/>
              <a:gd name="csX20" fmla="*/ 233858 w 767791"/>
              <a:gd name="csY20" fmla="*/ 507530 h 621944"/>
              <a:gd name="csX21" fmla="*/ 145847 w 767791"/>
              <a:gd name="csY21" fmla="*/ 492023 h 621944"/>
              <a:gd name="csX22" fmla="*/ 56998 w 767791"/>
              <a:gd name="csY22" fmla="*/ 513816 h 621944"/>
              <a:gd name="csX23" fmla="*/ 44844 w 767791"/>
              <a:gd name="csY23" fmla="*/ 516331 h 621944"/>
              <a:gd name="csX24" fmla="*/ 18860 w 767791"/>
              <a:gd name="csY24" fmla="*/ 500824 h 621944"/>
              <a:gd name="csX25" fmla="*/ 0 w 767791"/>
              <a:gd name="csY25" fmla="*/ 479031 h 621944"/>
              <a:gd name="csX26" fmla="*/ 4191 w 767791"/>
              <a:gd name="csY26" fmla="*/ 471487 h 621944"/>
              <a:gd name="csX27" fmla="*/ 28080 w 767791"/>
              <a:gd name="csY27" fmla="*/ 470230 h 621944"/>
              <a:gd name="csX28" fmla="*/ 91783 w 767791"/>
              <a:gd name="csY28" fmla="*/ 465201 h 621944"/>
              <a:gd name="csX29" fmla="*/ 157582 w 767791"/>
              <a:gd name="csY29" fmla="*/ 461010 h 621944"/>
              <a:gd name="csX30" fmla="*/ 129921 w 767791"/>
              <a:gd name="csY30" fmla="*/ 368808 h 621944"/>
              <a:gd name="csX31" fmla="*/ 122377 w 767791"/>
              <a:gd name="csY31" fmla="*/ 329412 h 621944"/>
              <a:gd name="csX32" fmla="*/ 139980 w 767791"/>
              <a:gd name="csY32" fmla="*/ 255651 h 621944"/>
              <a:gd name="csX33" fmla="*/ 141656 w 767791"/>
              <a:gd name="csY33" fmla="*/ 247688 h 621944"/>
              <a:gd name="csX34" fmla="*/ 135789 w 767791"/>
              <a:gd name="csY34" fmla="*/ 244754 h 621944"/>
              <a:gd name="csX35" fmla="*/ 105613 w 767791"/>
              <a:gd name="csY35" fmla="*/ 253136 h 621944"/>
              <a:gd name="csX36" fmla="*/ 70409 w 767791"/>
              <a:gd name="csY36" fmla="*/ 261518 h 621944"/>
              <a:gd name="csX37" fmla="*/ 43587 w 767791"/>
              <a:gd name="csY37" fmla="*/ 257746 h 621944"/>
              <a:gd name="csX38" fmla="*/ 27661 w 767791"/>
              <a:gd name="csY38" fmla="*/ 246849 h 621944"/>
              <a:gd name="csX39" fmla="*/ 37719 w 767791"/>
              <a:gd name="csY39" fmla="*/ 238887 h 621944"/>
              <a:gd name="csX40" fmla="*/ 137465 w 767791"/>
              <a:gd name="csY40" fmla="*/ 191109 h 621944"/>
              <a:gd name="csX41" fmla="*/ 158001 w 767791"/>
              <a:gd name="csY41" fmla="*/ 181051 h 621944"/>
              <a:gd name="csX42" fmla="*/ 122377 w 767791"/>
              <a:gd name="csY42" fmla="*/ 0 h 621944"/>
              <a:gd name="csX43" fmla="*/ 160935 w 767791"/>
              <a:gd name="csY43" fmla="*/ 7543 h 621944"/>
              <a:gd name="csX44" fmla="*/ 205359 w 767791"/>
              <a:gd name="csY44" fmla="*/ 28079 h 621944"/>
              <a:gd name="csX45" fmla="*/ 219609 w 767791"/>
              <a:gd name="csY45" fmla="*/ 69570 h 621944"/>
              <a:gd name="csX46" fmla="*/ 198654 w 767791"/>
              <a:gd name="csY46" fmla="*/ 102260 h 621944"/>
              <a:gd name="csX47" fmla="*/ 147523 w 767791"/>
              <a:gd name="csY47" fmla="*/ 59512 h 621944"/>
              <a:gd name="csX48" fmla="*/ 113995 w 767791"/>
              <a:gd name="csY48" fmla="*/ 8382 h 621944"/>
              <a:gd name="csX49" fmla="*/ 122377 w 767791"/>
              <a:gd name="csY49" fmla="*/ 0 h 621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767791" h="621944">
                <a:moveTo>
                  <a:pt x="158001" y="181051"/>
                </a:moveTo>
                <a:cubicBezTo>
                  <a:pt x="165545" y="181051"/>
                  <a:pt x="178257" y="185242"/>
                  <a:pt x="196139" y="193624"/>
                </a:cubicBezTo>
                <a:cubicBezTo>
                  <a:pt x="214021" y="202006"/>
                  <a:pt x="222961" y="208711"/>
                  <a:pt x="222961" y="213741"/>
                </a:cubicBezTo>
                <a:cubicBezTo>
                  <a:pt x="222961" y="218770"/>
                  <a:pt x="220167" y="223799"/>
                  <a:pt x="214579" y="228828"/>
                </a:cubicBezTo>
                <a:cubicBezTo>
                  <a:pt x="198933" y="241122"/>
                  <a:pt x="186360" y="257187"/>
                  <a:pt x="176860" y="277025"/>
                </a:cubicBezTo>
                <a:cubicBezTo>
                  <a:pt x="167361" y="296862"/>
                  <a:pt x="162611" y="315163"/>
                  <a:pt x="162611" y="331927"/>
                </a:cubicBezTo>
                <a:cubicBezTo>
                  <a:pt x="162611" y="339191"/>
                  <a:pt x="163449" y="345059"/>
                  <a:pt x="165126" y="349529"/>
                </a:cubicBezTo>
                <a:cubicBezTo>
                  <a:pt x="178537" y="384733"/>
                  <a:pt x="185242" y="410019"/>
                  <a:pt x="185242" y="425386"/>
                </a:cubicBezTo>
                <a:cubicBezTo>
                  <a:pt x="185242" y="440753"/>
                  <a:pt x="184125" y="453466"/>
                  <a:pt x="181890" y="463524"/>
                </a:cubicBezTo>
                <a:cubicBezTo>
                  <a:pt x="204800" y="467436"/>
                  <a:pt x="226035" y="473024"/>
                  <a:pt x="245593" y="480288"/>
                </a:cubicBezTo>
                <a:cubicBezTo>
                  <a:pt x="337236" y="509905"/>
                  <a:pt x="405689" y="528764"/>
                  <a:pt x="450952" y="536867"/>
                </a:cubicBezTo>
                <a:cubicBezTo>
                  <a:pt x="496215" y="544969"/>
                  <a:pt x="538823" y="549021"/>
                  <a:pt x="578777" y="549021"/>
                </a:cubicBezTo>
                <a:cubicBezTo>
                  <a:pt x="618731" y="549021"/>
                  <a:pt x="651840" y="548462"/>
                  <a:pt x="678104" y="547344"/>
                </a:cubicBezTo>
                <a:lnTo>
                  <a:pt x="746836" y="544830"/>
                </a:lnTo>
                <a:cubicBezTo>
                  <a:pt x="760806" y="544830"/>
                  <a:pt x="767791" y="547624"/>
                  <a:pt x="767791" y="553212"/>
                </a:cubicBezTo>
                <a:cubicBezTo>
                  <a:pt x="767791" y="556564"/>
                  <a:pt x="765417" y="559917"/>
                  <a:pt x="760667" y="563270"/>
                </a:cubicBezTo>
                <a:cubicBezTo>
                  <a:pt x="755917" y="566623"/>
                  <a:pt x="733984" y="574725"/>
                  <a:pt x="694868" y="587578"/>
                </a:cubicBezTo>
                <a:cubicBezTo>
                  <a:pt x="655752" y="600430"/>
                  <a:pt x="626834" y="609371"/>
                  <a:pt x="608114" y="614400"/>
                </a:cubicBezTo>
                <a:cubicBezTo>
                  <a:pt x="589395" y="619429"/>
                  <a:pt x="568719" y="621944"/>
                  <a:pt x="546087" y="621944"/>
                </a:cubicBezTo>
                <a:cubicBezTo>
                  <a:pt x="523456" y="621944"/>
                  <a:pt x="493700" y="614121"/>
                  <a:pt x="456819" y="598474"/>
                </a:cubicBezTo>
                <a:cubicBezTo>
                  <a:pt x="339471" y="548182"/>
                  <a:pt x="265151" y="517867"/>
                  <a:pt x="233858" y="507530"/>
                </a:cubicBezTo>
                <a:cubicBezTo>
                  <a:pt x="202565" y="497192"/>
                  <a:pt x="173228" y="492023"/>
                  <a:pt x="145847" y="492023"/>
                </a:cubicBezTo>
                <a:cubicBezTo>
                  <a:pt x="118466" y="492023"/>
                  <a:pt x="88849" y="499287"/>
                  <a:pt x="56998" y="513816"/>
                </a:cubicBezTo>
                <a:cubicBezTo>
                  <a:pt x="53645" y="515493"/>
                  <a:pt x="49594" y="516331"/>
                  <a:pt x="44844" y="516331"/>
                </a:cubicBezTo>
                <a:cubicBezTo>
                  <a:pt x="40094" y="516331"/>
                  <a:pt x="31433" y="511162"/>
                  <a:pt x="18860" y="500824"/>
                </a:cubicBezTo>
                <a:cubicBezTo>
                  <a:pt x="6287" y="490486"/>
                  <a:pt x="0" y="483222"/>
                  <a:pt x="0" y="479031"/>
                </a:cubicBezTo>
                <a:cubicBezTo>
                  <a:pt x="0" y="474840"/>
                  <a:pt x="1397" y="472325"/>
                  <a:pt x="4191" y="471487"/>
                </a:cubicBezTo>
                <a:cubicBezTo>
                  <a:pt x="6985" y="470649"/>
                  <a:pt x="14948" y="470230"/>
                  <a:pt x="28080" y="470230"/>
                </a:cubicBezTo>
                <a:cubicBezTo>
                  <a:pt x="41212" y="470230"/>
                  <a:pt x="62446" y="468553"/>
                  <a:pt x="91783" y="465201"/>
                </a:cubicBezTo>
                <a:cubicBezTo>
                  <a:pt x="121120" y="461848"/>
                  <a:pt x="143053" y="460451"/>
                  <a:pt x="157582" y="461010"/>
                </a:cubicBezTo>
                <a:cubicBezTo>
                  <a:pt x="155905" y="431952"/>
                  <a:pt x="146685" y="401218"/>
                  <a:pt x="129921" y="368808"/>
                </a:cubicBezTo>
                <a:cubicBezTo>
                  <a:pt x="124892" y="359308"/>
                  <a:pt x="122377" y="346176"/>
                  <a:pt x="122377" y="329412"/>
                </a:cubicBezTo>
                <a:cubicBezTo>
                  <a:pt x="122377" y="312648"/>
                  <a:pt x="128245" y="288061"/>
                  <a:pt x="139980" y="255651"/>
                </a:cubicBezTo>
                <a:cubicBezTo>
                  <a:pt x="141097" y="252298"/>
                  <a:pt x="141656" y="249643"/>
                  <a:pt x="141656" y="247688"/>
                </a:cubicBezTo>
                <a:cubicBezTo>
                  <a:pt x="141656" y="245732"/>
                  <a:pt x="139700" y="244754"/>
                  <a:pt x="135789" y="244754"/>
                </a:cubicBezTo>
                <a:cubicBezTo>
                  <a:pt x="131877" y="244754"/>
                  <a:pt x="121819" y="247548"/>
                  <a:pt x="105613" y="253136"/>
                </a:cubicBezTo>
                <a:cubicBezTo>
                  <a:pt x="89408" y="258724"/>
                  <a:pt x="77673" y="261518"/>
                  <a:pt x="70409" y="261518"/>
                </a:cubicBezTo>
                <a:cubicBezTo>
                  <a:pt x="63145" y="261518"/>
                  <a:pt x="54204" y="260261"/>
                  <a:pt x="43587" y="257746"/>
                </a:cubicBezTo>
                <a:cubicBezTo>
                  <a:pt x="32969" y="255231"/>
                  <a:pt x="27661" y="251599"/>
                  <a:pt x="27661" y="246849"/>
                </a:cubicBezTo>
                <a:cubicBezTo>
                  <a:pt x="27661" y="242100"/>
                  <a:pt x="31014" y="239445"/>
                  <a:pt x="37719" y="238887"/>
                </a:cubicBezTo>
                <a:cubicBezTo>
                  <a:pt x="81306" y="232181"/>
                  <a:pt x="114554" y="216255"/>
                  <a:pt x="137465" y="191109"/>
                </a:cubicBezTo>
                <a:cubicBezTo>
                  <a:pt x="143612" y="184404"/>
                  <a:pt x="150457" y="181051"/>
                  <a:pt x="158001" y="181051"/>
                </a:cubicBezTo>
                <a:close/>
                <a:moveTo>
                  <a:pt x="122377" y="0"/>
                </a:moveTo>
                <a:cubicBezTo>
                  <a:pt x="127965" y="0"/>
                  <a:pt x="140818" y="2514"/>
                  <a:pt x="160935" y="7543"/>
                </a:cubicBezTo>
                <a:cubicBezTo>
                  <a:pt x="181051" y="12573"/>
                  <a:pt x="195860" y="19418"/>
                  <a:pt x="205359" y="28079"/>
                </a:cubicBezTo>
                <a:cubicBezTo>
                  <a:pt x="214859" y="36741"/>
                  <a:pt x="219609" y="50571"/>
                  <a:pt x="219609" y="69570"/>
                </a:cubicBezTo>
                <a:cubicBezTo>
                  <a:pt x="219609" y="91363"/>
                  <a:pt x="212624" y="102260"/>
                  <a:pt x="198654" y="102260"/>
                </a:cubicBezTo>
                <a:cubicBezTo>
                  <a:pt x="186919" y="102260"/>
                  <a:pt x="169875" y="88011"/>
                  <a:pt x="147523" y="59512"/>
                </a:cubicBezTo>
                <a:cubicBezTo>
                  <a:pt x="125171" y="31013"/>
                  <a:pt x="113995" y="13970"/>
                  <a:pt x="113995" y="8382"/>
                </a:cubicBezTo>
                <a:cubicBezTo>
                  <a:pt x="113995" y="2794"/>
                  <a:pt x="116789" y="0"/>
                  <a:pt x="122377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885066" y="3545449"/>
            <a:ext cx="369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9155181" y="3099011"/>
            <a:ext cx="474574" cy="600341"/>
          </a:xfrm>
          <a:custGeom>
            <a:avLst/>
            <a:gdLst>
              <a:gd name="csX0" fmla="*/ 131217 w 474574"/>
              <a:gd name="csY0" fmla="*/ 8229 h 600341"/>
              <a:gd name="csX1" fmla="*/ 171450 w 474574"/>
              <a:gd name="csY1" fmla="*/ 25145 h 600341"/>
              <a:gd name="csX2" fmla="*/ 202083 w 474574"/>
              <a:gd name="csY2" fmla="*/ 53492 h 600341"/>
              <a:gd name="csX3" fmla="*/ 192939 w 474574"/>
              <a:gd name="csY3" fmla="*/ 72694 h 600341"/>
              <a:gd name="csX4" fmla="*/ 125273 w 474574"/>
              <a:gd name="csY4" fmla="*/ 181051 h 600341"/>
              <a:gd name="csX5" fmla="*/ 148590 w 474574"/>
              <a:gd name="csY5" fmla="*/ 232257 h 600341"/>
              <a:gd name="csX6" fmla="*/ 152705 w 474574"/>
              <a:gd name="csY6" fmla="*/ 354329 h 600341"/>
              <a:gd name="csX7" fmla="*/ 150876 w 474574"/>
              <a:gd name="csY7" fmla="*/ 498347 h 600341"/>
              <a:gd name="csX8" fmla="*/ 277978 w 474574"/>
              <a:gd name="csY8" fmla="*/ 482803 h 600341"/>
              <a:gd name="csX9" fmla="*/ 281635 w 474574"/>
              <a:gd name="csY9" fmla="*/ 411479 h 600341"/>
              <a:gd name="csX10" fmla="*/ 231801 w 474574"/>
              <a:gd name="csY10" fmla="*/ 417880 h 600341"/>
              <a:gd name="csX11" fmla="*/ 200254 w 474574"/>
              <a:gd name="csY11" fmla="*/ 415137 h 600341"/>
              <a:gd name="csX12" fmla="*/ 184709 w 474574"/>
              <a:gd name="csY12" fmla="*/ 403707 h 600341"/>
              <a:gd name="csX13" fmla="*/ 194767 w 474574"/>
              <a:gd name="csY13" fmla="*/ 394106 h 600341"/>
              <a:gd name="csX14" fmla="*/ 284379 w 474574"/>
              <a:gd name="csY14" fmla="*/ 373075 h 600341"/>
              <a:gd name="csX15" fmla="*/ 284379 w 474574"/>
              <a:gd name="csY15" fmla="*/ 301751 h 600341"/>
              <a:gd name="csX16" fmla="*/ 229515 w 474574"/>
              <a:gd name="csY16" fmla="*/ 309981 h 600341"/>
              <a:gd name="csX17" fmla="*/ 200254 w 474574"/>
              <a:gd name="csY17" fmla="*/ 304495 h 600341"/>
              <a:gd name="csX18" fmla="*/ 188367 w 474574"/>
              <a:gd name="csY18" fmla="*/ 294893 h 600341"/>
              <a:gd name="csX19" fmla="*/ 203911 w 474574"/>
              <a:gd name="csY19" fmla="*/ 287121 h 600341"/>
              <a:gd name="csX20" fmla="*/ 281635 w 474574"/>
              <a:gd name="csY20" fmla="*/ 265175 h 600341"/>
              <a:gd name="csX21" fmla="*/ 266091 w 474574"/>
              <a:gd name="csY21" fmla="*/ 190195 h 600341"/>
              <a:gd name="csX22" fmla="*/ 230429 w 474574"/>
              <a:gd name="csY22" fmla="*/ 193852 h 600341"/>
              <a:gd name="csX23" fmla="*/ 196139 w 474574"/>
              <a:gd name="csY23" fmla="*/ 191109 h 600341"/>
              <a:gd name="csX24" fmla="*/ 178308 w 474574"/>
              <a:gd name="csY24" fmla="*/ 183337 h 600341"/>
              <a:gd name="csX25" fmla="*/ 198882 w 474574"/>
              <a:gd name="csY25" fmla="*/ 174193 h 600341"/>
              <a:gd name="csX26" fmla="*/ 295351 w 474574"/>
              <a:gd name="csY26" fmla="*/ 143560 h 600341"/>
              <a:gd name="csX27" fmla="*/ 387706 w 474574"/>
              <a:gd name="csY27" fmla="*/ 117043 h 600341"/>
              <a:gd name="csX28" fmla="*/ 411023 w 474574"/>
              <a:gd name="csY28" fmla="*/ 121615 h 600341"/>
              <a:gd name="csX29" fmla="*/ 417881 w 474574"/>
              <a:gd name="csY29" fmla="*/ 133959 h 600341"/>
              <a:gd name="csX30" fmla="*/ 400050 w 474574"/>
              <a:gd name="csY30" fmla="*/ 151790 h 600341"/>
              <a:gd name="csX31" fmla="*/ 303581 w 474574"/>
              <a:gd name="csY31" fmla="*/ 181965 h 600341"/>
              <a:gd name="csX32" fmla="*/ 323698 w 474574"/>
              <a:gd name="csY32" fmla="*/ 194309 h 600341"/>
              <a:gd name="csX33" fmla="*/ 330099 w 474574"/>
              <a:gd name="csY33" fmla="*/ 205282 h 600341"/>
              <a:gd name="csX34" fmla="*/ 327355 w 474574"/>
              <a:gd name="csY34" fmla="*/ 221741 h 600341"/>
              <a:gd name="csX35" fmla="*/ 323698 w 474574"/>
              <a:gd name="csY35" fmla="*/ 249631 h 600341"/>
              <a:gd name="csX36" fmla="*/ 369418 w 474574"/>
              <a:gd name="csY36" fmla="*/ 237743 h 600341"/>
              <a:gd name="csX37" fmla="*/ 392278 w 474574"/>
              <a:gd name="csY37" fmla="*/ 242773 h 600341"/>
              <a:gd name="csX38" fmla="*/ 399593 w 474574"/>
              <a:gd name="csY38" fmla="*/ 254203 h 600341"/>
              <a:gd name="csX39" fmla="*/ 378105 w 474574"/>
              <a:gd name="csY39" fmla="*/ 273862 h 600341"/>
              <a:gd name="csX40" fmla="*/ 321869 w 474574"/>
              <a:gd name="csY40" fmla="*/ 293522 h 600341"/>
              <a:gd name="csX41" fmla="*/ 321869 w 474574"/>
              <a:gd name="csY41" fmla="*/ 361187 h 600341"/>
              <a:gd name="csX42" fmla="*/ 365303 w 474574"/>
              <a:gd name="csY42" fmla="*/ 352043 h 600341"/>
              <a:gd name="csX43" fmla="*/ 389992 w 474574"/>
              <a:gd name="csY43" fmla="*/ 355244 h 600341"/>
              <a:gd name="csX44" fmla="*/ 399593 w 474574"/>
              <a:gd name="csY44" fmla="*/ 366217 h 600341"/>
              <a:gd name="csX45" fmla="*/ 381762 w 474574"/>
              <a:gd name="csY45" fmla="*/ 381761 h 600341"/>
              <a:gd name="csX46" fmla="*/ 320955 w 474574"/>
              <a:gd name="csY46" fmla="*/ 401421 h 600341"/>
              <a:gd name="csX47" fmla="*/ 320955 w 474574"/>
              <a:gd name="csY47" fmla="*/ 474573 h 600341"/>
              <a:gd name="csX48" fmla="*/ 415138 w 474574"/>
              <a:gd name="csY48" fmla="*/ 460857 h 600341"/>
              <a:gd name="csX49" fmla="*/ 458115 w 474574"/>
              <a:gd name="csY49" fmla="*/ 472744 h 600341"/>
              <a:gd name="csX50" fmla="*/ 474574 w 474574"/>
              <a:gd name="csY50" fmla="*/ 492861 h 600341"/>
              <a:gd name="csX51" fmla="*/ 441655 w 474574"/>
              <a:gd name="csY51" fmla="*/ 506577 h 600341"/>
              <a:gd name="csX52" fmla="*/ 234087 w 474574"/>
              <a:gd name="csY52" fmla="*/ 523036 h 600341"/>
              <a:gd name="csX53" fmla="*/ 190195 w 474574"/>
              <a:gd name="csY53" fmla="*/ 527608 h 600341"/>
              <a:gd name="csX54" fmla="*/ 150876 w 474574"/>
              <a:gd name="csY54" fmla="*/ 522122 h 600341"/>
              <a:gd name="csX55" fmla="*/ 143790 w 474574"/>
              <a:gd name="csY55" fmla="*/ 576986 h 600341"/>
              <a:gd name="csX56" fmla="*/ 137534 w 474574"/>
              <a:gd name="csY56" fmla="*/ 600341 h 600341"/>
              <a:gd name="csX57" fmla="*/ 109737 w 474574"/>
              <a:gd name="csY57" fmla="*/ 590478 h 600341"/>
              <a:gd name="csX58" fmla="*/ 101956 w 474574"/>
              <a:gd name="csY58" fmla="*/ 567842 h 600341"/>
              <a:gd name="csX59" fmla="*/ 96927 w 474574"/>
              <a:gd name="csY59" fmla="*/ 540410 h 600341"/>
              <a:gd name="csX60" fmla="*/ 105156 w 474574"/>
              <a:gd name="csY60" fmla="*/ 497433 h 600341"/>
              <a:gd name="csX61" fmla="*/ 116129 w 474574"/>
              <a:gd name="csY61" fmla="*/ 327355 h 600341"/>
              <a:gd name="csX62" fmla="*/ 106985 w 474574"/>
              <a:gd name="csY62" fmla="*/ 210311 h 600341"/>
              <a:gd name="csX63" fmla="*/ 44806 w 474574"/>
              <a:gd name="csY63" fmla="*/ 282549 h 600341"/>
              <a:gd name="csX64" fmla="*/ 3658 w 474574"/>
              <a:gd name="csY64" fmla="*/ 312724 h 600341"/>
              <a:gd name="csX65" fmla="*/ 0 w 474574"/>
              <a:gd name="csY65" fmla="*/ 308609 h 600341"/>
              <a:gd name="csX66" fmla="*/ 7315 w 474574"/>
              <a:gd name="csY66" fmla="*/ 296265 h 600341"/>
              <a:gd name="csX67" fmla="*/ 87783 w 474574"/>
              <a:gd name="csY67" fmla="*/ 161848 h 600341"/>
              <a:gd name="csX68" fmla="*/ 128931 w 474574"/>
              <a:gd name="csY68" fmla="*/ 50291 h 600341"/>
              <a:gd name="csX69" fmla="*/ 125273 w 474574"/>
              <a:gd name="csY69" fmla="*/ 30175 h 600341"/>
              <a:gd name="csX70" fmla="*/ 121615 w 474574"/>
              <a:gd name="csY70" fmla="*/ 14630 h 600341"/>
              <a:gd name="csX71" fmla="*/ 131217 w 474574"/>
              <a:gd name="csY71" fmla="*/ 8229 h 600341"/>
              <a:gd name="csX72" fmla="*/ 255118 w 474574"/>
              <a:gd name="csY72" fmla="*/ 0 h 600341"/>
              <a:gd name="csX73" fmla="*/ 319583 w 474574"/>
              <a:gd name="csY73" fmla="*/ 16460 h 600341"/>
              <a:gd name="csX74" fmla="*/ 350215 w 474574"/>
              <a:gd name="csY74" fmla="*/ 67666 h 600341"/>
              <a:gd name="csX75" fmla="*/ 329184 w 474574"/>
              <a:gd name="csY75" fmla="*/ 97841 h 600341"/>
              <a:gd name="csX76" fmla="*/ 308153 w 474574"/>
              <a:gd name="csY76" fmla="*/ 85954 h 600341"/>
              <a:gd name="csX77" fmla="*/ 271577 w 474574"/>
              <a:gd name="csY77" fmla="*/ 41148 h 600341"/>
              <a:gd name="csX78" fmla="*/ 246888 w 474574"/>
              <a:gd name="csY78" fmla="*/ 4115 h 600341"/>
              <a:gd name="csX79" fmla="*/ 255118 w 474574"/>
              <a:gd name="csY79" fmla="*/ 0 h 600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</a:cxnLst>
            <a:rect l="l" t="t" r="r" b="b"/>
            <a:pathLst>
              <a:path w="474574" h="600341">
                <a:moveTo>
                  <a:pt x="131217" y="8229"/>
                </a:moveTo>
                <a:cubicBezTo>
                  <a:pt x="137617" y="8229"/>
                  <a:pt x="151029" y="13868"/>
                  <a:pt x="171450" y="25145"/>
                </a:cubicBezTo>
                <a:cubicBezTo>
                  <a:pt x="191872" y="36423"/>
                  <a:pt x="202083" y="45872"/>
                  <a:pt x="202083" y="53492"/>
                </a:cubicBezTo>
                <a:cubicBezTo>
                  <a:pt x="202083" y="61112"/>
                  <a:pt x="199035" y="67513"/>
                  <a:pt x="192939" y="72694"/>
                </a:cubicBezTo>
                <a:cubicBezTo>
                  <a:pt x="186843" y="77876"/>
                  <a:pt x="164287" y="113995"/>
                  <a:pt x="125273" y="181051"/>
                </a:cubicBezTo>
                <a:cubicBezTo>
                  <a:pt x="138075" y="193852"/>
                  <a:pt x="145847" y="210921"/>
                  <a:pt x="148590" y="232257"/>
                </a:cubicBezTo>
                <a:cubicBezTo>
                  <a:pt x="151333" y="253593"/>
                  <a:pt x="152705" y="294284"/>
                  <a:pt x="152705" y="354329"/>
                </a:cubicBezTo>
                <a:cubicBezTo>
                  <a:pt x="152705" y="414375"/>
                  <a:pt x="152095" y="462381"/>
                  <a:pt x="150876" y="498347"/>
                </a:cubicBezTo>
                <a:cubicBezTo>
                  <a:pt x="181356" y="496519"/>
                  <a:pt x="223723" y="491337"/>
                  <a:pt x="277978" y="482803"/>
                </a:cubicBezTo>
                <a:lnTo>
                  <a:pt x="281635" y="411479"/>
                </a:lnTo>
                <a:cubicBezTo>
                  <a:pt x="259080" y="415747"/>
                  <a:pt x="242469" y="417880"/>
                  <a:pt x="231801" y="417880"/>
                </a:cubicBezTo>
                <a:cubicBezTo>
                  <a:pt x="221133" y="417880"/>
                  <a:pt x="210617" y="416966"/>
                  <a:pt x="200254" y="415137"/>
                </a:cubicBezTo>
                <a:cubicBezTo>
                  <a:pt x="189891" y="413308"/>
                  <a:pt x="184709" y="409498"/>
                  <a:pt x="184709" y="403707"/>
                </a:cubicBezTo>
                <a:cubicBezTo>
                  <a:pt x="184709" y="397916"/>
                  <a:pt x="188062" y="394715"/>
                  <a:pt x="194767" y="394106"/>
                </a:cubicBezTo>
                <a:cubicBezTo>
                  <a:pt x="214275" y="391667"/>
                  <a:pt x="244145" y="384657"/>
                  <a:pt x="284379" y="373075"/>
                </a:cubicBezTo>
                <a:lnTo>
                  <a:pt x="284379" y="301751"/>
                </a:lnTo>
                <a:cubicBezTo>
                  <a:pt x="259385" y="307238"/>
                  <a:pt x="241097" y="309981"/>
                  <a:pt x="229515" y="309981"/>
                </a:cubicBezTo>
                <a:cubicBezTo>
                  <a:pt x="217932" y="309981"/>
                  <a:pt x="208179" y="308152"/>
                  <a:pt x="200254" y="304495"/>
                </a:cubicBezTo>
                <a:cubicBezTo>
                  <a:pt x="192329" y="300837"/>
                  <a:pt x="188367" y="297637"/>
                  <a:pt x="188367" y="294893"/>
                </a:cubicBezTo>
                <a:cubicBezTo>
                  <a:pt x="188367" y="292150"/>
                  <a:pt x="193548" y="289559"/>
                  <a:pt x="203911" y="287121"/>
                </a:cubicBezTo>
                <a:cubicBezTo>
                  <a:pt x="229515" y="281025"/>
                  <a:pt x="255423" y="273710"/>
                  <a:pt x="281635" y="265175"/>
                </a:cubicBezTo>
                <a:cubicBezTo>
                  <a:pt x="279197" y="230428"/>
                  <a:pt x="274015" y="205435"/>
                  <a:pt x="266091" y="190195"/>
                </a:cubicBezTo>
                <a:cubicBezTo>
                  <a:pt x="253289" y="192633"/>
                  <a:pt x="241402" y="193852"/>
                  <a:pt x="230429" y="193852"/>
                </a:cubicBezTo>
                <a:cubicBezTo>
                  <a:pt x="219456" y="193852"/>
                  <a:pt x="208026" y="192938"/>
                  <a:pt x="196139" y="191109"/>
                </a:cubicBezTo>
                <a:cubicBezTo>
                  <a:pt x="184252" y="189280"/>
                  <a:pt x="178308" y="186689"/>
                  <a:pt x="178308" y="183337"/>
                </a:cubicBezTo>
                <a:cubicBezTo>
                  <a:pt x="178308" y="179984"/>
                  <a:pt x="185166" y="176936"/>
                  <a:pt x="198882" y="174193"/>
                </a:cubicBezTo>
                <a:cubicBezTo>
                  <a:pt x="212598" y="171449"/>
                  <a:pt x="244755" y="161239"/>
                  <a:pt x="295351" y="143560"/>
                </a:cubicBezTo>
                <a:cubicBezTo>
                  <a:pt x="345948" y="125882"/>
                  <a:pt x="376733" y="117043"/>
                  <a:pt x="387706" y="117043"/>
                </a:cubicBezTo>
                <a:cubicBezTo>
                  <a:pt x="398679" y="117043"/>
                  <a:pt x="406451" y="118567"/>
                  <a:pt x="411023" y="121615"/>
                </a:cubicBezTo>
                <a:cubicBezTo>
                  <a:pt x="415595" y="124663"/>
                  <a:pt x="417881" y="128777"/>
                  <a:pt x="417881" y="133959"/>
                </a:cubicBezTo>
                <a:cubicBezTo>
                  <a:pt x="417881" y="139141"/>
                  <a:pt x="411937" y="145084"/>
                  <a:pt x="400050" y="151790"/>
                </a:cubicBezTo>
                <a:cubicBezTo>
                  <a:pt x="388163" y="158495"/>
                  <a:pt x="356007" y="168554"/>
                  <a:pt x="303581" y="181965"/>
                </a:cubicBezTo>
                <a:cubicBezTo>
                  <a:pt x="312725" y="186842"/>
                  <a:pt x="319431" y="190957"/>
                  <a:pt x="323698" y="194309"/>
                </a:cubicBezTo>
                <a:cubicBezTo>
                  <a:pt x="327965" y="197662"/>
                  <a:pt x="330099" y="201320"/>
                  <a:pt x="330099" y="205282"/>
                </a:cubicBezTo>
                <a:cubicBezTo>
                  <a:pt x="330099" y="209245"/>
                  <a:pt x="329184" y="214731"/>
                  <a:pt x="327355" y="221741"/>
                </a:cubicBezTo>
                <a:cubicBezTo>
                  <a:pt x="325527" y="228752"/>
                  <a:pt x="324307" y="238048"/>
                  <a:pt x="323698" y="249631"/>
                </a:cubicBezTo>
                <a:cubicBezTo>
                  <a:pt x="343815" y="241706"/>
                  <a:pt x="359055" y="237743"/>
                  <a:pt x="369418" y="237743"/>
                </a:cubicBezTo>
                <a:cubicBezTo>
                  <a:pt x="379781" y="237743"/>
                  <a:pt x="387401" y="239420"/>
                  <a:pt x="392278" y="242773"/>
                </a:cubicBezTo>
                <a:cubicBezTo>
                  <a:pt x="397155" y="246125"/>
                  <a:pt x="399593" y="249935"/>
                  <a:pt x="399593" y="254203"/>
                </a:cubicBezTo>
                <a:cubicBezTo>
                  <a:pt x="399593" y="261518"/>
                  <a:pt x="392430" y="268071"/>
                  <a:pt x="378105" y="273862"/>
                </a:cubicBezTo>
                <a:cubicBezTo>
                  <a:pt x="363779" y="279653"/>
                  <a:pt x="345034" y="286207"/>
                  <a:pt x="321869" y="293522"/>
                </a:cubicBezTo>
                <a:lnTo>
                  <a:pt x="321869" y="361187"/>
                </a:lnTo>
                <a:cubicBezTo>
                  <a:pt x="340767" y="355091"/>
                  <a:pt x="355245" y="352043"/>
                  <a:pt x="365303" y="352043"/>
                </a:cubicBezTo>
                <a:cubicBezTo>
                  <a:pt x="375361" y="352043"/>
                  <a:pt x="383591" y="353110"/>
                  <a:pt x="389992" y="355244"/>
                </a:cubicBezTo>
                <a:cubicBezTo>
                  <a:pt x="396393" y="357377"/>
                  <a:pt x="399593" y="361035"/>
                  <a:pt x="399593" y="366217"/>
                </a:cubicBezTo>
                <a:cubicBezTo>
                  <a:pt x="399593" y="371398"/>
                  <a:pt x="393649" y="376580"/>
                  <a:pt x="381762" y="381761"/>
                </a:cubicBezTo>
                <a:cubicBezTo>
                  <a:pt x="369875" y="386943"/>
                  <a:pt x="349606" y="393496"/>
                  <a:pt x="320955" y="401421"/>
                </a:cubicBezTo>
                <a:lnTo>
                  <a:pt x="320955" y="474573"/>
                </a:lnTo>
                <a:cubicBezTo>
                  <a:pt x="366065" y="465429"/>
                  <a:pt x="397459" y="460857"/>
                  <a:pt x="415138" y="460857"/>
                </a:cubicBezTo>
                <a:cubicBezTo>
                  <a:pt x="432816" y="460857"/>
                  <a:pt x="447142" y="464819"/>
                  <a:pt x="458115" y="472744"/>
                </a:cubicBezTo>
                <a:cubicBezTo>
                  <a:pt x="469087" y="480669"/>
                  <a:pt x="474574" y="487375"/>
                  <a:pt x="474574" y="492861"/>
                </a:cubicBezTo>
                <a:cubicBezTo>
                  <a:pt x="474574" y="501395"/>
                  <a:pt x="463601" y="505967"/>
                  <a:pt x="441655" y="506577"/>
                </a:cubicBezTo>
                <a:cubicBezTo>
                  <a:pt x="355092" y="508406"/>
                  <a:pt x="285903" y="513892"/>
                  <a:pt x="234087" y="523036"/>
                </a:cubicBezTo>
                <a:cubicBezTo>
                  <a:pt x="216408" y="526084"/>
                  <a:pt x="201778" y="527608"/>
                  <a:pt x="190195" y="527608"/>
                </a:cubicBezTo>
                <a:cubicBezTo>
                  <a:pt x="178613" y="527608"/>
                  <a:pt x="165507" y="525779"/>
                  <a:pt x="150876" y="522122"/>
                </a:cubicBezTo>
                <a:cubicBezTo>
                  <a:pt x="149048" y="543153"/>
                  <a:pt x="146685" y="561441"/>
                  <a:pt x="143790" y="576986"/>
                </a:cubicBezTo>
                <a:lnTo>
                  <a:pt x="137534" y="600341"/>
                </a:lnTo>
                <a:lnTo>
                  <a:pt x="109737" y="590478"/>
                </a:lnTo>
                <a:lnTo>
                  <a:pt x="101956" y="567842"/>
                </a:lnTo>
                <a:cubicBezTo>
                  <a:pt x="98603" y="555955"/>
                  <a:pt x="96927" y="546811"/>
                  <a:pt x="96927" y="540410"/>
                </a:cubicBezTo>
                <a:cubicBezTo>
                  <a:pt x="96927" y="527608"/>
                  <a:pt x="99670" y="513283"/>
                  <a:pt x="105156" y="497433"/>
                </a:cubicBezTo>
                <a:cubicBezTo>
                  <a:pt x="112471" y="475487"/>
                  <a:pt x="116129" y="418795"/>
                  <a:pt x="116129" y="327355"/>
                </a:cubicBezTo>
                <a:cubicBezTo>
                  <a:pt x="116129" y="268223"/>
                  <a:pt x="113081" y="229209"/>
                  <a:pt x="106985" y="210311"/>
                </a:cubicBezTo>
                <a:cubicBezTo>
                  <a:pt x="86868" y="238353"/>
                  <a:pt x="66142" y="262432"/>
                  <a:pt x="44806" y="282549"/>
                </a:cubicBezTo>
                <a:cubicBezTo>
                  <a:pt x="23470" y="302666"/>
                  <a:pt x="9754" y="312724"/>
                  <a:pt x="3658" y="312724"/>
                </a:cubicBezTo>
                <a:cubicBezTo>
                  <a:pt x="1219" y="312724"/>
                  <a:pt x="0" y="311353"/>
                  <a:pt x="0" y="308609"/>
                </a:cubicBezTo>
                <a:cubicBezTo>
                  <a:pt x="0" y="305866"/>
                  <a:pt x="2439" y="301751"/>
                  <a:pt x="7315" y="296265"/>
                </a:cubicBezTo>
                <a:cubicBezTo>
                  <a:pt x="33528" y="261518"/>
                  <a:pt x="60351" y="216712"/>
                  <a:pt x="87783" y="161848"/>
                </a:cubicBezTo>
                <a:cubicBezTo>
                  <a:pt x="115215" y="106984"/>
                  <a:pt x="128931" y="69799"/>
                  <a:pt x="128931" y="50291"/>
                </a:cubicBezTo>
                <a:cubicBezTo>
                  <a:pt x="128931" y="42976"/>
                  <a:pt x="127711" y="36271"/>
                  <a:pt x="125273" y="30175"/>
                </a:cubicBezTo>
                <a:cubicBezTo>
                  <a:pt x="122835" y="24079"/>
                  <a:pt x="121615" y="18897"/>
                  <a:pt x="121615" y="14630"/>
                </a:cubicBezTo>
                <a:cubicBezTo>
                  <a:pt x="121615" y="10363"/>
                  <a:pt x="124816" y="8229"/>
                  <a:pt x="131217" y="8229"/>
                </a:cubicBezTo>
                <a:close/>
                <a:moveTo>
                  <a:pt x="255118" y="0"/>
                </a:moveTo>
                <a:cubicBezTo>
                  <a:pt x="277673" y="0"/>
                  <a:pt x="299161" y="5487"/>
                  <a:pt x="319583" y="16460"/>
                </a:cubicBezTo>
                <a:cubicBezTo>
                  <a:pt x="340005" y="27432"/>
                  <a:pt x="350215" y="44501"/>
                  <a:pt x="350215" y="67666"/>
                </a:cubicBezTo>
                <a:cubicBezTo>
                  <a:pt x="350215" y="87783"/>
                  <a:pt x="343205" y="97841"/>
                  <a:pt x="329184" y="97841"/>
                </a:cubicBezTo>
                <a:cubicBezTo>
                  <a:pt x="323088" y="97841"/>
                  <a:pt x="316078" y="93879"/>
                  <a:pt x="308153" y="85954"/>
                </a:cubicBezTo>
                <a:cubicBezTo>
                  <a:pt x="300228" y="78029"/>
                  <a:pt x="288036" y="63094"/>
                  <a:pt x="271577" y="41148"/>
                </a:cubicBezTo>
                <a:cubicBezTo>
                  <a:pt x="255118" y="19203"/>
                  <a:pt x="246888" y="6858"/>
                  <a:pt x="246888" y="4115"/>
                </a:cubicBezTo>
                <a:cubicBezTo>
                  <a:pt x="246888" y="1372"/>
                  <a:pt x="249631" y="0"/>
                  <a:pt x="255118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9537364" y="2902658"/>
            <a:ext cx="521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625488" y="3776802"/>
            <a:ext cx="758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jn4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7.40741E-7 L 0.10729 0.03426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65" y="1713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7.40741E-7 L 0.06901 0.12708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6343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4" grpId="0" animBg="1"/>
      <p:bldP spid="15" grpId="0" animBg="1"/>
      <p:bldP spid="16" grpId="0"/>
      <p:bldP spid="16" grpId="1"/>
      <p:bldP spid="24" grpId="0" animBg="1"/>
      <p:bldP spid="25" grpId="0"/>
      <p:bldP spid="25" grpId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五、简化解书拆分规则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19200" y="1295843"/>
            <a:ext cx="104943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buNone/>
            </a:pP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解书拆分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规则是一套用于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精确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描述汉字结构的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递归式语法系统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。它通过结构化编码实现汉字的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拆分，为输入法编码提供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字形分析基础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解书拆分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规则本身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不直接用于输入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，而是作为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码和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码选取的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理论依据和辅助工具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全开规则采用一套简洁的符号系统来描述汉字结构：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292444" y="2743199"/>
          <a:ext cx="8122146" cy="37327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3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2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6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2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类别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符号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含义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702">
                <a:tc>
                  <a:txBody>
                    <a:bodyPr/>
                    <a:lstStyle/>
                    <a:p>
                      <a:pPr marL="635" algn="ctr">
                        <a:buNone/>
                      </a:pPr>
                      <a:r>
                        <a:rPr lang="zh-CN" sz="2000" kern="100">
                          <a:effectLst/>
                        </a:rPr>
                        <a:t>左右结构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r.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⿰（左右并列）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左中右结构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rr</a:t>
                      </a:r>
                      <a:r>
                        <a:rPr lang="en-US" sz="2000" kern="100" dirty="0">
                          <a:effectLst/>
                        </a:rPr>
                        <a:t>.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⿲（左中右并列）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上下结构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.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⿱（上下叠加）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上中下结构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ii.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⿳（上中下叠加）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包围结构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l.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⿸</a:t>
                      </a:r>
                      <a:r>
                        <a:rPr lang="en-US" sz="2000" kern="100">
                          <a:effectLst/>
                        </a:rPr>
                        <a:t>/</a:t>
                      </a:r>
                      <a:r>
                        <a:rPr lang="zh-CN" sz="2000" kern="100">
                          <a:effectLst/>
                        </a:rPr>
                        <a:t>⿹</a:t>
                      </a:r>
                      <a:r>
                        <a:rPr lang="en-US" sz="2000" kern="100">
                          <a:effectLst/>
                        </a:rPr>
                        <a:t>/</a:t>
                      </a:r>
                      <a:r>
                        <a:rPr lang="zh-CN" sz="2000" kern="100">
                          <a:effectLst/>
                        </a:rPr>
                        <a:t>⿺等（各种包围）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交错结构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x.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⿻（笔画交错，少用）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6433" y="1638300"/>
            <a:ext cx="2344479" cy="6583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>
                <a:solidFill>
                  <a:schemeClr val="tx1"/>
                </a:solidFill>
              </a:rPr>
              <a:t>部件表示法</a:t>
            </a:r>
            <a:r>
              <a:rPr lang="en-US" altLang="zh-CN" sz="2400" b="1" dirty="0">
                <a:solidFill>
                  <a:schemeClr val="tx1"/>
                </a:solidFill>
              </a:rPr>
              <a:t>                                                                    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en-US" b="1" dirty="0"/>
              <a:t>五、简化解书拆分规则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386474"/>
              </p:ext>
            </p:extLst>
          </p:nvPr>
        </p:nvGraphicFramePr>
        <p:xfrm>
          <a:off x="485554" y="2095500"/>
          <a:ext cx="9106786" cy="31673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7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3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0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5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656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表示法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格式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示例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56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部首双码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部首</a:t>
                      </a:r>
                      <a:r>
                        <a:rPr lang="zh-CN" altLang="en-US" sz="2000" kern="100" dirty="0">
                          <a:effectLst/>
                        </a:rPr>
                        <a:t>码</a:t>
                      </a:r>
                      <a:r>
                        <a:rPr lang="en-US" sz="2000" kern="100" dirty="0">
                          <a:effectLst/>
                        </a:rPr>
                        <a:t> + </a:t>
                      </a:r>
                    </a:p>
                    <a:p>
                      <a:pPr algn="just">
                        <a:buNone/>
                      </a:pP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部首次码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部首在部首表中的位置对应部首次码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贝</a:t>
                      </a:r>
                      <a:r>
                        <a:rPr lang="en-US" sz="2000" kern="100" dirty="0">
                          <a:effectLst/>
                        </a:rPr>
                        <a:t> → </a:t>
                      </a:r>
                      <a:r>
                        <a:rPr lang="en-US" sz="2000" kern="100" dirty="0" err="1">
                          <a:effectLst/>
                        </a:rPr>
                        <a:t>bz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0" marT="89001" marB="8900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独体字码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前四</a:t>
                      </a:r>
                      <a:r>
                        <a:rPr lang="zh-CN" sz="2000" kern="100" dirty="0">
                          <a:effectLst/>
                        </a:rPr>
                        <a:t>码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独体字的完整四码表示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天</a:t>
                      </a:r>
                      <a:r>
                        <a:rPr lang="en-US" sz="2000" kern="100" dirty="0">
                          <a:effectLst/>
                        </a:rPr>
                        <a:t> → tm16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0" marT="89001" marB="8900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20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扩展</a:t>
                      </a:r>
                      <a:r>
                        <a:rPr lang="zh-CN" sz="20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字根</a:t>
                      </a:r>
                      <a:endParaRPr lang="zh-CN" sz="20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b="1" kern="100" dirty="0">
                          <a:effectLst/>
                        </a:rPr>
                        <a:t>两个字母的代码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2000" b="1" kern="100" dirty="0">
                          <a:effectLst/>
                        </a:rPr>
                        <a:t>非部首表中的必要字符（见扩展字根表）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b="1" kern="100" dirty="0">
                          <a:effectLst/>
                        </a:rPr>
                        <a:t>立</a:t>
                      </a:r>
                      <a:r>
                        <a:rPr lang="en-US" sz="2000" b="1" kern="100" dirty="0">
                          <a:effectLst/>
                        </a:rPr>
                        <a:t> → </a:t>
                      </a:r>
                      <a:r>
                        <a:rPr lang="en-US" sz="2000" b="1" kern="100" dirty="0" err="1">
                          <a:effectLst/>
                        </a:rPr>
                        <a:t>ld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0" marT="89001" marB="8900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简化表示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见</a:t>
                      </a:r>
                      <a:r>
                        <a:rPr lang="zh-CN" altLang="en-US" sz="2000" kern="100" dirty="0">
                          <a:effectLst/>
                        </a:rPr>
                        <a:t>后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实际编码中使用的简化形式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贝</a:t>
                      </a:r>
                      <a:r>
                        <a:rPr lang="en-US" sz="2000" kern="100" dirty="0">
                          <a:effectLst/>
                        </a:rPr>
                        <a:t> → bb </a:t>
                      </a:r>
                      <a:r>
                        <a:rPr lang="zh-CN" sz="2000" kern="100" dirty="0">
                          <a:effectLst/>
                        </a:rPr>
                        <a:t>立</a:t>
                      </a:r>
                      <a:r>
                        <a:rPr lang="en-US" sz="2000" kern="100" dirty="0">
                          <a:effectLst/>
                        </a:rPr>
                        <a:t> → </a:t>
                      </a:r>
                      <a:r>
                        <a:rPr lang="en-US" sz="2000" kern="100" dirty="0" err="1">
                          <a:effectLst/>
                        </a:rPr>
                        <a:t>dj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0" marT="89001" marB="8900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592340" y="2095500"/>
          <a:ext cx="2599660" cy="4762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9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符号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含义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(u)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取部件的上部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(d)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取部件的下部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(l)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取部件的左部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(r)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取部件的右部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(f)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繁体形式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(j)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简体形式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(b)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变体形式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(x)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去掉某部分（少用）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内容占位符 2"/>
          <p:cNvSpPr txBox="1"/>
          <p:nvPr/>
        </p:nvSpPr>
        <p:spPr>
          <a:xfrm>
            <a:off x="9592340" y="1638299"/>
            <a:ext cx="2344479" cy="65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175" indent="-384175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注释语</a:t>
            </a:r>
            <a:r>
              <a:rPr lang="zh-CN" altLang="zh-CN" sz="2400" b="1" dirty="0">
                <a:solidFill>
                  <a:schemeClr val="tx1"/>
                </a:solidFill>
              </a:rPr>
              <a:t>法</a:t>
            </a:r>
            <a:r>
              <a:rPr lang="en-US" altLang="zh-CN" sz="2400" b="1" dirty="0">
                <a:solidFill>
                  <a:schemeClr val="tx1"/>
                </a:solidFill>
              </a:rPr>
              <a:t>                                                                    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indent="0">
              <a:buFont typeface="Franklin Gothic Book" panose="020B0503020102020204" pitchFamily="34" charset="0"/>
              <a:buNone/>
            </a:pP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0726" y="1428750"/>
            <a:ext cx="2286000" cy="1052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/>
              <a:t>集合语法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en-US" b="1" dirty="0"/>
              <a:t>五、简化解书拆分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20726" y="1866013"/>
          <a:ext cx="4807461" cy="17907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4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3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符号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含义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[]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将相关部件分组，</a:t>
                      </a:r>
                      <a:endParaRPr lang="en-US" altLang="zh-CN" sz="20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如</a:t>
                      </a:r>
                      <a:r>
                        <a:rPr lang="en-US" sz="2000" kern="100" dirty="0">
                          <a:effectLst/>
                        </a:rPr>
                        <a:t>[</a:t>
                      </a:r>
                      <a:r>
                        <a:rPr lang="en-US" sz="2000" kern="100" dirty="0" err="1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. </a:t>
                      </a:r>
                      <a:r>
                        <a:rPr lang="en-US" sz="2000" kern="100" dirty="0" err="1">
                          <a:effectLst/>
                        </a:rPr>
                        <a:t>sj</a:t>
                      </a:r>
                      <a:r>
                        <a:rPr lang="en-US" sz="2000" kern="100" dirty="0">
                          <a:effectLst/>
                        </a:rPr>
                        <a:t> kb 4] </a:t>
                      </a:r>
                      <a:r>
                        <a:rPr lang="zh-CN" sz="2000" kern="100" dirty="0">
                          <a:effectLst/>
                        </a:rPr>
                        <a:t>表示一个上下结构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々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重复前一部件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77018" y="4191000"/>
          <a:ext cx="2559315" cy="2476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1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数字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含义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左右微调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2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上下微调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3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包围微调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4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交错微调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内容占位符 2"/>
          <p:cNvSpPr txBox="1"/>
          <p:nvPr/>
        </p:nvSpPr>
        <p:spPr>
          <a:xfrm>
            <a:off x="1020726" y="3784303"/>
            <a:ext cx="2286000" cy="1052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175" indent="-384175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zh-CN" altLang="en-US" sz="2400" b="1" dirty="0"/>
              <a:t>微调数字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998092" y="151179"/>
            <a:ext cx="609511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编码流程</a:t>
            </a:r>
          </a:p>
          <a:p>
            <a:pPr algn="just">
              <a:buNone/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：拆分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按结构码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递归拆分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汉字至基础部件，直到所有部件都可用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部首双码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、独体字码或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扩展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字根表示。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拆分原则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优先按明显结构拆分（左右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包围）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包围结构统一用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l.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允许编码简写（如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fu4r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替代重复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付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结构）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：表示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部件用以下方式表示：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部首部件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：用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表示（部首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部首次码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是部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首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表中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的第三个部首，对应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部首次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表中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的第三个字母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，组合为</a:t>
            </a:r>
            <a:r>
              <a:rPr lang="en-US" altLang="zh-CN" sz="20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xn</a:t>
            </a:r>
            <a:endParaRPr lang="zh-CN" altLang="zh-CN" sz="20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独体字部件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：用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前四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码表示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特殊部件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：用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扩展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字根表示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：组合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按结构码组合部件序列，用空格分隔各部件。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对：</a:t>
            </a:r>
            <a:r>
              <a:rPr lang="en-US" altLang="zh-CN" sz="2000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r. </a:t>
            </a:r>
            <a:r>
              <a:rPr lang="en-US" altLang="zh-CN" sz="2000" kern="100" dirty="0" err="1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ky</a:t>
            </a:r>
            <a:r>
              <a:rPr lang="en-US" altLang="zh-CN" sz="2000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 cp</a:t>
            </a:r>
            <a:endParaRPr lang="zh-CN" altLang="zh-CN" sz="2000" kern="100" dirty="0">
              <a:effectLst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indent="533400" algn="just">
              <a:buNone/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r.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：左右结构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buNone/>
            </a:pP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ky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buNone/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cp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寸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1600" y="1313121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/>
              <a:t>扩展</a:t>
            </a:r>
            <a:r>
              <a:rPr lang="zh-CN" altLang="zh-CN" sz="2400" b="1" dirty="0"/>
              <a:t>字根表（扩展中）</a:t>
            </a:r>
            <a:endParaRPr lang="zh-CN" altLang="zh-CN" sz="2400" dirty="0"/>
          </a:p>
          <a:p>
            <a:pPr marL="0" indent="0">
              <a:buNone/>
            </a:pPr>
            <a:r>
              <a:rPr lang="zh-CN" altLang="en-US" dirty="0"/>
              <a:t>扩展</a:t>
            </a:r>
            <a:r>
              <a:rPr lang="zh-CN" altLang="zh-CN" dirty="0"/>
              <a:t>字根用于表示</a:t>
            </a:r>
            <a:r>
              <a:rPr lang="zh-CN" altLang="zh-CN" b="1" dirty="0"/>
              <a:t>非部</a:t>
            </a:r>
            <a:r>
              <a:rPr lang="zh-CN" altLang="en-US" b="1" dirty="0"/>
              <a:t>首</a:t>
            </a:r>
            <a:r>
              <a:rPr lang="zh-CN" altLang="zh-CN" b="1" dirty="0"/>
              <a:t>表中的必要字符</a:t>
            </a:r>
            <a:r>
              <a:rPr lang="zh-CN" altLang="zh-CN" dirty="0"/>
              <a:t>，这些字符在汉字拆分中经常出现，但不是标准部首。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07065"/>
          </a:xfrm>
        </p:spPr>
        <p:txBody>
          <a:bodyPr/>
          <a:lstStyle/>
          <a:p>
            <a:r>
              <a:rPr lang="zh-CN" altLang="en-US" b="1" dirty="0"/>
              <a:t>五、简化解书拆分规则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446915" y="2457530"/>
          <a:ext cx="6882809" cy="412934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002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5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字根码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对应部件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字根码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对应部件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字根码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对应部件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>
                          <a:effectLst/>
                        </a:rPr>
                        <a:t>se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𢀖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sb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oj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卬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 err="1">
                          <a:effectLst/>
                        </a:rPr>
                        <a:t>ld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立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gc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𢦏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bh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㡀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>
                          <a:effectLst/>
                        </a:rPr>
                        <a:t>lg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鹿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ko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コ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hh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𰀁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 err="1">
                          <a:effectLst/>
                        </a:rPr>
                        <a:t>ju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丩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dr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段</a:t>
                      </a:r>
                      <a:r>
                        <a:rPr lang="en-US" sz="2000" kern="100" dirty="0">
                          <a:effectLst/>
                        </a:rPr>
                        <a:t>(</a:t>
                      </a:r>
                      <a:r>
                        <a:rPr lang="zh-CN" sz="2000" kern="100" dirty="0">
                          <a:effectLst/>
                        </a:rPr>
                        <a:t>左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wd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亡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>
                          <a:effectLst/>
                        </a:rPr>
                        <a:t>fd</a:t>
                      </a:r>
                      <a:endParaRPr lang="zh-CN" sz="20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负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mb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买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nt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𰀂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 err="1">
                          <a:effectLst/>
                        </a:rPr>
                        <a:t>hb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丌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wu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戊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xu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卂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>
                          <a:effectLst/>
                        </a:rPr>
                        <a:t>md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マ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jq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介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yw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𠃓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>
                          <a:effectLst/>
                        </a:rPr>
                        <a:t>nd</a:t>
                      </a:r>
                      <a:endParaRPr lang="zh-CN" sz="20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犮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lr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卵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di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𠂔</a:t>
                      </a:r>
                      <a:r>
                        <a:rPr lang="en-US" sz="2000" kern="100">
                          <a:effectLst/>
                        </a:rPr>
                        <a:t>/</a:t>
                      </a:r>
                      <a:r>
                        <a:rPr lang="zh-CN" sz="2000" kern="100">
                          <a:effectLst/>
                        </a:rPr>
                        <a:t>𢎨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 err="1">
                          <a:effectLst/>
                        </a:rPr>
                        <a:t>mh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母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cj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册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ib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鼠</a:t>
                      </a:r>
                      <a:r>
                        <a:rPr lang="en-US" sz="2000" kern="100" dirty="0">
                          <a:effectLst/>
                        </a:rPr>
                        <a:t>(</a:t>
                      </a:r>
                      <a:r>
                        <a:rPr lang="zh-CN" sz="2000" kern="100" dirty="0">
                          <a:effectLst/>
                        </a:rPr>
                        <a:t>下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46915" y="3282838"/>
          <a:ext cx="6883401" cy="3304032"/>
        </p:xfrm>
        <a:graphic>
          <a:graphicData uri="http://schemas.openxmlformats.org/drawingml/2006/table">
            <a:tbl>
              <a:tblPr firstRow="1" firstCol="1" bandRow="1"/>
              <a:tblGrid>
                <a:gridCol w="1003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9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8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31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ll</a:t>
                      </a:r>
                      <a:endParaRPr lang="en-US" altLang="zh-CN" sz="180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𠂢</a:t>
                      </a:r>
                      <a:r>
                        <a:rPr lang="en-US" altLang="zh-CN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(</a:t>
                      </a:r>
                      <a:r>
                        <a:rPr lang="zh-CN" alt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内</a:t>
                      </a:r>
                      <a:r>
                        <a:rPr lang="en-US" altLang="zh-CN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)</a:t>
                      </a:r>
                      <a:endParaRPr lang="zh-CN" altLang="en-US" sz="180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nu</a:t>
                      </a:r>
                      <a:endParaRPr lang="en-US" altLang="zh-CN" sz="180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在</a:t>
                      </a:r>
                      <a:r>
                        <a:rPr lang="en-US" altLang="zh-CN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(</a:t>
                      </a:r>
                      <a:r>
                        <a:rPr lang="zh-CN" alt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外</a:t>
                      </a:r>
                      <a:r>
                        <a:rPr lang="en-US" altLang="zh-CN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)</a:t>
                      </a:r>
                      <a:endParaRPr lang="zh-CN" altLang="en-US" sz="180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d;</a:t>
                      </a:r>
                      <a:endParaRPr lang="en-US" altLang="zh-CN" sz="180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鼎</a:t>
                      </a:r>
                      <a:endParaRPr lang="zh-CN" altLang="en-US" sz="180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jk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叚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bj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𠬝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ts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ja-JP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ツ</a:t>
                      </a:r>
                      <a:endParaRPr lang="ja-JP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kv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亏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 err="1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jj</a:t>
                      </a: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巿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bp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卑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wm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毋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xl</a:t>
                      </a: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囟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 err="1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bt</a:t>
                      </a: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鼻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qc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乔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sd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𣶒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cn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￥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na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ja-JP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ナ</a:t>
                      </a:r>
                      <a:endParaRPr lang="ja-JP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ir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㐄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qw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齐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vc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𠂋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mg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麻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mz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𠃜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 err="1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vp</a:t>
                      </a: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𠂤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ok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𫠤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329724" y="2668518"/>
            <a:ext cx="37377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buNone/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注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扩展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字根表仍在扩展中，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遇到新的常用非部首部件时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可添加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399" y="1382233"/>
            <a:ext cx="10632559" cy="54757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简化表示法（实际编码使用）</a:t>
            </a:r>
            <a:endParaRPr lang="zh-CN" altLang="zh-CN" sz="2400" dirty="0"/>
          </a:p>
          <a:p>
            <a:pPr marL="0" indent="0">
              <a:buNone/>
            </a:pPr>
            <a:r>
              <a:rPr lang="zh-CN" altLang="zh-CN" dirty="0"/>
              <a:t>在实际的输入法编码生成中，为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简化处理</a:t>
            </a:r>
            <a:r>
              <a:rPr lang="zh-CN" altLang="zh-CN" dirty="0"/>
              <a:t>，采用以下简化表示：</a:t>
            </a:r>
          </a:p>
          <a:p>
            <a:pPr marL="0" indent="0">
              <a:buNone/>
            </a:pPr>
            <a:r>
              <a:rPr lang="en-US" altLang="zh-CN" b="1" dirty="0"/>
              <a:t>1.</a:t>
            </a:r>
            <a:r>
              <a:rPr lang="zh-CN" altLang="en-US" b="1" dirty="0"/>
              <a:t>部首双码</a:t>
            </a:r>
            <a:r>
              <a:rPr lang="zh-CN" altLang="zh-CN" b="1" dirty="0"/>
              <a:t>简化：</a:t>
            </a:r>
            <a:r>
              <a:rPr lang="zh-CN" altLang="zh-CN" dirty="0"/>
              <a:t>部首字母</a:t>
            </a:r>
            <a:r>
              <a:rPr lang="en-US" altLang="zh-CN" dirty="0"/>
              <a:t> + b</a:t>
            </a:r>
            <a:r>
              <a:rPr lang="zh-CN" altLang="zh-CN" dirty="0"/>
              <a:t>（作为部首提示）</a:t>
            </a:r>
          </a:p>
          <a:p>
            <a:pPr marL="0" indent="0">
              <a:buNone/>
            </a:pPr>
            <a:r>
              <a:rPr lang="en-US" altLang="zh-CN" b="1" dirty="0"/>
              <a:t>2.</a:t>
            </a:r>
            <a:r>
              <a:rPr lang="zh-CN" altLang="en-US" b="1" dirty="0"/>
              <a:t>前四</a:t>
            </a:r>
            <a:r>
              <a:rPr lang="zh-CN" altLang="zh-CN" b="1" dirty="0"/>
              <a:t>码简化：</a:t>
            </a:r>
            <a:r>
              <a:rPr lang="zh-CN" altLang="zh-CN" dirty="0"/>
              <a:t>独体字：取</a:t>
            </a:r>
            <a:r>
              <a:rPr lang="zh-CN" altLang="en-US" dirty="0"/>
              <a:t>初</a:t>
            </a:r>
            <a:r>
              <a:rPr lang="zh-CN" altLang="zh-CN" dirty="0"/>
              <a:t>码</a:t>
            </a:r>
            <a:r>
              <a:rPr lang="en-US" altLang="zh-CN" dirty="0"/>
              <a:t> + d</a:t>
            </a:r>
            <a:r>
              <a:rPr lang="zh-CN" altLang="zh-CN" dirty="0"/>
              <a:t>（独体标记）合体字作部件：取</a:t>
            </a:r>
            <a:r>
              <a:rPr lang="zh-CN" altLang="en-US" dirty="0"/>
              <a:t>初</a:t>
            </a:r>
            <a:r>
              <a:rPr lang="zh-CN" altLang="zh-CN" dirty="0"/>
              <a:t>码</a:t>
            </a:r>
            <a:r>
              <a:rPr lang="en-US" altLang="zh-CN" dirty="0"/>
              <a:t> + h</a:t>
            </a:r>
            <a:r>
              <a:rPr lang="zh-CN" altLang="zh-CN" dirty="0"/>
              <a:t>（合体标记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3.</a:t>
            </a:r>
            <a:r>
              <a:rPr lang="zh-CN" altLang="zh-CN" b="1" dirty="0"/>
              <a:t>字根简化：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b="1" dirty="0"/>
              <a:t>部首简并的</a:t>
            </a:r>
            <a:r>
              <a:rPr lang="zh-CN" altLang="zh-CN" dirty="0"/>
              <a:t>：用简并部母</a:t>
            </a:r>
            <a:r>
              <a:rPr lang="en-US" altLang="zh-CN" dirty="0"/>
              <a:t> + j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b="1" dirty="0"/>
              <a:t>罕见部首抛弃的</a:t>
            </a:r>
            <a:r>
              <a:rPr lang="zh-CN" altLang="zh-CN" dirty="0"/>
              <a:t>：并入独体字表示</a:t>
            </a:r>
          </a:p>
          <a:p>
            <a:pPr marL="0" indent="0">
              <a:buNone/>
            </a:pPr>
            <a:r>
              <a:rPr lang="zh-CN" altLang="zh-CN" b="1" dirty="0"/>
              <a:t>其他</a:t>
            </a:r>
            <a:r>
              <a:rPr lang="zh-CN" altLang="en-US" b="1" dirty="0"/>
              <a:t>扩展</a:t>
            </a:r>
            <a:r>
              <a:rPr lang="zh-CN" altLang="zh-CN" b="1" dirty="0"/>
              <a:t>字根</a:t>
            </a:r>
            <a:r>
              <a:rPr lang="zh-CN" altLang="zh-CN" dirty="0"/>
              <a:t>：用占位符号</a:t>
            </a:r>
            <a:r>
              <a:rPr lang="en-US" altLang="zh-CN" dirty="0"/>
              <a:t>ee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b="1" dirty="0"/>
              <a:t>可进一步拆分的</a:t>
            </a:r>
            <a:r>
              <a:rPr lang="zh-CN" altLang="en-US" b="1" dirty="0"/>
              <a:t>扩展</a:t>
            </a:r>
            <a:r>
              <a:rPr lang="zh-CN" altLang="zh-CN" b="1" dirty="0"/>
              <a:t>字根</a:t>
            </a:r>
            <a:r>
              <a:rPr lang="zh-CN" altLang="en-US" b="1" dirty="0"/>
              <a:t>：</a:t>
            </a:r>
            <a:r>
              <a:rPr lang="zh-CN" altLang="zh-CN" dirty="0"/>
              <a:t>拆分表示 </a:t>
            </a:r>
          </a:p>
          <a:p>
            <a:pPr marL="0" indent="0">
              <a:buNone/>
            </a:pPr>
            <a:r>
              <a:rPr lang="en-US" altLang="zh-CN" b="1" dirty="0"/>
              <a:t>4.</a:t>
            </a:r>
            <a:r>
              <a:rPr lang="zh-CN" altLang="zh-CN" b="1" dirty="0"/>
              <a:t>笔画简化：</a:t>
            </a:r>
            <a:r>
              <a:rPr lang="zh-CN" altLang="zh-CN" dirty="0"/>
              <a:t>根据</a:t>
            </a:r>
            <a:r>
              <a:rPr lang="zh-CN" altLang="en-US" dirty="0"/>
              <a:t>副</a:t>
            </a:r>
            <a:r>
              <a:rPr lang="zh-CN" altLang="zh-CN" dirty="0"/>
              <a:t>码的单笔画对应字母</a:t>
            </a:r>
            <a:r>
              <a:rPr lang="en-US" altLang="zh-CN" dirty="0"/>
              <a:t> + a</a:t>
            </a:r>
            <a:endParaRPr lang="zh-CN" altLang="zh-CN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en-US" b="1" dirty="0"/>
              <a:t>五、简化解书拆分规则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23013" y="1303477"/>
            <a:ext cx="1132005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/>
              <a:t>实用性优先</a:t>
            </a:r>
            <a:endParaRPr lang="zh-CN" altLang="zh-CN" sz="2000" dirty="0"/>
          </a:p>
          <a:p>
            <a:pPr lvl="0"/>
            <a:r>
              <a:rPr lang="zh-CN" altLang="zh-CN" sz="2000" dirty="0"/>
              <a:t>包围结构统一用</a:t>
            </a:r>
            <a:r>
              <a:rPr lang="en-US" altLang="zh-CN" sz="2000" dirty="0"/>
              <a:t>l.</a:t>
            </a:r>
            <a:r>
              <a:rPr lang="zh-CN" altLang="zh-CN" sz="2000" dirty="0"/>
              <a:t>表示，不区分具体包围类型</a:t>
            </a:r>
          </a:p>
          <a:p>
            <a:pPr lvl="0"/>
            <a:r>
              <a:rPr lang="zh-CN" altLang="zh-CN" sz="2000" dirty="0"/>
              <a:t>允许编码简写，如用已有字的编码表示重复部件</a:t>
            </a:r>
          </a:p>
          <a:p>
            <a:pPr lvl="0"/>
            <a:r>
              <a:rPr lang="zh-CN" altLang="zh-CN" sz="2000" dirty="0"/>
              <a:t>同一汉字可能有不同的拆分表示，以实际拆分效果为准，只要逻辑自洽、可拼回原字即为有效，不追求理论完美，不是刚性编码标准，允许人工调整</a:t>
            </a:r>
          </a:p>
          <a:p>
            <a:r>
              <a:rPr lang="zh-CN" altLang="zh-CN" sz="2000" b="1" dirty="0"/>
              <a:t>可读性关联</a:t>
            </a:r>
            <a:endParaRPr lang="zh-CN" altLang="zh-CN" sz="2000" dirty="0"/>
          </a:p>
          <a:p>
            <a:pPr lvl="0"/>
            <a:r>
              <a:rPr lang="zh-CN" altLang="zh-CN" sz="2000" dirty="0"/>
              <a:t>部首次码优先采用部件韵母对应的字母</a:t>
            </a:r>
          </a:p>
          <a:p>
            <a:pPr lvl="0"/>
            <a:r>
              <a:rPr lang="zh-CN" altLang="zh-CN" sz="2000" dirty="0"/>
              <a:t>使编码具有一定提示性，便于人工识别</a:t>
            </a:r>
          </a:p>
          <a:p>
            <a:pPr lvl="0"/>
            <a:r>
              <a:rPr lang="zh-CN" altLang="zh-CN" sz="2000" dirty="0"/>
              <a:t>如</a:t>
            </a:r>
            <a:r>
              <a:rPr lang="en-US" altLang="zh-CN" sz="2000" dirty="0"/>
              <a:t>"</a:t>
            </a:r>
            <a:r>
              <a:rPr lang="zh-CN" altLang="zh-CN" sz="2000" dirty="0"/>
              <a:t>白</a:t>
            </a:r>
            <a:r>
              <a:rPr lang="en-US" altLang="zh-CN" sz="2000" dirty="0"/>
              <a:t>"→bl</a:t>
            </a:r>
            <a:r>
              <a:rPr lang="zh-CN" altLang="zh-CN" sz="2000" dirty="0"/>
              <a:t>（韵母</a:t>
            </a:r>
            <a:r>
              <a:rPr lang="en-US" altLang="zh-CN" sz="2000" dirty="0" err="1"/>
              <a:t>ai→l</a:t>
            </a:r>
            <a:r>
              <a:rPr lang="zh-CN" altLang="zh-CN" sz="2000" dirty="0"/>
              <a:t>）与拼音关联</a:t>
            </a:r>
          </a:p>
          <a:p>
            <a:r>
              <a:rPr lang="zh-CN" altLang="zh-CN" sz="2000" b="1" dirty="0"/>
              <a:t>人工参考定位</a:t>
            </a:r>
            <a:endParaRPr lang="zh-CN" altLang="zh-CN" sz="2000" dirty="0"/>
          </a:p>
          <a:p>
            <a:pPr lvl="0"/>
            <a:r>
              <a:rPr lang="zh-CN" altLang="zh-CN" sz="2000" dirty="0"/>
              <a:t>解书拆分作为</a:t>
            </a:r>
            <a:r>
              <a:rPr lang="zh-CN" altLang="zh-CN" sz="2000" b="1" dirty="0"/>
              <a:t>字形分析框架</a:t>
            </a:r>
            <a:r>
              <a:rPr lang="zh-CN" altLang="zh-CN" sz="2000" dirty="0"/>
              <a:t>而非输入编码</a:t>
            </a:r>
          </a:p>
          <a:p>
            <a:pPr lvl="0"/>
            <a:r>
              <a:rPr lang="zh-CN" altLang="zh-CN" sz="2000" dirty="0"/>
              <a:t>通过解书拆分识别</a:t>
            </a:r>
            <a:r>
              <a:rPr lang="en-US" altLang="zh-CN" sz="2000" dirty="0"/>
              <a:t>"</a:t>
            </a:r>
            <a:r>
              <a:rPr lang="zh-CN" altLang="zh-CN" sz="2000" dirty="0"/>
              <a:t>可再分、表意强</a:t>
            </a:r>
            <a:r>
              <a:rPr lang="en-US" altLang="zh-CN" sz="2000" dirty="0"/>
              <a:t>"</a:t>
            </a:r>
            <a:r>
              <a:rPr lang="zh-CN" altLang="zh-CN" sz="2000" dirty="0"/>
              <a:t>的部首，为合体字的主码选取提供依据</a:t>
            </a:r>
          </a:p>
          <a:p>
            <a:pPr lvl="0"/>
            <a:r>
              <a:rPr lang="zh-CN" altLang="zh-CN" sz="2000" dirty="0"/>
              <a:t>提供余集合拆分的部件依据，帮助确定副码的余音或余部</a:t>
            </a:r>
          </a:p>
          <a:p>
            <a:pPr lvl="0"/>
            <a:r>
              <a:rPr lang="zh-CN" altLang="zh-CN" sz="2000" dirty="0"/>
              <a:t>在编码冲突时提供讨论和验证的基础，为主</a:t>
            </a:r>
            <a:r>
              <a:rPr lang="en-US" altLang="zh-CN" sz="2000" dirty="0"/>
              <a:t>/</a:t>
            </a:r>
            <a:r>
              <a:rPr lang="zh-CN" altLang="zh-CN" sz="2000" dirty="0"/>
              <a:t>副码选取提供多个结构视角，帮助在多个可能编码中做出选择</a:t>
            </a:r>
          </a:p>
          <a:p>
            <a:pPr lvl="0"/>
            <a:r>
              <a:rPr lang="zh-CN" altLang="zh-CN" sz="2000" dirty="0"/>
              <a:t>确保拆分可追溯、可讨论，贯彻</a:t>
            </a:r>
            <a:r>
              <a:rPr lang="en-US" altLang="zh-CN" sz="2000" dirty="0"/>
              <a:t>"</a:t>
            </a:r>
            <a:r>
              <a:rPr lang="zh-CN" altLang="zh-CN" sz="2000" dirty="0"/>
              <a:t>以义定形</a:t>
            </a:r>
            <a:r>
              <a:rPr lang="en-US" altLang="zh-CN" sz="2000" dirty="0"/>
              <a:t>"</a:t>
            </a:r>
            <a:r>
              <a:rPr lang="zh-CN" altLang="zh-CN" sz="2000" dirty="0"/>
              <a:t>理念：每个拆分步骤都有明确的结构依据，相似结构的字采用相似的拆分方式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06438"/>
          </a:xfrm>
        </p:spPr>
        <p:txBody>
          <a:bodyPr/>
          <a:lstStyle/>
          <a:p>
            <a:r>
              <a:rPr lang="zh-CN" altLang="en-US" b="1" dirty="0"/>
              <a:t>五、简化解书拆分规则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11B82C-B365-3B04-CCFC-D1906FDC1520}"/>
              </a:ext>
            </a:extLst>
          </p:cNvPr>
          <p:cNvSpPr txBox="1"/>
          <p:nvPr/>
        </p:nvSpPr>
        <p:spPr>
          <a:xfrm>
            <a:off x="743795" y="3765690"/>
            <a:ext cx="112317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buNone/>
            </a:pP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注意事项</a:t>
            </a:r>
            <a:endParaRPr lang="zh-CN" altLang="zh-CN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人工判断优先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：当规则冲突时，以人工判断的合理拆分优先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持续优化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：扩展字根表和规则可根据实际使用情况持续优化</a:t>
            </a: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解书拆分为解书音形提供了坚实的字形分析基础，使主码和副码的选取不再依赖于直觉，而是有章可循的系统工程。它体现了本输入法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形音义结合，理据性优先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的设计哲学。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六、补码编码规则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94463" y="1428749"/>
            <a:ext cx="1123197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补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码用于处理汉字在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Unicode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范围内的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所有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繁、异体形式，包括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同义异写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字、大写数字、通假古音字等，以前缀点</a:t>
            </a:r>
            <a:r>
              <a:rPr lang="en-US" altLang="zh-CN" sz="20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引导。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补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码一般用不到。</a:t>
            </a:r>
            <a:b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通常，“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”直接表示该字在常用语境下的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第一繁体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（如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纪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之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紀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  <a:b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若某字仅有单一繁体或特殊异体，则使用复合后缀区分：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.f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（大陆繁体）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.g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（港澳异体）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.t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（台湾异体）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.j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（日本汉字）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.u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（通假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古音字）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.k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（韩国用字）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.z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（并字）等。</a:t>
            </a:r>
            <a:b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若某字对应多个常用繁体（如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复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之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復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複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），则其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补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码的选取规则与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码相同（即类比为新的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进行区分），如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.t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.y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b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全覆盖与零重码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ABCDE.F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形式的</a:t>
            </a:r>
            <a:r>
              <a:rPr lang="zh-CN" altLang="en-US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解书码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可覆盖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Unicode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收录的所有汉字（不包括喃字等独立文字系统），并保持全局零重码。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001539" y="280699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纪释析义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261301" y="3099382"/>
            <a:ext cx="1306615" cy="75009"/>
          </a:xfrm>
          <a:custGeom>
            <a:avLst/>
            <a:gdLst/>
            <a:ahLst/>
            <a:cxnLst/>
            <a:rect l="l" t="t" r="r" b="b"/>
            <a:pathLst>
              <a:path w="1306615" h="75009">
                <a:moveTo>
                  <a:pt x="1269110" y="0"/>
                </a:moveTo>
                <a:cubicBezTo>
                  <a:pt x="1281612" y="0"/>
                  <a:pt x="1290988" y="3572"/>
                  <a:pt x="1297239" y="10716"/>
                </a:cubicBezTo>
                <a:cubicBezTo>
                  <a:pt x="1303489" y="17859"/>
                  <a:pt x="1306615" y="26789"/>
                  <a:pt x="1306615" y="37505"/>
                </a:cubicBezTo>
                <a:cubicBezTo>
                  <a:pt x="1306615" y="50006"/>
                  <a:pt x="1303043" y="59383"/>
                  <a:pt x="1295899" y="65633"/>
                </a:cubicBezTo>
                <a:cubicBezTo>
                  <a:pt x="1288755" y="71884"/>
                  <a:pt x="1279826" y="75009"/>
                  <a:pt x="1269110" y="75009"/>
                </a:cubicBezTo>
                <a:cubicBezTo>
                  <a:pt x="1260180" y="75009"/>
                  <a:pt x="1251697" y="71884"/>
                  <a:pt x="1243660" y="65633"/>
                </a:cubicBezTo>
                <a:cubicBezTo>
                  <a:pt x="1235624" y="59383"/>
                  <a:pt x="1231605" y="50006"/>
                  <a:pt x="1231605" y="37505"/>
                </a:cubicBezTo>
                <a:cubicBezTo>
                  <a:pt x="1231605" y="26789"/>
                  <a:pt x="1234731" y="18306"/>
                  <a:pt x="1240981" y="12055"/>
                </a:cubicBezTo>
                <a:cubicBezTo>
                  <a:pt x="1247232" y="5804"/>
                  <a:pt x="1256608" y="1786"/>
                  <a:pt x="1269110" y="0"/>
                </a:cubicBezTo>
                <a:close/>
                <a:moveTo>
                  <a:pt x="430910" y="0"/>
                </a:moveTo>
                <a:cubicBezTo>
                  <a:pt x="443412" y="0"/>
                  <a:pt x="452788" y="3572"/>
                  <a:pt x="459039" y="10716"/>
                </a:cubicBezTo>
                <a:cubicBezTo>
                  <a:pt x="465290" y="17859"/>
                  <a:pt x="468415" y="26789"/>
                  <a:pt x="468415" y="37505"/>
                </a:cubicBezTo>
                <a:cubicBezTo>
                  <a:pt x="468415" y="50006"/>
                  <a:pt x="464843" y="59383"/>
                  <a:pt x="457699" y="65633"/>
                </a:cubicBezTo>
                <a:cubicBezTo>
                  <a:pt x="450556" y="71884"/>
                  <a:pt x="441626" y="75009"/>
                  <a:pt x="430910" y="75009"/>
                </a:cubicBezTo>
                <a:cubicBezTo>
                  <a:pt x="421981" y="75009"/>
                  <a:pt x="413497" y="71884"/>
                  <a:pt x="405461" y="65633"/>
                </a:cubicBezTo>
                <a:cubicBezTo>
                  <a:pt x="397424" y="59383"/>
                  <a:pt x="393406" y="50006"/>
                  <a:pt x="393406" y="37505"/>
                </a:cubicBezTo>
                <a:cubicBezTo>
                  <a:pt x="393406" y="26789"/>
                  <a:pt x="396531" y="18306"/>
                  <a:pt x="402782" y="12055"/>
                </a:cubicBezTo>
                <a:cubicBezTo>
                  <a:pt x="409033" y="5804"/>
                  <a:pt x="418409" y="1786"/>
                  <a:pt x="430910" y="0"/>
                </a:cubicBezTo>
                <a:close/>
                <a:moveTo>
                  <a:pt x="37504" y="0"/>
                </a:moveTo>
                <a:cubicBezTo>
                  <a:pt x="50006" y="0"/>
                  <a:pt x="59382" y="3572"/>
                  <a:pt x="65633" y="10716"/>
                </a:cubicBezTo>
                <a:cubicBezTo>
                  <a:pt x="71884" y="17859"/>
                  <a:pt x="75009" y="26789"/>
                  <a:pt x="75009" y="37505"/>
                </a:cubicBezTo>
                <a:cubicBezTo>
                  <a:pt x="75009" y="50006"/>
                  <a:pt x="71437" y="59383"/>
                  <a:pt x="64293" y="65633"/>
                </a:cubicBezTo>
                <a:cubicBezTo>
                  <a:pt x="57150" y="71884"/>
                  <a:pt x="48220" y="75009"/>
                  <a:pt x="37504" y="75009"/>
                </a:cubicBezTo>
                <a:cubicBezTo>
                  <a:pt x="28575" y="75009"/>
                  <a:pt x="20091" y="71884"/>
                  <a:pt x="12055" y="65633"/>
                </a:cubicBezTo>
                <a:cubicBezTo>
                  <a:pt x="4018" y="59383"/>
                  <a:pt x="0" y="50006"/>
                  <a:pt x="0" y="37505"/>
                </a:cubicBezTo>
                <a:cubicBezTo>
                  <a:pt x="0" y="26789"/>
                  <a:pt x="3125" y="18306"/>
                  <a:pt x="9376" y="12055"/>
                </a:cubicBezTo>
                <a:cubicBezTo>
                  <a:pt x="15627" y="5804"/>
                  <a:pt x="25003" y="1786"/>
                  <a:pt x="3750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5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01539" y="280699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紀釋析義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0" grpId="0" animBg="1"/>
      <p:bldP spid="10" grpId="1" animBg="1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4400" kern="100" dirty="0">
                <a:effectLst/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词语建议</a:t>
            </a:r>
            <a:b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73198" y="1330474"/>
            <a:ext cx="6095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一、词语编码的核心原则</a:t>
            </a:r>
            <a:endParaRPr lang="zh-CN" altLang="zh-CN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1677" y="1843950"/>
            <a:ext cx="976467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1. 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基本定义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广义词语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：包括多字词、常用短语、自定义短语、输入法特征词、通用符号等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补充功能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：外置于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多字首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输入的辅助方法，旨在提高输入效率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2. 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硬性规则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最小长度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：词语编码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至少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位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，这三位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不能包含</a:t>
            </a:r>
            <a:r>
              <a:rPr lang="zh-CN" altLang="en-US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数字</a:t>
            </a:r>
            <a:endParaRPr lang="en-US" altLang="zh-CN" sz="2000" kern="100" dirty="0">
              <a:solidFill>
                <a:srgbClr val="FF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零重码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：一个编码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仅对应一个词语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（但一个词语可对应多个编码）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长度原则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：常用词语分配短编码，非常用词语使用长编码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81172" y="4450306"/>
            <a:ext cx="111309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400" b="1" kern="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二、多字词编码建议</a:t>
            </a:r>
            <a:endParaRPr lang="zh-CN" altLang="zh-CN" sz="2400" kern="1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altLang="zh-CN" sz="2000" b="1" kern="10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400" b="1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zh-CN" sz="2400" b="1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二字词</a:t>
            </a:r>
            <a:endParaRPr lang="zh-CN" altLang="zh-CN" sz="24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8053" y="504599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测试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917019" y="504599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ceu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57520" y="5496746"/>
            <a:ext cx="1104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(</a:t>
            </a:r>
            <a:r>
              <a:rPr lang="zh-CN" altLang="en-US" sz="2000" dirty="0"/>
              <a:t>最简码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781626" y="4849251"/>
            <a:ext cx="881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AB</a:t>
            </a:r>
            <a:r>
              <a:rPr lang="en-US" altLang="zh-CN" sz="2400" dirty="0"/>
              <a:t>+</a:t>
            </a:r>
            <a:r>
              <a:rPr lang="en-US" altLang="zh-CN" sz="2400" dirty="0">
                <a:solidFill>
                  <a:srgbClr val="00B0F0"/>
                </a:solidFill>
              </a:rPr>
              <a:t>A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15398" y="5045990"/>
            <a:ext cx="288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zh-CN" altLang="en-US" sz="32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14415" y="5045989"/>
            <a:ext cx="418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endParaRPr lang="zh-CN" altLang="en-US" sz="32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50073" y="5045990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endParaRPr lang="zh-CN" altLang="en-US" sz="32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515398" y="4849251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BCD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81626" y="5827502"/>
            <a:ext cx="50776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扩展顺序：优先补充第二字的</a:t>
            </a:r>
            <a:r>
              <a:rPr lang="zh-CN" altLang="en-US" dirty="0"/>
              <a:t>韵</a:t>
            </a:r>
            <a:r>
              <a:rPr lang="zh-CN" altLang="zh-CN" dirty="0"/>
              <a:t>码</a:t>
            </a:r>
            <a:r>
              <a:rPr lang="zh-CN" altLang="en-US" dirty="0"/>
              <a:t>（最常用）</a:t>
            </a:r>
            <a:r>
              <a:rPr lang="en-US" altLang="zh-CN" dirty="0"/>
              <a:t> → </a:t>
            </a:r>
          </a:p>
          <a:p>
            <a:r>
              <a:rPr lang="zh-CN" altLang="zh-CN" dirty="0"/>
              <a:t>补充第二字的</a:t>
            </a:r>
            <a:r>
              <a:rPr lang="zh-CN" altLang="en-US" dirty="0"/>
              <a:t>调</a:t>
            </a:r>
            <a:r>
              <a:rPr lang="zh-CN" altLang="zh-CN" dirty="0"/>
              <a:t>码</a:t>
            </a:r>
            <a:r>
              <a:rPr lang="en-US" altLang="zh-CN" dirty="0"/>
              <a:t> → </a:t>
            </a:r>
            <a:r>
              <a:rPr lang="zh-CN" altLang="zh-CN" dirty="0"/>
              <a:t>补充第二字的</a:t>
            </a:r>
            <a:r>
              <a:rPr lang="zh-CN" altLang="en-US" dirty="0"/>
              <a:t>主</a:t>
            </a:r>
            <a:r>
              <a:rPr lang="zh-CN" altLang="zh-CN" dirty="0"/>
              <a:t>码</a:t>
            </a:r>
          </a:p>
          <a:p>
            <a:endParaRPr lang="zh-CN" altLang="en-US" sz="2000" dirty="0"/>
          </a:p>
        </p:txBody>
      </p:sp>
      <p:sp>
        <p:nvSpPr>
          <p:cNvPr id="20" name="矩形 19"/>
          <p:cNvSpPr/>
          <p:nvPr/>
        </p:nvSpPr>
        <p:spPr>
          <a:xfrm>
            <a:off x="1564569" y="4898662"/>
            <a:ext cx="9298172" cy="1663995"/>
          </a:xfrm>
          <a:prstGeom prst="rect">
            <a:avLst/>
          </a:prstGeom>
          <a:solidFill>
            <a:srgbClr val="EFE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803196" y="512349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三字词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409984" y="504598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何意味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846785" y="4819400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r>
              <a:rPr lang="en-US" altLang="zh-CN" sz="2400" dirty="0"/>
              <a:t>+</a:t>
            </a:r>
            <a:r>
              <a:rPr lang="en-US" altLang="zh-CN" sz="2400" dirty="0">
                <a:solidFill>
                  <a:srgbClr val="00B0F0"/>
                </a:solidFill>
              </a:rPr>
              <a:t>A</a:t>
            </a:r>
            <a:r>
              <a:rPr lang="en-US" altLang="zh-CN" sz="2400" dirty="0"/>
              <a:t>+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55223" y="5496746"/>
            <a:ext cx="1104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(</a:t>
            </a:r>
            <a:r>
              <a:rPr lang="zh-CN" altLang="en-US" sz="2000" dirty="0"/>
              <a:t>最简码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29" name="任意多边形: 形状 28"/>
          <p:cNvSpPr/>
          <p:nvPr/>
        </p:nvSpPr>
        <p:spPr>
          <a:xfrm>
            <a:off x="6031804" y="5169108"/>
            <a:ext cx="181851" cy="294075"/>
          </a:xfrm>
          <a:custGeom>
            <a:avLst/>
            <a:gdLst/>
            <a:ahLst/>
            <a:cxnLst/>
            <a:rect l="l" t="t" r="r" b="b"/>
            <a:pathLst>
              <a:path w="181851" h="294075">
                <a:moveTo>
                  <a:pt x="28670" y="0"/>
                </a:moveTo>
                <a:cubicBezTo>
                  <a:pt x="35770" y="0"/>
                  <a:pt x="40275" y="2117"/>
                  <a:pt x="42186" y="6349"/>
                </a:cubicBezTo>
                <a:cubicBezTo>
                  <a:pt x="44098" y="10581"/>
                  <a:pt x="45053" y="17476"/>
                  <a:pt x="45053" y="27032"/>
                </a:cubicBezTo>
                <a:cubicBezTo>
                  <a:pt x="45053" y="34132"/>
                  <a:pt x="44644" y="43074"/>
                  <a:pt x="43825" y="53860"/>
                </a:cubicBezTo>
                <a:cubicBezTo>
                  <a:pt x="43005" y="64645"/>
                  <a:pt x="42050" y="83963"/>
                  <a:pt x="40958" y="111814"/>
                </a:cubicBezTo>
                <a:cubicBezTo>
                  <a:pt x="61163" y="97343"/>
                  <a:pt x="81505" y="90107"/>
                  <a:pt x="101984" y="90107"/>
                </a:cubicBezTo>
                <a:cubicBezTo>
                  <a:pt x="114271" y="90107"/>
                  <a:pt x="125125" y="92223"/>
                  <a:pt x="134545" y="96455"/>
                </a:cubicBezTo>
                <a:cubicBezTo>
                  <a:pt x="143966" y="100688"/>
                  <a:pt x="151679" y="106831"/>
                  <a:pt x="157686" y="114886"/>
                </a:cubicBezTo>
                <a:cubicBezTo>
                  <a:pt x="163693" y="122941"/>
                  <a:pt x="167721" y="131406"/>
                  <a:pt x="169769" y="140280"/>
                </a:cubicBezTo>
                <a:cubicBezTo>
                  <a:pt x="171817" y="149154"/>
                  <a:pt x="172841" y="160827"/>
                  <a:pt x="172841" y="175298"/>
                </a:cubicBezTo>
                <a:lnTo>
                  <a:pt x="171612" y="227724"/>
                </a:lnTo>
                <a:cubicBezTo>
                  <a:pt x="171612" y="256121"/>
                  <a:pt x="175025" y="275235"/>
                  <a:pt x="181851" y="285065"/>
                </a:cubicBezTo>
                <a:cubicBezTo>
                  <a:pt x="169291" y="291072"/>
                  <a:pt x="159734" y="294075"/>
                  <a:pt x="153181" y="294075"/>
                </a:cubicBezTo>
                <a:cubicBezTo>
                  <a:pt x="146355" y="294075"/>
                  <a:pt x="141918" y="292369"/>
                  <a:pt x="139870" y="288956"/>
                </a:cubicBezTo>
                <a:cubicBezTo>
                  <a:pt x="137822" y="285542"/>
                  <a:pt x="136798" y="279467"/>
                  <a:pt x="136798" y="270729"/>
                </a:cubicBezTo>
                <a:cubicBezTo>
                  <a:pt x="136798" y="263357"/>
                  <a:pt x="137208" y="251957"/>
                  <a:pt x="138027" y="236530"/>
                </a:cubicBezTo>
                <a:cubicBezTo>
                  <a:pt x="138846" y="221103"/>
                  <a:pt x="139256" y="207245"/>
                  <a:pt x="139256" y="194958"/>
                </a:cubicBezTo>
                <a:cubicBezTo>
                  <a:pt x="139256" y="166834"/>
                  <a:pt x="135774" y="146901"/>
                  <a:pt x="128811" y="135160"/>
                </a:cubicBezTo>
                <a:cubicBezTo>
                  <a:pt x="121849" y="123419"/>
                  <a:pt x="110312" y="117548"/>
                  <a:pt x="94202" y="117548"/>
                </a:cubicBezTo>
                <a:cubicBezTo>
                  <a:pt x="79731" y="117548"/>
                  <a:pt x="61982" y="124238"/>
                  <a:pt x="40958" y="137618"/>
                </a:cubicBezTo>
                <a:cubicBezTo>
                  <a:pt x="40138" y="168472"/>
                  <a:pt x="39729" y="192364"/>
                  <a:pt x="39729" y="209293"/>
                </a:cubicBezTo>
                <a:cubicBezTo>
                  <a:pt x="39729" y="230591"/>
                  <a:pt x="40411" y="246701"/>
                  <a:pt x="41777" y="257623"/>
                </a:cubicBezTo>
                <a:cubicBezTo>
                  <a:pt x="43142" y="268545"/>
                  <a:pt x="45736" y="277829"/>
                  <a:pt x="49559" y="285474"/>
                </a:cubicBezTo>
                <a:cubicBezTo>
                  <a:pt x="39183" y="291208"/>
                  <a:pt x="29626" y="294075"/>
                  <a:pt x="20888" y="294075"/>
                </a:cubicBezTo>
                <a:cubicBezTo>
                  <a:pt x="14062" y="294075"/>
                  <a:pt x="9625" y="292437"/>
                  <a:pt x="7577" y="289160"/>
                </a:cubicBezTo>
                <a:cubicBezTo>
                  <a:pt x="5529" y="285884"/>
                  <a:pt x="4505" y="278921"/>
                  <a:pt x="4505" y="268272"/>
                </a:cubicBezTo>
                <a:cubicBezTo>
                  <a:pt x="4505" y="256531"/>
                  <a:pt x="5393" y="234960"/>
                  <a:pt x="7168" y="203559"/>
                </a:cubicBezTo>
                <a:cubicBezTo>
                  <a:pt x="8942" y="172158"/>
                  <a:pt x="9830" y="138573"/>
                  <a:pt x="9830" y="102804"/>
                </a:cubicBezTo>
                <a:cubicBezTo>
                  <a:pt x="9830" y="70038"/>
                  <a:pt x="9147" y="48194"/>
                  <a:pt x="7782" y="37272"/>
                </a:cubicBezTo>
                <a:cubicBezTo>
                  <a:pt x="6417" y="26350"/>
                  <a:pt x="3823" y="16793"/>
                  <a:pt x="0" y="8601"/>
                </a:cubicBezTo>
                <a:cubicBezTo>
                  <a:pt x="10922" y="2867"/>
                  <a:pt x="20479" y="0"/>
                  <a:pt x="2867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/>
        </p:nvSpPr>
        <p:spPr>
          <a:xfrm>
            <a:off x="6223011" y="5268655"/>
            <a:ext cx="202330" cy="283426"/>
          </a:xfrm>
          <a:custGeom>
            <a:avLst/>
            <a:gdLst/>
            <a:ahLst/>
            <a:cxnLst/>
            <a:rect l="l" t="t" r="r" b="b"/>
            <a:pathLst>
              <a:path w="202330" h="283426">
                <a:moveTo>
                  <a:pt x="27441" y="0"/>
                </a:moveTo>
                <a:cubicBezTo>
                  <a:pt x="32083" y="0"/>
                  <a:pt x="35633" y="1024"/>
                  <a:pt x="38090" y="3072"/>
                </a:cubicBezTo>
                <a:cubicBezTo>
                  <a:pt x="40548" y="5119"/>
                  <a:pt x="43620" y="10239"/>
                  <a:pt x="47306" y="18431"/>
                </a:cubicBezTo>
                <a:cubicBezTo>
                  <a:pt x="50992" y="26622"/>
                  <a:pt x="57340" y="41913"/>
                  <a:pt x="66351" y="64303"/>
                </a:cubicBezTo>
                <a:cubicBezTo>
                  <a:pt x="78638" y="94612"/>
                  <a:pt x="92700" y="126012"/>
                  <a:pt x="108537" y="158505"/>
                </a:cubicBezTo>
                <a:cubicBezTo>
                  <a:pt x="130108" y="111541"/>
                  <a:pt x="144580" y="78229"/>
                  <a:pt x="151952" y="58569"/>
                </a:cubicBezTo>
                <a:cubicBezTo>
                  <a:pt x="159324" y="38909"/>
                  <a:pt x="163011" y="24847"/>
                  <a:pt x="163011" y="16383"/>
                </a:cubicBezTo>
                <a:cubicBezTo>
                  <a:pt x="163011" y="13379"/>
                  <a:pt x="162601" y="10103"/>
                  <a:pt x="161782" y="6553"/>
                </a:cubicBezTo>
                <a:cubicBezTo>
                  <a:pt x="164512" y="5188"/>
                  <a:pt x="168813" y="3754"/>
                  <a:pt x="174684" y="2252"/>
                </a:cubicBezTo>
                <a:cubicBezTo>
                  <a:pt x="180554" y="751"/>
                  <a:pt x="184582" y="0"/>
                  <a:pt x="186766" y="0"/>
                </a:cubicBezTo>
                <a:cubicBezTo>
                  <a:pt x="197142" y="0"/>
                  <a:pt x="202330" y="4915"/>
                  <a:pt x="202330" y="14744"/>
                </a:cubicBezTo>
                <a:cubicBezTo>
                  <a:pt x="202330" y="20479"/>
                  <a:pt x="192910" y="42869"/>
                  <a:pt x="174069" y="81915"/>
                </a:cubicBezTo>
                <a:cubicBezTo>
                  <a:pt x="148129" y="136252"/>
                  <a:pt x="126968" y="184991"/>
                  <a:pt x="110585" y="228133"/>
                </a:cubicBezTo>
                <a:cubicBezTo>
                  <a:pt x="96660" y="264995"/>
                  <a:pt x="85328" y="283426"/>
                  <a:pt x="76590" y="283426"/>
                </a:cubicBezTo>
                <a:cubicBezTo>
                  <a:pt x="68126" y="283426"/>
                  <a:pt x="58569" y="275644"/>
                  <a:pt x="47920" y="260080"/>
                </a:cubicBezTo>
                <a:cubicBezTo>
                  <a:pt x="57204" y="252161"/>
                  <a:pt x="64371" y="244106"/>
                  <a:pt x="69423" y="235915"/>
                </a:cubicBezTo>
                <a:cubicBezTo>
                  <a:pt x="74474" y="227723"/>
                  <a:pt x="81369" y="214617"/>
                  <a:pt x="90106" y="196596"/>
                </a:cubicBezTo>
                <a:cubicBezTo>
                  <a:pt x="67443" y="142805"/>
                  <a:pt x="49558" y="103213"/>
                  <a:pt x="36452" y="77819"/>
                </a:cubicBezTo>
                <a:cubicBezTo>
                  <a:pt x="23346" y="52425"/>
                  <a:pt x="11195" y="38227"/>
                  <a:pt x="0" y="35223"/>
                </a:cubicBezTo>
                <a:cubicBezTo>
                  <a:pt x="2730" y="24028"/>
                  <a:pt x="6553" y="15359"/>
                  <a:pt x="11468" y="9215"/>
                </a:cubicBezTo>
                <a:cubicBezTo>
                  <a:pt x="16383" y="3072"/>
                  <a:pt x="21707" y="0"/>
                  <a:pt x="2744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任意多边形: 形状 26"/>
          <p:cNvSpPr/>
          <p:nvPr/>
        </p:nvSpPr>
        <p:spPr>
          <a:xfrm>
            <a:off x="6448247" y="5264130"/>
            <a:ext cx="322335" cy="201920"/>
          </a:xfrm>
          <a:custGeom>
            <a:avLst/>
            <a:gdLst/>
            <a:ahLst/>
            <a:cxnLst/>
            <a:rect l="l" t="t" r="r" b="b"/>
            <a:pathLst>
              <a:path w="322335" h="201920">
                <a:moveTo>
                  <a:pt x="27031" y="0"/>
                </a:moveTo>
                <a:cubicBezTo>
                  <a:pt x="35223" y="0"/>
                  <a:pt x="43551" y="14608"/>
                  <a:pt x="52016" y="43824"/>
                </a:cubicBezTo>
                <a:cubicBezTo>
                  <a:pt x="62118" y="79048"/>
                  <a:pt x="71470" y="107513"/>
                  <a:pt x="80071" y="129221"/>
                </a:cubicBezTo>
                <a:cubicBezTo>
                  <a:pt x="88672" y="150928"/>
                  <a:pt x="94475" y="161782"/>
                  <a:pt x="97478" y="161782"/>
                </a:cubicBezTo>
                <a:cubicBezTo>
                  <a:pt x="101028" y="161782"/>
                  <a:pt x="109015" y="148334"/>
                  <a:pt x="121439" y="121439"/>
                </a:cubicBezTo>
                <a:cubicBezTo>
                  <a:pt x="133862" y="94543"/>
                  <a:pt x="142941" y="65668"/>
                  <a:pt x="148675" y="34814"/>
                </a:cubicBezTo>
                <a:cubicBezTo>
                  <a:pt x="152771" y="13789"/>
                  <a:pt x="159188" y="3276"/>
                  <a:pt x="167925" y="3276"/>
                </a:cubicBezTo>
                <a:cubicBezTo>
                  <a:pt x="176390" y="3276"/>
                  <a:pt x="183489" y="16656"/>
                  <a:pt x="189223" y="43415"/>
                </a:cubicBezTo>
                <a:cubicBezTo>
                  <a:pt x="197142" y="80823"/>
                  <a:pt x="205197" y="109902"/>
                  <a:pt x="213388" y="130654"/>
                </a:cubicBezTo>
                <a:cubicBezTo>
                  <a:pt x="221580" y="151406"/>
                  <a:pt x="227314" y="161782"/>
                  <a:pt x="230590" y="161782"/>
                </a:cubicBezTo>
                <a:cubicBezTo>
                  <a:pt x="232775" y="161782"/>
                  <a:pt x="238782" y="153454"/>
                  <a:pt x="248612" y="136798"/>
                </a:cubicBezTo>
                <a:cubicBezTo>
                  <a:pt x="258441" y="120142"/>
                  <a:pt x="267179" y="101711"/>
                  <a:pt x="274824" y="81505"/>
                </a:cubicBezTo>
                <a:cubicBezTo>
                  <a:pt x="282470" y="61300"/>
                  <a:pt x="286292" y="43415"/>
                  <a:pt x="286292" y="27851"/>
                </a:cubicBezTo>
                <a:cubicBezTo>
                  <a:pt x="286292" y="17748"/>
                  <a:pt x="284791" y="9420"/>
                  <a:pt x="281787" y="2867"/>
                </a:cubicBezTo>
                <a:cubicBezTo>
                  <a:pt x="288613" y="955"/>
                  <a:pt x="294620" y="0"/>
                  <a:pt x="299808" y="0"/>
                </a:cubicBezTo>
                <a:cubicBezTo>
                  <a:pt x="314826" y="0"/>
                  <a:pt x="322335" y="7509"/>
                  <a:pt x="322335" y="22526"/>
                </a:cubicBezTo>
                <a:cubicBezTo>
                  <a:pt x="322335" y="48739"/>
                  <a:pt x="308751" y="85191"/>
                  <a:pt x="281582" y="131883"/>
                </a:cubicBezTo>
                <a:cubicBezTo>
                  <a:pt x="254414" y="178574"/>
                  <a:pt x="235096" y="201920"/>
                  <a:pt x="223627" y="201920"/>
                </a:cubicBezTo>
                <a:cubicBezTo>
                  <a:pt x="215436" y="201920"/>
                  <a:pt x="206630" y="190725"/>
                  <a:pt x="197210" y="168335"/>
                </a:cubicBezTo>
                <a:cubicBezTo>
                  <a:pt x="187790" y="145945"/>
                  <a:pt x="177345" y="112496"/>
                  <a:pt x="165877" y="67989"/>
                </a:cubicBezTo>
                <a:cubicBezTo>
                  <a:pt x="154682" y="104578"/>
                  <a:pt x="141986" y="136047"/>
                  <a:pt x="127787" y="162396"/>
                </a:cubicBezTo>
                <a:cubicBezTo>
                  <a:pt x="113588" y="188746"/>
                  <a:pt x="101984" y="201920"/>
                  <a:pt x="92973" y="201920"/>
                </a:cubicBezTo>
                <a:cubicBezTo>
                  <a:pt x="87239" y="201920"/>
                  <a:pt x="79662" y="192978"/>
                  <a:pt x="70242" y="175093"/>
                </a:cubicBezTo>
                <a:cubicBezTo>
                  <a:pt x="60821" y="157208"/>
                  <a:pt x="47647" y="126285"/>
                  <a:pt x="30718" y="82324"/>
                </a:cubicBezTo>
                <a:cubicBezTo>
                  <a:pt x="17065" y="46282"/>
                  <a:pt x="6826" y="25257"/>
                  <a:pt x="0" y="19250"/>
                </a:cubicBezTo>
                <a:cubicBezTo>
                  <a:pt x="9556" y="6416"/>
                  <a:pt x="18567" y="0"/>
                  <a:pt x="2703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5917019" y="5038088"/>
            <a:ext cx="1452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en-US" altLang="zh-CN" sz="3200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</a:t>
            </a:r>
            <a:r>
              <a:rPr lang="en-US" altLang="zh-CN" sz="32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3200" dirty="0" err="1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32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r>
              <a:rPr lang="en-US" altLang="zh-CN" sz="3200" dirty="0" err="1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endParaRPr lang="zh-CN" altLang="en-US" sz="32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830116" y="4816129"/>
            <a:ext cx="1600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AB</a:t>
            </a:r>
            <a:r>
              <a:rPr lang="en-US" altLang="zh-CN" sz="2400" dirty="0"/>
              <a:t>+</a:t>
            </a:r>
            <a:r>
              <a:rPr lang="en-US" altLang="zh-CN" sz="2400" dirty="0">
                <a:solidFill>
                  <a:srgbClr val="00B0F0"/>
                </a:solidFill>
              </a:rPr>
              <a:t>AB</a:t>
            </a:r>
            <a:r>
              <a:rPr lang="en-US" altLang="zh-CN" sz="2400" dirty="0"/>
              <a:t>+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AB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172640" y="5032555"/>
            <a:ext cx="645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4k</a:t>
            </a:r>
            <a:endParaRPr lang="zh-CN" altLang="en-US" sz="3200" dirty="0"/>
          </a:p>
        </p:txBody>
      </p:sp>
      <p:sp>
        <p:nvSpPr>
          <p:cNvPr id="35" name="文本框 34"/>
          <p:cNvSpPr txBox="1"/>
          <p:nvPr/>
        </p:nvSpPr>
        <p:spPr>
          <a:xfrm>
            <a:off x="7233306" y="4811207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CD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778525" y="5870956"/>
            <a:ext cx="57113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扩展顺序：补第一字</a:t>
            </a:r>
            <a:r>
              <a:rPr lang="zh-CN" altLang="en-US" dirty="0"/>
              <a:t>韵</a:t>
            </a:r>
            <a:r>
              <a:rPr lang="zh-CN" altLang="zh-CN" dirty="0"/>
              <a:t>码</a:t>
            </a:r>
            <a:r>
              <a:rPr lang="en-US" altLang="zh-CN" dirty="0"/>
              <a:t> → </a:t>
            </a:r>
            <a:r>
              <a:rPr lang="zh-CN" altLang="zh-CN" dirty="0"/>
              <a:t>补第二字</a:t>
            </a:r>
            <a:r>
              <a:rPr lang="zh-CN" altLang="en-US" dirty="0"/>
              <a:t>韵</a:t>
            </a:r>
            <a:r>
              <a:rPr lang="zh-CN" altLang="zh-CN" dirty="0"/>
              <a:t>码</a:t>
            </a:r>
            <a:r>
              <a:rPr lang="zh-CN" altLang="en-US" dirty="0"/>
              <a:t>（最常用）</a:t>
            </a:r>
            <a:r>
              <a:rPr lang="en-US" altLang="zh-CN" dirty="0"/>
              <a:t> → </a:t>
            </a:r>
            <a:r>
              <a:rPr lang="zh-CN" altLang="zh-CN" dirty="0"/>
              <a:t>补第三字</a:t>
            </a:r>
            <a:r>
              <a:rPr lang="zh-CN" altLang="en-US" dirty="0"/>
              <a:t>韵</a:t>
            </a:r>
            <a:r>
              <a:rPr lang="zh-CN" altLang="zh-CN" dirty="0"/>
              <a:t>码</a:t>
            </a:r>
            <a:r>
              <a:rPr lang="en-US" altLang="zh-CN" dirty="0"/>
              <a:t> → </a:t>
            </a:r>
            <a:r>
              <a:rPr lang="zh-CN" altLang="zh-CN" dirty="0"/>
              <a:t>补第三字</a:t>
            </a:r>
            <a:r>
              <a:rPr lang="zh-CN" altLang="en-US" dirty="0"/>
              <a:t>调</a:t>
            </a:r>
            <a:r>
              <a:rPr lang="en-US" altLang="zh-CN" dirty="0"/>
              <a:t>/</a:t>
            </a:r>
            <a:r>
              <a:rPr lang="zh-CN" altLang="en-US" dirty="0"/>
              <a:t>主</a:t>
            </a:r>
            <a:r>
              <a:rPr lang="zh-CN" altLang="zh-CN" dirty="0"/>
              <a:t>码</a:t>
            </a:r>
          </a:p>
          <a:p>
            <a:endParaRPr lang="zh-CN" altLang="en-US" sz="2000" dirty="0"/>
          </a:p>
        </p:txBody>
      </p:sp>
      <p:sp>
        <p:nvSpPr>
          <p:cNvPr id="37" name="矩形 36"/>
          <p:cNvSpPr/>
          <p:nvPr/>
        </p:nvSpPr>
        <p:spPr>
          <a:xfrm>
            <a:off x="1737156" y="4915242"/>
            <a:ext cx="9298172" cy="1847654"/>
          </a:xfrm>
          <a:prstGeom prst="rect">
            <a:avLst/>
          </a:prstGeom>
          <a:solidFill>
            <a:srgbClr val="EFE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 </a:t>
            </a:r>
            <a:r>
              <a:rPr lang="zh-CN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四字词</a:t>
            </a:r>
          </a:p>
          <a:p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方案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备用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）：第一字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第二字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第四字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</a:p>
          <a:p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方案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用）：四个字各取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</a:p>
          <a:p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扩展顺序：补前三字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韵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（常用）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→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补第四字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韵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→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补第四字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调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760850" y="461456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恭喜发财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9089102" y="5032555"/>
            <a:ext cx="10567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gxfc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gsxifac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3" name="任意多边形: 形状 42"/>
          <p:cNvSpPr/>
          <p:nvPr/>
        </p:nvSpPr>
        <p:spPr>
          <a:xfrm>
            <a:off x="1553185" y="4452141"/>
            <a:ext cx="9900920" cy="2357245"/>
          </a:xfrm>
          <a:custGeom>
            <a:avLst/>
            <a:gdLst>
              <a:gd name="csX0" fmla="*/ 7228840 w 9900920"/>
              <a:gd name="csY0" fmla="*/ 0 h 2357245"/>
              <a:gd name="csX1" fmla="*/ 9229789 w 9900920"/>
              <a:gd name="csY1" fmla="*/ 0 h 2357245"/>
              <a:gd name="csX2" fmla="*/ 9229789 w 9900920"/>
              <a:gd name="csY2" fmla="*/ 480576 h 2357245"/>
              <a:gd name="csX3" fmla="*/ 9900920 w 9900920"/>
              <a:gd name="csY3" fmla="*/ 480576 h 2357245"/>
              <a:gd name="csX4" fmla="*/ 9900920 w 9900920"/>
              <a:gd name="csY4" fmla="*/ 2357245 h 2357245"/>
              <a:gd name="csX5" fmla="*/ 0 w 9900920"/>
              <a:gd name="csY5" fmla="*/ 2357245 h 2357245"/>
              <a:gd name="csX6" fmla="*/ 0 w 9900920"/>
              <a:gd name="csY6" fmla="*/ 480576 h 2357245"/>
              <a:gd name="csX7" fmla="*/ 7228840 w 9900920"/>
              <a:gd name="csY7" fmla="*/ 480576 h 23572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900920" h="2357245">
                <a:moveTo>
                  <a:pt x="7228840" y="0"/>
                </a:moveTo>
                <a:lnTo>
                  <a:pt x="9229789" y="0"/>
                </a:lnTo>
                <a:lnTo>
                  <a:pt x="9229789" y="480576"/>
                </a:lnTo>
                <a:lnTo>
                  <a:pt x="9900920" y="480576"/>
                </a:lnTo>
                <a:lnTo>
                  <a:pt x="9900920" y="2357245"/>
                </a:lnTo>
                <a:lnTo>
                  <a:pt x="0" y="2357245"/>
                </a:lnTo>
                <a:lnTo>
                  <a:pt x="0" y="480576"/>
                </a:lnTo>
                <a:lnTo>
                  <a:pt x="7228840" y="480576"/>
                </a:lnTo>
                <a:close/>
              </a:path>
            </a:pathLst>
          </a:custGeom>
          <a:solidFill>
            <a:srgbClr val="EFE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五字及以上</a:t>
            </a:r>
            <a:endParaRPr lang="zh-CN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方案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：第一字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第二字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最后字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</a:p>
          <a:p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方案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（适应习惯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，常用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）：前三字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最后字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</a:p>
          <a:p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扩展顺序：补所有字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（常用）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→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补最后字外的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韵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→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补最后字编码</a:t>
            </a:r>
          </a:p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44444E-6 L 0.02435 -0.00024 " pathEditMode="relative" rAng="0" ptsTypes="AA">
                                      <p:cBhvr>
                                        <p:cTn id="10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5" y="0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11111E-6 L 0.01745 -0.00093 " pathEditMode="fixed" rAng="0" ptsTypes="AA">
                                      <p:cBhvr>
                                        <p:cTn id="1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5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0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00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 animBg="1"/>
      <p:bldP spid="21" grpId="0"/>
      <p:bldP spid="22" grpId="0"/>
      <p:bldP spid="24" grpId="0"/>
      <p:bldP spid="24" grpId="1"/>
      <p:bldP spid="25" grpId="0"/>
      <p:bldP spid="29" grpId="0" animBg="1"/>
      <p:bldP spid="28" grpId="0" animBg="1"/>
      <p:bldP spid="28" grpId="1" animBg="1"/>
      <p:bldP spid="27" grpId="0" animBg="1"/>
      <p:bldP spid="27" grpId="1" animBg="1"/>
      <p:bldP spid="31" grpId="0"/>
      <p:bldP spid="32" grpId="0"/>
      <p:bldP spid="34" grpId="0"/>
      <p:bldP spid="35" grpId="0"/>
      <p:bldP spid="36" grpId="0"/>
      <p:bldP spid="37" grpId="0" animBg="1"/>
      <p:bldP spid="38" grpId="0"/>
      <p:bldP spid="4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91062" y="1256466"/>
            <a:ext cx="11400938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三、通用符号编码方案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1. 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编码结构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类型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符（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字母）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具体编码（至少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字母）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= 3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位最小码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2. 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类型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符建议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剩余符号待更新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3. 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具体编码规则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部首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部首双码，如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亠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"→ 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bdh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部首码，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亠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部首次表第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位。）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假名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：罗马字转写，如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か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"→ 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rka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zh-CN" sz="4400" kern="100" dirty="0">
                <a:effectLst/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词语建议</a:t>
            </a:r>
            <a:b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081576"/>
              </p:ext>
            </p:extLst>
          </p:nvPr>
        </p:nvGraphicFramePr>
        <p:xfrm>
          <a:off x="3327400" y="2855136"/>
          <a:ext cx="5537200" cy="2476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类型</a:t>
                      </a:r>
                      <a:r>
                        <a:rPr lang="zh-CN" sz="2000" kern="100" dirty="0">
                          <a:effectLst/>
                        </a:rPr>
                        <a:t>符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符号类型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示例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b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部首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bdh</a:t>
                      </a:r>
                      <a:r>
                        <a:rPr lang="en-US" sz="2000" kern="100" dirty="0">
                          <a:effectLst/>
                        </a:rPr>
                        <a:t> → </a:t>
                      </a:r>
                      <a:r>
                        <a:rPr lang="zh-CN" sz="2000" kern="100" dirty="0">
                          <a:effectLst/>
                        </a:rPr>
                        <a:t>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r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日文</a:t>
                      </a:r>
                      <a:r>
                        <a:rPr lang="zh-CN" sz="2000" kern="100" dirty="0">
                          <a:effectLst/>
                        </a:rPr>
                        <a:t>假名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rka</a:t>
                      </a:r>
                      <a:r>
                        <a:rPr lang="en-US" sz="2000" kern="100" dirty="0">
                          <a:effectLst/>
                        </a:rPr>
                        <a:t> → </a:t>
                      </a:r>
                      <a:r>
                        <a:rPr lang="zh-CN" sz="2000" kern="100" dirty="0">
                          <a:effectLst/>
                        </a:rPr>
                        <a:t>か</a:t>
                      </a:r>
                      <a:endParaRPr lang="en-US" altLang="zh-CN" sz="2000" kern="100" dirty="0">
                        <a:effectLst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标点符号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00" dirty="0">
                          <a:effectLst/>
                        </a:rPr>
                        <a:t>d..</a:t>
                      </a:r>
                      <a:r>
                        <a:rPr lang="zh-CN" altLang="en-US" sz="2000" kern="100" dirty="0">
                          <a:effectLst/>
                        </a:rPr>
                        <a:t>→。</a:t>
                      </a:r>
                      <a:endParaRPr lang="en-US" altLang="zh-CN" sz="2000" kern="100" dirty="0">
                        <a:effectLst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528421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特殊符号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00" dirty="0" err="1">
                          <a:effectLst/>
                        </a:rPr>
                        <a:t>tzo</a:t>
                      </a:r>
                      <a:r>
                        <a:rPr lang="zh-CN" altLang="en-US" sz="2000" kern="100" dirty="0">
                          <a:effectLst/>
                        </a:rPr>
                        <a:t>→“←”</a:t>
                      </a:r>
                      <a:endParaRPr lang="en-US" altLang="zh-CN" sz="2000" kern="100" dirty="0">
                        <a:effectLst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39064373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zh-CN" sz="4400" kern="100" dirty="0">
                <a:effectLst/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词语建议</a:t>
            </a:r>
            <a:b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41302" y="1269262"/>
            <a:ext cx="110831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四、空码区的利用策略</a:t>
            </a:r>
            <a:endParaRPr lang="en-US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zh-CN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1. 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空码区类型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拼音缺失区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：如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"bb"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bou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不存在）、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"cc"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等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声调缺失区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调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5-9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（实际只有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0-4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2. 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利用方案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预留区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"bb0"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用于无拼音汉字（已在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newedit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中使用）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用户自定义区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：其他空码区开放给用户自由定义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3. 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自定义建议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个性化汉字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：将个人常用汉字放入空码区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快捷输入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：设置更短汉字编码（如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"yi8x"→"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意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特殊双拼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：为不使用标准双拼的用户预留空间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06686" y="1707129"/>
            <a:ext cx="2094614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𠀧</a:t>
            </a:r>
            <a:endParaRPr lang="en-US" altLang="zh-CN" sz="5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4000" dirty="0">
                <a:latin typeface="华文新魏" panose="02010800040101010101" pitchFamily="2" charset="-122"/>
                <a:ea typeface="华文新魏" panose="02010800040101010101" pitchFamily="2" charset="-122"/>
              </a:rPr>
              <a:t>ba5o</a:t>
            </a:r>
          </a:p>
          <a:p>
            <a:pPr algn="ctr"/>
            <a:r>
              <a:rPr lang="zh-CN" altLang="en-US" sz="4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码表挂接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00986" y="1364375"/>
            <a:ext cx="111712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zh-CN" sz="2000" b="1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无数字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版码表，便于主流输入法系统识别。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无数字四位码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实现如下：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首先将五个音调改为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两个平仄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340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algn="just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前面双拼两位基本不变，除了</a:t>
            </a:r>
            <a:r>
              <a:rPr lang="en-US" altLang="zh-CN" sz="2000" b="1" kern="100" dirty="0" err="1">
                <a:solidFill>
                  <a:srgbClr val="00B05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ing</a:t>
            </a:r>
            <a:r>
              <a:rPr lang="zh-CN" altLang="zh-CN" sz="2000" b="1" kern="100" dirty="0">
                <a:solidFill>
                  <a:srgbClr val="00B05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适配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b,d,p,t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0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ing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20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jqx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0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ing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20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lmn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0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ing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独体字：</a:t>
            </a:r>
            <a:endParaRPr lang="en-US" altLang="zh-CN" sz="2000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先平仄，再字形。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每个平仄又分两到三声，第一声（平声中的阴平，仄声中的上声）字形字母（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0-9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）为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pqwertyuio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。第二声（平声中的阳平，仄声中的去声）字形字母为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masdfghjkl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第三声（即仄声中的轻声）字形字母为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zxcvbncvbn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合体字：</a:t>
            </a:r>
          </a:p>
          <a:p>
            <a:pPr algn="just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先</a:t>
            </a:r>
            <a:r>
              <a:rPr lang="zh-CN" altLang="en-US" sz="2000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部首码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，再附加。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附加分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码是否省略：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省略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码：用平仄。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不省略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：用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78597" y="5225904"/>
            <a:ext cx="25058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丁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d;11   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ddaq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800" dirty="0"/>
              <a:t>油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yb2u 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ybua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800" dirty="0"/>
              <a:t>游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yb2uf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ybuf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785" y="3533311"/>
            <a:ext cx="3334215" cy="332468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后记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9200" y="1428750"/>
            <a:ext cx="9601200" cy="530697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就像我前面写的，规则完备但无需完全记忆：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在实际使用中，只要知道个大概逻辑，然后按照字义字形拆出一个部件来试即可。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也许有人会说：能不能删掉一些过于冗余复杂的规则，完全按最简单的顺序来？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这当然可以：解书音形的“直觉”原则指明了它“负反馈”的特点，通过循序渐进的各种附加条件，让最终编码回归到人们对该汉字的最初理解。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当然，“历史”也是不可避免的影响因素：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早就成形的音码不用多说，部首表也占据了核心早期地位，导致主码一经确定，每次更改都是大刀阔斧，死伤无数。独体字构形的诞生导致了主码“</a:t>
            </a:r>
            <a:r>
              <a:rPr lang="en-US" altLang="zh-CN" dirty="0"/>
              <a:t>a</a:t>
            </a:r>
            <a:r>
              <a:rPr lang="zh-CN" altLang="en-US" dirty="0"/>
              <a:t>”的空缺、副码的诞生</a:t>
            </a:r>
            <a:r>
              <a:rPr lang="zh-CN" altLang="en-US"/>
              <a:t>来源于疏解</a:t>
            </a:r>
            <a:r>
              <a:rPr lang="zh-CN" altLang="en-US" dirty="0"/>
              <a:t>主</a:t>
            </a:r>
            <a:r>
              <a:rPr lang="zh-CN" altLang="en-US"/>
              <a:t>码</a:t>
            </a:r>
            <a:r>
              <a:rPr lang="zh-CN" altLang="en-US" dirty="0"/>
              <a:t>功能等，这也是某些优化分配的原因：早已编码，难以再改。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最后，编码码表还在不断完善，如果看得人多的话我会发程序下载链接。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BGM</a:t>
            </a:r>
            <a:r>
              <a:rPr lang="zh-CN" altLang="en-US" dirty="0"/>
              <a:t>：</a:t>
            </a:r>
            <a:r>
              <a:rPr lang="en-GB" altLang="zh-CN" dirty="0"/>
              <a:t>BV1ec411L7rX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剪切">
  <a:themeElements>
    <a:clrScheme name="剪切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剪切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剪切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剪切</Template>
  <TotalTime>129</TotalTime>
  <Words>7193</Words>
  <Application>Microsoft Office PowerPoint</Application>
  <PresentationFormat>宽屏</PresentationFormat>
  <Paragraphs>882</Paragraphs>
  <Slides>40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4" baseType="lpstr">
      <vt:lpstr>得意黑</vt:lpstr>
      <vt:lpstr>等线</vt:lpstr>
      <vt:lpstr>仿宋</vt:lpstr>
      <vt:lpstr>华文楷体</vt:lpstr>
      <vt:lpstr>华文新魏</vt:lpstr>
      <vt:lpstr>华文行楷</vt:lpstr>
      <vt:lpstr>华文中宋</vt:lpstr>
      <vt:lpstr>楷体</vt:lpstr>
      <vt:lpstr>宋体</vt:lpstr>
      <vt:lpstr>Arial</vt:lpstr>
      <vt:lpstr>Franklin Gothic Book</vt:lpstr>
      <vt:lpstr>Segoe UI Emoji</vt:lpstr>
      <vt:lpstr>Symbol</vt:lpstr>
      <vt:lpstr>剪切</vt:lpstr>
      <vt:lpstr>解书音形程序使用</vt:lpstr>
      <vt:lpstr>一、外观与设置 </vt:lpstr>
      <vt:lpstr>一、外观与设置 </vt:lpstr>
      <vt:lpstr>一、外观与设置 </vt:lpstr>
      <vt:lpstr>一、外观与设置 </vt:lpstr>
      <vt:lpstr>二、输入功能</vt:lpstr>
      <vt:lpstr>二、输入功能</vt:lpstr>
      <vt:lpstr>二、输入功能</vt:lpstr>
      <vt:lpstr>三、管理功能</vt:lpstr>
      <vt:lpstr>解书音形编码规则</vt:lpstr>
      <vt:lpstr>前言</vt:lpstr>
      <vt:lpstr>一、编码结构概览</vt:lpstr>
      <vt:lpstr>核心要点</vt:lpstr>
      <vt:lpstr>核心要点</vt:lpstr>
      <vt:lpstr>二、音码编码规则</vt:lpstr>
      <vt:lpstr>三、主码编码规则</vt:lpstr>
      <vt:lpstr>三、主码编码规则</vt:lpstr>
      <vt:lpstr>三、主码编码规则</vt:lpstr>
      <vt:lpstr>PowerPoint 演示文稿</vt:lpstr>
      <vt:lpstr>三、主码编码规则</vt:lpstr>
      <vt:lpstr>三、主码编码规则</vt:lpstr>
      <vt:lpstr>三、主码编码规则</vt:lpstr>
      <vt:lpstr>四、副码编码规则</vt:lpstr>
      <vt:lpstr>四、副码编码规则</vt:lpstr>
      <vt:lpstr>四、副码编码规则</vt:lpstr>
      <vt:lpstr>四、副码编码规则</vt:lpstr>
      <vt:lpstr>四、副码编码规则</vt:lpstr>
      <vt:lpstr>四、副码编码规则</vt:lpstr>
      <vt:lpstr>五、简化解书拆分规则</vt:lpstr>
      <vt:lpstr>五、简化解书拆分规则</vt:lpstr>
      <vt:lpstr>五、简化解书拆分</vt:lpstr>
      <vt:lpstr>五、简化解书拆分规则</vt:lpstr>
      <vt:lpstr>五、简化解书拆分规则</vt:lpstr>
      <vt:lpstr>五、简化解书拆分规则</vt:lpstr>
      <vt:lpstr>六、补码编码规则</vt:lpstr>
      <vt:lpstr>词语建议 </vt:lpstr>
      <vt:lpstr>词语建议 </vt:lpstr>
      <vt:lpstr>词语建议 </vt:lpstr>
      <vt:lpstr>码表挂接</vt:lpstr>
      <vt:lpstr>后记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雨尘 星野</dc:creator>
  <cp:lastModifiedBy>雨尘 星野</cp:lastModifiedBy>
  <cp:revision>74</cp:revision>
  <dcterms:created xsi:type="dcterms:W3CDTF">2026-01-09T11:49:00Z</dcterms:created>
  <dcterms:modified xsi:type="dcterms:W3CDTF">2026-03-06T12:35:20Z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4CE5E82D07294319999BCC9486E1DA2B_12</vt:lpwstr>
  </property>
  <property fmtid="{D5CDD505-2E9C-101B-9397-08002B2CF9AE}" pid="3" name="KSOProductBuildVer">
    <vt:lpwstr>2052-12.1.0.24657</vt:lpwstr>
  </property>
</Properties>
</file>